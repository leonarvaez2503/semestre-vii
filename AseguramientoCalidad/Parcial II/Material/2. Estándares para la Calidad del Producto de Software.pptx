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5" r:id="rId19"/>
    <p:sldId id="276" r:id="rId20"/>
    <p:sldId id="277" r:id="rId21"/>
    <p:sldId id="278" r:id="rId22"/>
    <p:sldId id="279" r:id="rId23"/>
    <p:sldId id="280"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90"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4314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notesSlide" Target="../notesSlides/notesSlide2.xml"/><Relationship Id="rId16"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3.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png"/><Relationship Id="rId3" Type="http://schemas.openxmlformats.org/officeDocument/2006/relationships/image" Target="../media/image12.png"/><Relationship Id="rId7" Type="http://schemas.openxmlformats.org/officeDocument/2006/relationships/image" Target="../media/image29.png"/><Relationship Id="rId12"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13.png"/><Relationship Id="rId9"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3" Type="http://schemas.openxmlformats.org/officeDocument/2006/relationships/image" Target="../media/image12.png"/><Relationship Id="rId21" Type="http://schemas.openxmlformats.org/officeDocument/2006/relationships/image" Target="../media/image52.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 Type="http://schemas.openxmlformats.org/officeDocument/2006/relationships/notesSlide" Target="../notesSlides/notesSlide4.xml"/><Relationship Id="rId16" Type="http://schemas.openxmlformats.org/officeDocument/2006/relationships/image" Target="../media/image47.png"/><Relationship Id="rId20" Type="http://schemas.openxmlformats.org/officeDocument/2006/relationships/image" Target="../media/image51.png"/><Relationship Id="rId1" Type="http://schemas.openxmlformats.org/officeDocument/2006/relationships/slideLayout" Target="../slideLayouts/slideLayout1.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5" Type="http://schemas.openxmlformats.org/officeDocument/2006/relationships/image" Target="../media/image46.png"/><Relationship Id="rId23" Type="http://schemas.openxmlformats.org/officeDocument/2006/relationships/image" Target="../media/image54.png"/><Relationship Id="rId10" Type="http://schemas.openxmlformats.org/officeDocument/2006/relationships/image" Target="../media/image41.png"/><Relationship Id="rId19" Type="http://schemas.openxmlformats.org/officeDocument/2006/relationships/image" Target="../media/image50.png"/><Relationship Id="rId4" Type="http://schemas.openxmlformats.org/officeDocument/2006/relationships/image" Target="../media/image13.png"/><Relationship Id="rId9" Type="http://schemas.openxmlformats.org/officeDocument/2006/relationships/image" Target="../media/image40.png"/><Relationship Id="rId14" Type="http://schemas.openxmlformats.org/officeDocument/2006/relationships/image" Target="../media/image45.png"/><Relationship Id="rId22" Type="http://schemas.openxmlformats.org/officeDocument/2006/relationships/image" Target="../media/image53.png"/></Relationships>
</file>

<file path=ppt/slides/_rels/slide5.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image" Target="../media/image62.png"/><Relationship Id="rId18" Type="http://schemas.openxmlformats.org/officeDocument/2006/relationships/image" Target="../media/image67.png"/><Relationship Id="rId3" Type="http://schemas.openxmlformats.org/officeDocument/2006/relationships/image" Target="../media/image12.png"/><Relationship Id="rId21" Type="http://schemas.openxmlformats.org/officeDocument/2006/relationships/image" Target="../media/image70.png"/><Relationship Id="rId7" Type="http://schemas.openxmlformats.org/officeDocument/2006/relationships/image" Target="../media/image57.png"/><Relationship Id="rId12" Type="http://schemas.openxmlformats.org/officeDocument/2006/relationships/image" Target="../media/image61.png"/><Relationship Id="rId17" Type="http://schemas.openxmlformats.org/officeDocument/2006/relationships/image" Target="../media/image66.png"/><Relationship Id="rId2" Type="http://schemas.openxmlformats.org/officeDocument/2006/relationships/notesSlide" Target="../notesSlides/notesSlide5.xml"/><Relationship Id="rId16" Type="http://schemas.openxmlformats.org/officeDocument/2006/relationships/image" Target="../media/image65.png"/><Relationship Id="rId20" Type="http://schemas.openxmlformats.org/officeDocument/2006/relationships/image" Target="../media/image69.png"/><Relationship Id="rId1" Type="http://schemas.openxmlformats.org/officeDocument/2006/relationships/slideLayout" Target="../slideLayouts/slideLayout1.xml"/><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55.png"/><Relationship Id="rId15" Type="http://schemas.openxmlformats.org/officeDocument/2006/relationships/image" Target="../media/image64.png"/><Relationship Id="rId23" Type="http://schemas.openxmlformats.org/officeDocument/2006/relationships/image" Target="../media/image72.png"/><Relationship Id="rId10" Type="http://schemas.openxmlformats.org/officeDocument/2006/relationships/image" Target="../media/image19.png"/><Relationship Id="rId19" Type="http://schemas.openxmlformats.org/officeDocument/2006/relationships/image" Target="../media/image68.png"/><Relationship Id="rId4" Type="http://schemas.openxmlformats.org/officeDocument/2006/relationships/image" Target="../media/image13.png"/><Relationship Id="rId9" Type="http://schemas.openxmlformats.org/officeDocument/2006/relationships/image" Target="../media/image59.png"/><Relationship Id="rId14" Type="http://schemas.openxmlformats.org/officeDocument/2006/relationships/image" Target="../media/image63.png"/><Relationship Id="rId22" Type="http://schemas.openxmlformats.org/officeDocument/2006/relationships/image" Target="../media/image71.png"/></Relationships>
</file>

<file path=ppt/slides/_rels/slide6.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1.png"/><Relationship Id="rId7" Type="http://schemas.openxmlformats.org/officeDocument/2006/relationships/image" Target="../media/image7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5.png"/><Relationship Id="rId11" Type="http://schemas.openxmlformats.org/officeDocument/2006/relationships/image" Target="../media/image37.png"/><Relationship Id="rId5" Type="http://schemas.openxmlformats.org/officeDocument/2006/relationships/image" Target="../media/image74.png"/><Relationship Id="rId10" Type="http://schemas.openxmlformats.org/officeDocument/2006/relationships/image" Target="../media/image79.png"/><Relationship Id="rId4" Type="http://schemas.openxmlformats.org/officeDocument/2006/relationships/image" Target="../media/image73.png"/><Relationship Id="rId9" Type="http://schemas.openxmlformats.org/officeDocument/2006/relationships/image" Target="../media/image78.png"/></Relationships>
</file>

<file path=ppt/slides/_rels/slide7.xml.rels><?xml version="1.0" encoding="UTF-8" standalone="yes"?>
<Relationships xmlns="http://schemas.openxmlformats.org/package/2006/relationships"><Relationship Id="rId8" Type="http://schemas.openxmlformats.org/officeDocument/2006/relationships/image" Target="../media/image83.png"/><Relationship Id="rId13" Type="http://schemas.openxmlformats.org/officeDocument/2006/relationships/image" Target="../media/image87.png"/><Relationship Id="rId3" Type="http://schemas.openxmlformats.org/officeDocument/2006/relationships/image" Target="../media/image1.png"/><Relationship Id="rId7" Type="http://schemas.openxmlformats.org/officeDocument/2006/relationships/image" Target="../media/image82.png"/><Relationship Id="rId12" Type="http://schemas.openxmlformats.org/officeDocument/2006/relationships/image" Target="../media/image8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5.png"/><Relationship Id="rId11" Type="http://schemas.openxmlformats.org/officeDocument/2006/relationships/image" Target="../media/image85.png"/><Relationship Id="rId5" Type="http://schemas.openxmlformats.org/officeDocument/2006/relationships/image" Target="../media/image81.png"/><Relationship Id="rId10" Type="http://schemas.openxmlformats.org/officeDocument/2006/relationships/image" Target="../media/image78.png"/><Relationship Id="rId4" Type="http://schemas.openxmlformats.org/officeDocument/2006/relationships/image" Target="../media/image80.png"/><Relationship Id="rId9" Type="http://schemas.openxmlformats.org/officeDocument/2006/relationships/image" Target="../media/image84.png"/></Relationships>
</file>

<file path=ppt/slides/_rels/slide8.xml.rels><?xml version="1.0" encoding="UTF-8" standalone="yes"?>
<Relationships xmlns="http://schemas.openxmlformats.org/package/2006/relationships"><Relationship Id="rId8" Type="http://schemas.openxmlformats.org/officeDocument/2006/relationships/image" Target="../media/image92.png"/><Relationship Id="rId13" Type="http://schemas.openxmlformats.org/officeDocument/2006/relationships/image" Target="../media/image97.png"/><Relationship Id="rId18" Type="http://schemas.openxmlformats.org/officeDocument/2006/relationships/image" Target="../media/image102.png"/><Relationship Id="rId3" Type="http://schemas.openxmlformats.org/officeDocument/2006/relationships/image" Target="../media/image1.png"/><Relationship Id="rId7" Type="http://schemas.openxmlformats.org/officeDocument/2006/relationships/image" Target="../media/image91.png"/><Relationship Id="rId12" Type="http://schemas.openxmlformats.org/officeDocument/2006/relationships/image" Target="../media/image96.png"/><Relationship Id="rId17" Type="http://schemas.openxmlformats.org/officeDocument/2006/relationships/image" Target="../media/image101.png"/><Relationship Id="rId2" Type="http://schemas.openxmlformats.org/officeDocument/2006/relationships/notesSlide" Target="../notesSlides/notesSlide8.xml"/><Relationship Id="rId16" Type="http://schemas.openxmlformats.org/officeDocument/2006/relationships/image" Target="../media/image100.png"/><Relationship Id="rId1" Type="http://schemas.openxmlformats.org/officeDocument/2006/relationships/slideLayout" Target="../slideLayouts/slideLayout1.xml"/><Relationship Id="rId6" Type="http://schemas.openxmlformats.org/officeDocument/2006/relationships/image" Target="../media/image90.png"/><Relationship Id="rId11" Type="http://schemas.openxmlformats.org/officeDocument/2006/relationships/image" Target="../media/image95.png"/><Relationship Id="rId5" Type="http://schemas.openxmlformats.org/officeDocument/2006/relationships/image" Target="../media/image89.png"/><Relationship Id="rId15" Type="http://schemas.openxmlformats.org/officeDocument/2006/relationships/image" Target="../media/image99.png"/><Relationship Id="rId10" Type="http://schemas.openxmlformats.org/officeDocument/2006/relationships/image" Target="../media/image94.png"/><Relationship Id="rId19" Type="http://schemas.openxmlformats.org/officeDocument/2006/relationships/image" Target="../media/image103.png"/><Relationship Id="rId4" Type="http://schemas.openxmlformats.org/officeDocument/2006/relationships/image" Target="../media/image88.png"/><Relationship Id="rId9" Type="http://schemas.openxmlformats.org/officeDocument/2006/relationships/image" Target="../media/image93.png"/><Relationship Id="rId14" Type="http://schemas.openxmlformats.org/officeDocument/2006/relationships/image" Target="../media/image98.png"/></Relationships>
</file>

<file path=ppt/slides/_rels/slide9.xml.rels><?xml version="1.0" encoding="UTF-8" standalone="yes"?>
<Relationships xmlns="http://schemas.openxmlformats.org/package/2006/relationships"><Relationship Id="rId8" Type="http://schemas.openxmlformats.org/officeDocument/2006/relationships/image" Target="../media/image77.png"/><Relationship Id="rId13" Type="http://schemas.openxmlformats.org/officeDocument/2006/relationships/image" Target="../media/image110.png"/><Relationship Id="rId18" Type="http://schemas.openxmlformats.org/officeDocument/2006/relationships/image" Target="../media/image115.png"/><Relationship Id="rId3" Type="http://schemas.openxmlformats.org/officeDocument/2006/relationships/image" Target="../media/image12.png"/><Relationship Id="rId7" Type="http://schemas.openxmlformats.org/officeDocument/2006/relationships/image" Target="../media/image106.png"/><Relationship Id="rId12" Type="http://schemas.openxmlformats.org/officeDocument/2006/relationships/image" Target="../media/image37.png"/><Relationship Id="rId17" Type="http://schemas.openxmlformats.org/officeDocument/2006/relationships/image" Target="../media/image114.png"/><Relationship Id="rId2" Type="http://schemas.openxmlformats.org/officeDocument/2006/relationships/notesSlide" Target="../notesSlides/notesSlide9.xml"/><Relationship Id="rId16" Type="http://schemas.openxmlformats.org/officeDocument/2006/relationships/image" Target="../media/image113.png"/><Relationship Id="rId1" Type="http://schemas.openxmlformats.org/officeDocument/2006/relationships/slideLayout" Target="../slideLayouts/slideLayout1.xml"/><Relationship Id="rId6" Type="http://schemas.openxmlformats.org/officeDocument/2006/relationships/image" Target="../media/image105.png"/><Relationship Id="rId11" Type="http://schemas.openxmlformats.org/officeDocument/2006/relationships/image" Target="../media/image109.png"/><Relationship Id="rId5" Type="http://schemas.openxmlformats.org/officeDocument/2006/relationships/image" Target="../media/image104.png"/><Relationship Id="rId15" Type="http://schemas.openxmlformats.org/officeDocument/2006/relationships/image" Target="../media/image112.png"/><Relationship Id="rId10" Type="http://schemas.openxmlformats.org/officeDocument/2006/relationships/image" Target="../media/image108.png"/><Relationship Id="rId4" Type="http://schemas.openxmlformats.org/officeDocument/2006/relationships/image" Target="../media/image13.png"/><Relationship Id="rId9" Type="http://schemas.openxmlformats.org/officeDocument/2006/relationships/image" Target="../media/image107.png"/><Relationship Id="rId14" Type="http://schemas.openxmlformats.org/officeDocument/2006/relationships/image" Target="../media/image111.png"/></Relationships>
</file>

<file path=ppt/slides/_rels/slide10.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18" Type="http://schemas.openxmlformats.org/officeDocument/2006/relationships/image" Target="../media/image129.png"/><Relationship Id="rId3" Type="http://schemas.openxmlformats.org/officeDocument/2006/relationships/image" Target="../media/image12.png"/><Relationship Id="rId7" Type="http://schemas.openxmlformats.org/officeDocument/2006/relationships/image" Target="../media/image118.png"/><Relationship Id="rId12" Type="http://schemas.openxmlformats.org/officeDocument/2006/relationships/image" Target="../media/image123.png"/><Relationship Id="rId17" Type="http://schemas.openxmlformats.org/officeDocument/2006/relationships/image" Target="../media/image128.png"/><Relationship Id="rId2" Type="http://schemas.openxmlformats.org/officeDocument/2006/relationships/notesSlide" Target="../notesSlides/notesSlide10.xml"/><Relationship Id="rId16" Type="http://schemas.openxmlformats.org/officeDocument/2006/relationships/image" Target="../media/image127.png"/><Relationship Id="rId1" Type="http://schemas.openxmlformats.org/officeDocument/2006/relationships/slideLayout" Target="../slideLayouts/slideLayout1.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5" Type="http://schemas.openxmlformats.org/officeDocument/2006/relationships/image" Target="../media/image126.png"/><Relationship Id="rId10" Type="http://schemas.openxmlformats.org/officeDocument/2006/relationships/image" Target="../media/image121.png"/><Relationship Id="rId4" Type="http://schemas.openxmlformats.org/officeDocument/2006/relationships/image" Target="../media/image13.png"/><Relationship Id="rId9" Type="http://schemas.openxmlformats.org/officeDocument/2006/relationships/image" Target="../media/image120.png"/><Relationship Id="rId14" Type="http://schemas.openxmlformats.org/officeDocument/2006/relationships/image" Target="../media/image125.png"/></Relationships>
</file>

<file path=ppt/slides/_rels/slide11.xml.rels><?xml version="1.0" encoding="UTF-8" standalone="yes"?>
<Relationships xmlns="http://schemas.openxmlformats.org/package/2006/relationships"><Relationship Id="rId8" Type="http://schemas.openxmlformats.org/officeDocument/2006/relationships/image" Target="../media/image133.png"/><Relationship Id="rId13" Type="http://schemas.openxmlformats.org/officeDocument/2006/relationships/image" Target="../media/image138.png"/><Relationship Id="rId18" Type="http://schemas.openxmlformats.org/officeDocument/2006/relationships/image" Target="../media/image143.png"/><Relationship Id="rId26" Type="http://schemas.openxmlformats.org/officeDocument/2006/relationships/image" Target="../media/image151.png"/><Relationship Id="rId3" Type="http://schemas.openxmlformats.org/officeDocument/2006/relationships/image" Target="../media/image12.png"/><Relationship Id="rId21" Type="http://schemas.openxmlformats.org/officeDocument/2006/relationships/image" Target="../media/image146.png"/><Relationship Id="rId7" Type="http://schemas.openxmlformats.org/officeDocument/2006/relationships/image" Target="../media/image132.png"/><Relationship Id="rId12" Type="http://schemas.openxmlformats.org/officeDocument/2006/relationships/image" Target="../media/image137.png"/><Relationship Id="rId17" Type="http://schemas.openxmlformats.org/officeDocument/2006/relationships/image" Target="../media/image142.png"/><Relationship Id="rId25" Type="http://schemas.openxmlformats.org/officeDocument/2006/relationships/image" Target="../media/image150.png"/><Relationship Id="rId2" Type="http://schemas.openxmlformats.org/officeDocument/2006/relationships/notesSlide" Target="../notesSlides/notesSlide11.xml"/><Relationship Id="rId16" Type="http://schemas.openxmlformats.org/officeDocument/2006/relationships/image" Target="../media/image141.png"/><Relationship Id="rId20" Type="http://schemas.openxmlformats.org/officeDocument/2006/relationships/image" Target="../media/image145.png"/><Relationship Id="rId1" Type="http://schemas.openxmlformats.org/officeDocument/2006/relationships/slideLayout" Target="../slideLayouts/slideLayout1.xml"/><Relationship Id="rId6" Type="http://schemas.openxmlformats.org/officeDocument/2006/relationships/image" Target="../media/image131.png"/><Relationship Id="rId11" Type="http://schemas.openxmlformats.org/officeDocument/2006/relationships/image" Target="../media/image136.png"/><Relationship Id="rId24" Type="http://schemas.openxmlformats.org/officeDocument/2006/relationships/image" Target="../media/image149.png"/><Relationship Id="rId5" Type="http://schemas.openxmlformats.org/officeDocument/2006/relationships/image" Target="../media/image130.png"/><Relationship Id="rId15" Type="http://schemas.openxmlformats.org/officeDocument/2006/relationships/image" Target="../media/image140.png"/><Relationship Id="rId23" Type="http://schemas.openxmlformats.org/officeDocument/2006/relationships/image" Target="../media/image148.png"/><Relationship Id="rId10" Type="http://schemas.openxmlformats.org/officeDocument/2006/relationships/image" Target="../media/image135.png"/><Relationship Id="rId19" Type="http://schemas.openxmlformats.org/officeDocument/2006/relationships/image" Target="../media/image144.png"/><Relationship Id="rId4" Type="http://schemas.openxmlformats.org/officeDocument/2006/relationships/image" Target="../media/image13.png"/><Relationship Id="rId9" Type="http://schemas.openxmlformats.org/officeDocument/2006/relationships/image" Target="../media/image134.png"/><Relationship Id="rId14" Type="http://schemas.openxmlformats.org/officeDocument/2006/relationships/image" Target="../media/image139.png"/><Relationship Id="rId22" Type="http://schemas.openxmlformats.org/officeDocument/2006/relationships/image" Target="../media/image147.png"/></Relationships>
</file>

<file path=ppt/slides/_rels/slide12.xml.rels><?xml version="1.0" encoding="UTF-8" standalone="yes"?>
<Relationships xmlns="http://schemas.openxmlformats.org/package/2006/relationships"><Relationship Id="rId8" Type="http://schemas.openxmlformats.org/officeDocument/2006/relationships/image" Target="../media/image155.png"/><Relationship Id="rId13" Type="http://schemas.openxmlformats.org/officeDocument/2006/relationships/image" Target="../media/image159.png"/><Relationship Id="rId18" Type="http://schemas.openxmlformats.org/officeDocument/2006/relationships/image" Target="../media/image164.png"/><Relationship Id="rId3" Type="http://schemas.openxmlformats.org/officeDocument/2006/relationships/image" Target="../media/image12.png"/><Relationship Id="rId7" Type="http://schemas.openxmlformats.org/officeDocument/2006/relationships/image" Target="../media/image154.png"/><Relationship Id="rId12" Type="http://schemas.openxmlformats.org/officeDocument/2006/relationships/image" Target="../media/image158.png"/><Relationship Id="rId17" Type="http://schemas.openxmlformats.org/officeDocument/2006/relationships/image" Target="../media/image163.png"/><Relationship Id="rId2" Type="http://schemas.openxmlformats.org/officeDocument/2006/relationships/notesSlide" Target="../notesSlides/notesSlide12.xml"/><Relationship Id="rId16" Type="http://schemas.openxmlformats.org/officeDocument/2006/relationships/image" Target="../media/image162.png"/><Relationship Id="rId1" Type="http://schemas.openxmlformats.org/officeDocument/2006/relationships/slideLayout" Target="../slideLayouts/slideLayout1.xml"/><Relationship Id="rId6" Type="http://schemas.openxmlformats.org/officeDocument/2006/relationships/image" Target="../media/image153.png"/><Relationship Id="rId11" Type="http://schemas.openxmlformats.org/officeDocument/2006/relationships/image" Target="../media/image157.png"/><Relationship Id="rId5" Type="http://schemas.openxmlformats.org/officeDocument/2006/relationships/image" Target="../media/image152.png"/><Relationship Id="rId15" Type="http://schemas.openxmlformats.org/officeDocument/2006/relationships/image" Target="../media/image161.png"/><Relationship Id="rId10" Type="http://schemas.openxmlformats.org/officeDocument/2006/relationships/image" Target="../media/image20.png"/><Relationship Id="rId19" Type="http://schemas.openxmlformats.org/officeDocument/2006/relationships/image" Target="../media/image165.png"/><Relationship Id="rId4" Type="http://schemas.openxmlformats.org/officeDocument/2006/relationships/image" Target="../media/image80.png"/><Relationship Id="rId9" Type="http://schemas.openxmlformats.org/officeDocument/2006/relationships/image" Target="../media/image156.png"/><Relationship Id="rId14" Type="http://schemas.openxmlformats.org/officeDocument/2006/relationships/image" Target="../media/image160.png"/></Relationships>
</file>

<file path=ppt/slides/_rels/slide13.xml.rels><?xml version="1.0" encoding="UTF-8" standalone="yes"?>
<Relationships xmlns="http://schemas.openxmlformats.org/package/2006/relationships"><Relationship Id="rId8" Type="http://schemas.openxmlformats.org/officeDocument/2006/relationships/image" Target="../media/image169.png"/><Relationship Id="rId13" Type="http://schemas.openxmlformats.org/officeDocument/2006/relationships/image" Target="../media/image174.png"/><Relationship Id="rId3" Type="http://schemas.openxmlformats.org/officeDocument/2006/relationships/image" Target="../media/image12.png"/><Relationship Id="rId7" Type="http://schemas.openxmlformats.org/officeDocument/2006/relationships/image" Target="../media/image168.png"/><Relationship Id="rId12" Type="http://schemas.openxmlformats.org/officeDocument/2006/relationships/image" Target="../media/image173.png"/><Relationship Id="rId2" Type="http://schemas.openxmlformats.org/officeDocument/2006/relationships/notesSlide" Target="../notesSlides/notesSlide13.xml"/><Relationship Id="rId16" Type="http://schemas.openxmlformats.org/officeDocument/2006/relationships/image" Target="../media/image177.png"/><Relationship Id="rId1" Type="http://schemas.openxmlformats.org/officeDocument/2006/relationships/slideLayout" Target="../slideLayouts/slideLayout1.xml"/><Relationship Id="rId6" Type="http://schemas.openxmlformats.org/officeDocument/2006/relationships/image" Target="../media/image167.png"/><Relationship Id="rId11" Type="http://schemas.openxmlformats.org/officeDocument/2006/relationships/image" Target="../media/image172.png"/><Relationship Id="rId5" Type="http://schemas.openxmlformats.org/officeDocument/2006/relationships/image" Target="../media/image166.png"/><Relationship Id="rId15" Type="http://schemas.openxmlformats.org/officeDocument/2006/relationships/image" Target="../media/image176.png"/><Relationship Id="rId10" Type="http://schemas.openxmlformats.org/officeDocument/2006/relationships/image" Target="../media/image171.png"/><Relationship Id="rId4" Type="http://schemas.openxmlformats.org/officeDocument/2006/relationships/image" Target="../media/image13.png"/><Relationship Id="rId9" Type="http://schemas.openxmlformats.org/officeDocument/2006/relationships/image" Target="../media/image170.png"/><Relationship Id="rId14" Type="http://schemas.openxmlformats.org/officeDocument/2006/relationships/image" Target="../media/image175.png"/></Relationships>
</file>

<file path=ppt/slides/_rels/slide14.xml.rels><?xml version="1.0" encoding="UTF-8" standalone="yes"?>
<Relationships xmlns="http://schemas.openxmlformats.org/package/2006/relationships"><Relationship Id="rId8" Type="http://schemas.openxmlformats.org/officeDocument/2006/relationships/image" Target="../media/image181.png"/><Relationship Id="rId13" Type="http://schemas.openxmlformats.org/officeDocument/2006/relationships/image" Target="../media/image185.png"/><Relationship Id="rId18" Type="http://schemas.openxmlformats.org/officeDocument/2006/relationships/image" Target="../media/image189.png"/><Relationship Id="rId3" Type="http://schemas.openxmlformats.org/officeDocument/2006/relationships/image" Target="../media/image1.png"/><Relationship Id="rId21" Type="http://schemas.openxmlformats.org/officeDocument/2006/relationships/image" Target="../media/image192.png"/><Relationship Id="rId7" Type="http://schemas.openxmlformats.org/officeDocument/2006/relationships/image" Target="../media/image180.png"/><Relationship Id="rId12" Type="http://schemas.openxmlformats.org/officeDocument/2006/relationships/image" Target="../media/image184.png"/><Relationship Id="rId17" Type="http://schemas.openxmlformats.org/officeDocument/2006/relationships/image" Target="../media/image54.png"/><Relationship Id="rId2" Type="http://schemas.openxmlformats.org/officeDocument/2006/relationships/notesSlide" Target="../notesSlides/notesSlide14.xml"/><Relationship Id="rId16" Type="http://schemas.openxmlformats.org/officeDocument/2006/relationships/image" Target="../media/image188.png"/><Relationship Id="rId20" Type="http://schemas.openxmlformats.org/officeDocument/2006/relationships/image" Target="../media/image191.png"/><Relationship Id="rId1" Type="http://schemas.openxmlformats.org/officeDocument/2006/relationships/slideLayout" Target="../slideLayouts/slideLayout1.xml"/><Relationship Id="rId6" Type="http://schemas.openxmlformats.org/officeDocument/2006/relationships/image" Target="../media/image179.png"/><Relationship Id="rId11" Type="http://schemas.openxmlformats.org/officeDocument/2006/relationships/image" Target="../media/image48.png"/><Relationship Id="rId5" Type="http://schemas.openxmlformats.org/officeDocument/2006/relationships/image" Target="../media/image178.png"/><Relationship Id="rId15" Type="http://schemas.openxmlformats.org/officeDocument/2006/relationships/image" Target="../media/image187.png"/><Relationship Id="rId23" Type="http://schemas.openxmlformats.org/officeDocument/2006/relationships/image" Target="../media/image194.png"/><Relationship Id="rId10" Type="http://schemas.openxmlformats.org/officeDocument/2006/relationships/image" Target="../media/image183.png"/><Relationship Id="rId19" Type="http://schemas.openxmlformats.org/officeDocument/2006/relationships/image" Target="../media/image190.png"/><Relationship Id="rId4" Type="http://schemas.openxmlformats.org/officeDocument/2006/relationships/image" Target="../media/image88.png"/><Relationship Id="rId9" Type="http://schemas.openxmlformats.org/officeDocument/2006/relationships/image" Target="../media/image182.png"/><Relationship Id="rId14" Type="http://schemas.openxmlformats.org/officeDocument/2006/relationships/image" Target="../media/image186.png"/><Relationship Id="rId22" Type="http://schemas.openxmlformats.org/officeDocument/2006/relationships/image" Target="../media/image193.png"/></Relationships>
</file>

<file path=ppt/slides/_rels/slide15.xml.rels><?xml version="1.0" encoding="UTF-8" standalone="yes"?>
<Relationships xmlns="http://schemas.openxmlformats.org/package/2006/relationships"><Relationship Id="rId8" Type="http://schemas.openxmlformats.org/officeDocument/2006/relationships/image" Target="../media/image199.png"/><Relationship Id="rId13" Type="http://schemas.openxmlformats.org/officeDocument/2006/relationships/image" Target="../media/image204.png"/><Relationship Id="rId18" Type="http://schemas.openxmlformats.org/officeDocument/2006/relationships/image" Target="../media/image209.png"/><Relationship Id="rId3" Type="http://schemas.openxmlformats.org/officeDocument/2006/relationships/image" Target="../media/image1.png"/><Relationship Id="rId21" Type="http://schemas.openxmlformats.org/officeDocument/2006/relationships/image" Target="../media/image212.png"/><Relationship Id="rId7" Type="http://schemas.openxmlformats.org/officeDocument/2006/relationships/image" Target="../media/image198.png"/><Relationship Id="rId12" Type="http://schemas.openxmlformats.org/officeDocument/2006/relationships/image" Target="../media/image203.png"/><Relationship Id="rId17" Type="http://schemas.openxmlformats.org/officeDocument/2006/relationships/image" Target="../media/image208.png"/><Relationship Id="rId2" Type="http://schemas.openxmlformats.org/officeDocument/2006/relationships/notesSlide" Target="../notesSlides/notesSlide15.xml"/><Relationship Id="rId16" Type="http://schemas.openxmlformats.org/officeDocument/2006/relationships/image" Target="../media/image207.png"/><Relationship Id="rId20" Type="http://schemas.openxmlformats.org/officeDocument/2006/relationships/image" Target="../media/image211.png"/><Relationship Id="rId1" Type="http://schemas.openxmlformats.org/officeDocument/2006/relationships/slideLayout" Target="../slideLayouts/slideLayout1.xml"/><Relationship Id="rId6" Type="http://schemas.openxmlformats.org/officeDocument/2006/relationships/image" Target="../media/image197.png"/><Relationship Id="rId11" Type="http://schemas.openxmlformats.org/officeDocument/2006/relationships/image" Target="../media/image202.png"/><Relationship Id="rId5" Type="http://schemas.openxmlformats.org/officeDocument/2006/relationships/image" Target="../media/image196.png"/><Relationship Id="rId15" Type="http://schemas.openxmlformats.org/officeDocument/2006/relationships/image" Target="../media/image206.png"/><Relationship Id="rId10" Type="http://schemas.openxmlformats.org/officeDocument/2006/relationships/image" Target="../media/image201.png"/><Relationship Id="rId19" Type="http://schemas.openxmlformats.org/officeDocument/2006/relationships/image" Target="../media/image210.png"/><Relationship Id="rId4" Type="http://schemas.openxmlformats.org/officeDocument/2006/relationships/image" Target="../media/image195.png"/><Relationship Id="rId9" Type="http://schemas.openxmlformats.org/officeDocument/2006/relationships/image" Target="../media/image200.png"/><Relationship Id="rId14" Type="http://schemas.openxmlformats.org/officeDocument/2006/relationships/image" Target="../media/image205.png"/></Relationships>
</file>

<file path=ppt/slides/_rels/slide16.xml.rels><?xml version="1.0" encoding="UTF-8" standalone="yes"?>
<Relationships xmlns="http://schemas.openxmlformats.org/package/2006/relationships"><Relationship Id="rId8" Type="http://schemas.openxmlformats.org/officeDocument/2006/relationships/image" Target="../media/image216.png"/><Relationship Id="rId13" Type="http://schemas.openxmlformats.org/officeDocument/2006/relationships/image" Target="../media/image220.png"/><Relationship Id="rId18" Type="http://schemas.openxmlformats.org/officeDocument/2006/relationships/image" Target="../media/image225.png"/><Relationship Id="rId3" Type="http://schemas.openxmlformats.org/officeDocument/2006/relationships/image" Target="../media/image12.png"/><Relationship Id="rId7" Type="http://schemas.openxmlformats.org/officeDocument/2006/relationships/image" Target="../media/image215.png"/><Relationship Id="rId12" Type="http://schemas.openxmlformats.org/officeDocument/2006/relationships/image" Target="../media/image219.png"/><Relationship Id="rId17" Type="http://schemas.openxmlformats.org/officeDocument/2006/relationships/image" Target="../media/image224.png"/><Relationship Id="rId2" Type="http://schemas.openxmlformats.org/officeDocument/2006/relationships/notesSlide" Target="../notesSlides/notesSlide16.xml"/><Relationship Id="rId16" Type="http://schemas.openxmlformats.org/officeDocument/2006/relationships/image" Target="../media/image223.png"/><Relationship Id="rId20" Type="http://schemas.openxmlformats.org/officeDocument/2006/relationships/image" Target="../media/image226.png"/><Relationship Id="rId1" Type="http://schemas.openxmlformats.org/officeDocument/2006/relationships/slideLayout" Target="../slideLayouts/slideLayout1.xml"/><Relationship Id="rId6" Type="http://schemas.openxmlformats.org/officeDocument/2006/relationships/image" Target="../media/image214.png"/><Relationship Id="rId11" Type="http://schemas.openxmlformats.org/officeDocument/2006/relationships/image" Target="../media/image19.png"/><Relationship Id="rId5" Type="http://schemas.openxmlformats.org/officeDocument/2006/relationships/image" Target="../media/image213.png"/><Relationship Id="rId15" Type="http://schemas.openxmlformats.org/officeDocument/2006/relationships/image" Target="../media/image222.png"/><Relationship Id="rId10" Type="http://schemas.openxmlformats.org/officeDocument/2006/relationships/image" Target="../media/image218.png"/><Relationship Id="rId19" Type="http://schemas.openxmlformats.org/officeDocument/2006/relationships/image" Target="../media/image15.png"/><Relationship Id="rId4" Type="http://schemas.openxmlformats.org/officeDocument/2006/relationships/image" Target="../media/image13.png"/><Relationship Id="rId9" Type="http://schemas.openxmlformats.org/officeDocument/2006/relationships/image" Target="../media/image217.png"/><Relationship Id="rId14" Type="http://schemas.openxmlformats.org/officeDocument/2006/relationships/image" Target="../media/image221.png"/></Relationships>
</file>

<file path=ppt/slides/_rels/slide17.xml.rels><?xml version="1.0" encoding="UTF-8" standalone="yes"?>
<Relationships xmlns="http://schemas.openxmlformats.org/package/2006/relationships"><Relationship Id="rId8" Type="http://schemas.openxmlformats.org/officeDocument/2006/relationships/image" Target="../media/image230.png"/><Relationship Id="rId13" Type="http://schemas.openxmlformats.org/officeDocument/2006/relationships/image" Target="../media/image235.png"/><Relationship Id="rId18" Type="http://schemas.openxmlformats.org/officeDocument/2006/relationships/image" Target="../media/image240.png"/><Relationship Id="rId3" Type="http://schemas.openxmlformats.org/officeDocument/2006/relationships/image" Target="../media/image12.png"/><Relationship Id="rId7" Type="http://schemas.openxmlformats.org/officeDocument/2006/relationships/image" Target="../media/image229.png"/><Relationship Id="rId12" Type="http://schemas.openxmlformats.org/officeDocument/2006/relationships/image" Target="../media/image234.png"/><Relationship Id="rId17" Type="http://schemas.openxmlformats.org/officeDocument/2006/relationships/image" Target="../media/image239.png"/><Relationship Id="rId2" Type="http://schemas.openxmlformats.org/officeDocument/2006/relationships/notesSlide" Target="../notesSlides/notesSlide17.xml"/><Relationship Id="rId16" Type="http://schemas.openxmlformats.org/officeDocument/2006/relationships/image" Target="../media/image238.png"/><Relationship Id="rId20" Type="http://schemas.openxmlformats.org/officeDocument/2006/relationships/image" Target="../media/image242.png"/><Relationship Id="rId1" Type="http://schemas.openxmlformats.org/officeDocument/2006/relationships/slideLayout" Target="../slideLayouts/slideLayout1.xml"/><Relationship Id="rId6" Type="http://schemas.openxmlformats.org/officeDocument/2006/relationships/image" Target="../media/image228.png"/><Relationship Id="rId11" Type="http://schemas.openxmlformats.org/officeDocument/2006/relationships/image" Target="../media/image233.png"/><Relationship Id="rId5" Type="http://schemas.openxmlformats.org/officeDocument/2006/relationships/image" Target="../media/image227.png"/><Relationship Id="rId15" Type="http://schemas.openxmlformats.org/officeDocument/2006/relationships/image" Target="../media/image237.png"/><Relationship Id="rId10" Type="http://schemas.openxmlformats.org/officeDocument/2006/relationships/image" Target="../media/image232.png"/><Relationship Id="rId19" Type="http://schemas.openxmlformats.org/officeDocument/2006/relationships/image" Target="../media/image241.png"/><Relationship Id="rId4" Type="http://schemas.openxmlformats.org/officeDocument/2006/relationships/image" Target="../media/image13.png"/><Relationship Id="rId9" Type="http://schemas.openxmlformats.org/officeDocument/2006/relationships/image" Target="../media/image231.png"/><Relationship Id="rId14" Type="http://schemas.openxmlformats.org/officeDocument/2006/relationships/image" Target="../media/image236.png"/></Relationships>
</file>

<file path=ppt/slides/_rels/slide18.xml.rels><?xml version="1.0" encoding="UTF-8" standalone="yes"?>
<Relationships xmlns="http://schemas.openxmlformats.org/package/2006/relationships"><Relationship Id="rId8" Type="http://schemas.openxmlformats.org/officeDocument/2006/relationships/image" Target="../media/image246.png"/><Relationship Id="rId13" Type="http://schemas.openxmlformats.org/officeDocument/2006/relationships/image" Target="../media/image251.png"/><Relationship Id="rId3" Type="http://schemas.openxmlformats.org/officeDocument/2006/relationships/image" Target="../media/image1.png"/><Relationship Id="rId7" Type="http://schemas.openxmlformats.org/officeDocument/2006/relationships/image" Target="../media/image245.png"/><Relationship Id="rId12" Type="http://schemas.openxmlformats.org/officeDocument/2006/relationships/image" Target="../media/image250.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44.png"/><Relationship Id="rId11" Type="http://schemas.openxmlformats.org/officeDocument/2006/relationships/image" Target="../media/image249.png"/><Relationship Id="rId5" Type="http://schemas.openxmlformats.org/officeDocument/2006/relationships/image" Target="../media/image243.png"/><Relationship Id="rId10" Type="http://schemas.openxmlformats.org/officeDocument/2006/relationships/image" Target="../media/image248.png"/><Relationship Id="rId4" Type="http://schemas.openxmlformats.org/officeDocument/2006/relationships/image" Target="../media/image13.png"/><Relationship Id="rId9" Type="http://schemas.openxmlformats.org/officeDocument/2006/relationships/image" Target="../media/image247.png"/><Relationship Id="rId14" Type="http://schemas.openxmlformats.org/officeDocument/2006/relationships/image" Target="../media/image252.png"/></Relationships>
</file>

<file path=ppt/slides/_rels/slide19.xml.rels><?xml version="1.0" encoding="UTF-8" standalone="yes"?>
<Relationships xmlns="http://schemas.openxmlformats.org/package/2006/relationships"><Relationship Id="rId8" Type="http://schemas.openxmlformats.org/officeDocument/2006/relationships/image" Target="../media/image256.png"/><Relationship Id="rId13" Type="http://schemas.openxmlformats.org/officeDocument/2006/relationships/image" Target="../media/image260.png"/><Relationship Id="rId3" Type="http://schemas.openxmlformats.org/officeDocument/2006/relationships/image" Target="../media/image12.png"/><Relationship Id="rId7" Type="http://schemas.openxmlformats.org/officeDocument/2006/relationships/image" Target="../media/image255.png"/><Relationship Id="rId12" Type="http://schemas.openxmlformats.org/officeDocument/2006/relationships/image" Target="../media/image221.png"/><Relationship Id="rId2" Type="http://schemas.openxmlformats.org/officeDocument/2006/relationships/notesSlide" Target="../notesSlides/notesSlide19.xml"/><Relationship Id="rId16" Type="http://schemas.openxmlformats.org/officeDocument/2006/relationships/image" Target="../media/image263.png"/><Relationship Id="rId1" Type="http://schemas.openxmlformats.org/officeDocument/2006/relationships/slideLayout" Target="../slideLayouts/slideLayout1.xml"/><Relationship Id="rId6" Type="http://schemas.openxmlformats.org/officeDocument/2006/relationships/image" Target="../media/image254.png"/><Relationship Id="rId11" Type="http://schemas.openxmlformats.org/officeDocument/2006/relationships/image" Target="../media/image259.png"/><Relationship Id="rId5" Type="http://schemas.openxmlformats.org/officeDocument/2006/relationships/image" Target="../media/image253.png"/><Relationship Id="rId15" Type="http://schemas.openxmlformats.org/officeDocument/2006/relationships/image" Target="../media/image262.png"/><Relationship Id="rId10" Type="http://schemas.openxmlformats.org/officeDocument/2006/relationships/image" Target="../media/image258.png"/><Relationship Id="rId4" Type="http://schemas.openxmlformats.org/officeDocument/2006/relationships/image" Target="../media/image13.png"/><Relationship Id="rId9" Type="http://schemas.openxmlformats.org/officeDocument/2006/relationships/image" Target="../media/image257.png"/><Relationship Id="rId14" Type="http://schemas.openxmlformats.org/officeDocument/2006/relationships/image" Target="../media/image261.png"/></Relationships>
</file>

<file path=ppt/slides/_rels/slide20.xml.rels><?xml version="1.0" encoding="UTF-8" standalone="yes"?>
<Relationships xmlns="http://schemas.openxmlformats.org/package/2006/relationships"><Relationship Id="rId8" Type="http://schemas.openxmlformats.org/officeDocument/2006/relationships/image" Target="../media/image267.png"/><Relationship Id="rId3" Type="http://schemas.openxmlformats.org/officeDocument/2006/relationships/image" Target="../media/image12.png"/><Relationship Id="rId7" Type="http://schemas.openxmlformats.org/officeDocument/2006/relationships/image" Target="../media/image266.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65.png"/><Relationship Id="rId5" Type="http://schemas.openxmlformats.org/officeDocument/2006/relationships/image" Target="../media/image264.png"/><Relationship Id="rId4" Type="http://schemas.openxmlformats.org/officeDocument/2006/relationships/image" Target="../media/image13.png"/><Relationship Id="rId9" Type="http://schemas.openxmlformats.org/officeDocument/2006/relationships/image" Target="../media/image268.png"/></Relationships>
</file>

<file path=ppt/slides/_rels/slide21.xml.rels><?xml version="1.0" encoding="UTF-8" standalone="yes"?>
<Relationships xmlns="http://schemas.openxmlformats.org/package/2006/relationships"><Relationship Id="rId8" Type="http://schemas.openxmlformats.org/officeDocument/2006/relationships/image" Target="../media/image272.png"/><Relationship Id="rId13" Type="http://schemas.openxmlformats.org/officeDocument/2006/relationships/image" Target="../media/image276.png"/><Relationship Id="rId18" Type="http://schemas.openxmlformats.org/officeDocument/2006/relationships/image" Target="../media/image281.png"/><Relationship Id="rId3" Type="http://schemas.openxmlformats.org/officeDocument/2006/relationships/image" Target="../media/image12.png"/><Relationship Id="rId21" Type="http://schemas.openxmlformats.org/officeDocument/2006/relationships/image" Target="../media/image284.png"/><Relationship Id="rId7" Type="http://schemas.openxmlformats.org/officeDocument/2006/relationships/image" Target="../media/image271.png"/><Relationship Id="rId12" Type="http://schemas.openxmlformats.org/officeDocument/2006/relationships/image" Target="../media/image275.png"/><Relationship Id="rId17" Type="http://schemas.openxmlformats.org/officeDocument/2006/relationships/image" Target="../media/image280.png"/><Relationship Id="rId2" Type="http://schemas.openxmlformats.org/officeDocument/2006/relationships/notesSlide" Target="../notesSlides/notesSlide21.xml"/><Relationship Id="rId16" Type="http://schemas.openxmlformats.org/officeDocument/2006/relationships/image" Target="../media/image279.png"/><Relationship Id="rId20" Type="http://schemas.openxmlformats.org/officeDocument/2006/relationships/image" Target="../media/image283.png"/><Relationship Id="rId1" Type="http://schemas.openxmlformats.org/officeDocument/2006/relationships/slideLayout" Target="../slideLayouts/slideLayout1.xml"/><Relationship Id="rId6" Type="http://schemas.openxmlformats.org/officeDocument/2006/relationships/image" Target="../media/image270.png"/><Relationship Id="rId11" Type="http://schemas.openxmlformats.org/officeDocument/2006/relationships/image" Target="../media/image274.png"/><Relationship Id="rId5" Type="http://schemas.openxmlformats.org/officeDocument/2006/relationships/image" Target="../media/image269.png"/><Relationship Id="rId15" Type="http://schemas.openxmlformats.org/officeDocument/2006/relationships/image" Target="../media/image278.png"/><Relationship Id="rId10" Type="http://schemas.openxmlformats.org/officeDocument/2006/relationships/image" Target="../media/image201.png"/><Relationship Id="rId19" Type="http://schemas.openxmlformats.org/officeDocument/2006/relationships/image" Target="../media/image282.png"/><Relationship Id="rId4" Type="http://schemas.openxmlformats.org/officeDocument/2006/relationships/image" Target="../media/image13.png"/><Relationship Id="rId9" Type="http://schemas.openxmlformats.org/officeDocument/2006/relationships/image" Target="../media/image273.png"/><Relationship Id="rId14" Type="http://schemas.openxmlformats.org/officeDocument/2006/relationships/image" Target="../media/image277.png"/></Relationships>
</file>

<file path=ppt/slides/_rels/slide22.xml.rels><?xml version="1.0" encoding="UTF-8" standalone="yes"?>
<Relationships xmlns="http://schemas.openxmlformats.org/package/2006/relationships"><Relationship Id="rId8" Type="http://schemas.openxmlformats.org/officeDocument/2006/relationships/image" Target="../media/image165.png"/><Relationship Id="rId13" Type="http://schemas.openxmlformats.org/officeDocument/2006/relationships/image" Target="../media/image288.png"/><Relationship Id="rId3" Type="http://schemas.openxmlformats.org/officeDocument/2006/relationships/image" Target="../media/image12.png"/><Relationship Id="rId7" Type="http://schemas.openxmlformats.org/officeDocument/2006/relationships/image" Target="../media/image286.png"/><Relationship Id="rId12"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87.png"/><Relationship Id="rId5" Type="http://schemas.openxmlformats.org/officeDocument/2006/relationships/image" Target="../media/image285.png"/><Relationship Id="rId15" Type="http://schemas.openxmlformats.org/officeDocument/2006/relationships/image" Target="../media/image290.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89.png"/></Relationships>
</file>

<file path=ppt/slides/_rels/slide23.xml.rels><?xml version="1.0" encoding="UTF-8" standalone="yes"?>
<Relationships xmlns="http://schemas.openxmlformats.org/package/2006/relationships"><Relationship Id="rId8" Type="http://schemas.openxmlformats.org/officeDocument/2006/relationships/image" Target="../media/image295.png"/><Relationship Id="rId3" Type="http://schemas.openxmlformats.org/officeDocument/2006/relationships/image" Target="../media/image12.png"/><Relationship Id="rId7" Type="http://schemas.openxmlformats.org/officeDocument/2006/relationships/image" Target="../media/image294.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93.png"/><Relationship Id="rId5" Type="http://schemas.openxmlformats.org/officeDocument/2006/relationships/image" Target="../media/image292.png"/><Relationship Id="rId10" Type="http://schemas.openxmlformats.org/officeDocument/2006/relationships/image" Target="../media/image297.png"/><Relationship Id="rId4" Type="http://schemas.openxmlformats.org/officeDocument/2006/relationships/image" Target="../media/image291.png"/><Relationship Id="rId9" Type="http://schemas.openxmlformats.org/officeDocument/2006/relationships/image" Target="../media/image29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8382000" y="0"/>
            <a:ext cx="3810000" cy="3333750"/>
          </a:xfrm>
          <a:prstGeom prst="rect">
            <a:avLst/>
          </a:prstGeom>
        </p:spPr>
      </p:pic>
      <p:pic>
        <p:nvPicPr>
          <p:cNvPr id="4" name="Image 2" descr="preencoded.png"/>
          <p:cNvPicPr>
            <a:picLocks noChangeAspect="1"/>
          </p:cNvPicPr>
          <p:nvPr/>
        </p:nvPicPr>
        <p:blipFill>
          <a:blip r:embed="rId5"/>
          <a:stretch>
            <a:fillRect/>
          </a:stretch>
        </p:blipFill>
        <p:spPr>
          <a:xfrm>
            <a:off x="0" y="4476750"/>
            <a:ext cx="2381250" cy="2857500"/>
          </a:xfrm>
          <a:prstGeom prst="rect">
            <a:avLst/>
          </a:prstGeom>
        </p:spPr>
      </p:pic>
      <p:pic>
        <p:nvPicPr>
          <p:cNvPr id="5" name="Image 3" descr="preencoded.png"/>
          <p:cNvPicPr>
            <a:picLocks noChangeAspect="1"/>
          </p:cNvPicPr>
          <p:nvPr/>
        </p:nvPicPr>
        <p:blipFill>
          <a:blip r:embed="rId6"/>
          <a:stretch>
            <a:fillRect/>
          </a:stretch>
        </p:blipFill>
        <p:spPr>
          <a:xfrm>
            <a:off x="4953000" y="3829050"/>
            <a:ext cx="609600" cy="609600"/>
          </a:xfrm>
          <a:prstGeom prst="rect">
            <a:avLst/>
          </a:prstGeom>
        </p:spPr>
      </p:pic>
      <p:pic>
        <p:nvPicPr>
          <p:cNvPr id="6" name="Image 4" descr="preencoded.png"/>
          <p:cNvPicPr>
            <a:picLocks noChangeAspect="1"/>
          </p:cNvPicPr>
          <p:nvPr/>
        </p:nvPicPr>
        <p:blipFill>
          <a:blip r:embed="rId7"/>
          <a:stretch>
            <a:fillRect/>
          </a:stretch>
        </p:blipFill>
        <p:spPr>
          <a:xfrm>
            <a:off x="5076825" y="3962400"/>
            <a:ext cx="361950" cy="342900"/>
          </a:xfrm>
          <a:prstGeom prst="rect">
            <a:avLst/>
          </a:prstGeom>
        </p:spPr>
      </p:pic>
      <p:pic>
        <p:nvPicPr>
          <p:cNvPr id="7" name="Image 5" descr="preencoded.png"/>
          <p:cNvPicPr>
            <a:picLocks noChangeAspect="1"/>
          </p:cNvPicPr>
          <p:nvPr/>
        </p:nvPicPr>
        <p:blipFill>
          <a:blip r:embed="rId8"/>
          <a:stretch>
            <a:fillRect/>
          </a:stretch>
        </p:blipFill>
        <p:spPr>
          <a:xfrm>
            <a:off x="5791200" y="3829050"/>
            <a:ext cx="609600" cy="609600"/>
          </a:xfrm>
          <a:prstGeom prst="rect">
            <a:avLst/>
          </a:prstGeom>
        </p:spPr>
      </p:pic>
      <p:pic>
        <p:nvPicPr>
          <p:cNvPr id="8" name="Image 6" descr="preencoded.png"/>
          <p:cNvPicPr>
            <a:picLocks noChangeAspect="1"/>
          </p:cNvPicPr>
          <p:nvPr/>
        </p:nvPicPr>
        <p:blipFill>
          <a:blip r:embed="rId9"/>
          <a:stretch>
            <a:fillRect/>
          </a:stretch>
        </p:blipFill>
        <p:spPr>
          <a:xfrm>
            <a:off x="5953125" y="3962400"/>
            <a:ext cx="285750" cy="342900"/>
          </a:xfrm>
          <a:prstGeom prst="rect">
            <a:avLst/>
          </a:prstGeom>
        </p:spPr>
      </p:pic>
      <p:pic>
        <p:nvPicPr>
          <p:cNvPr id="9" name="Image 7" descr="preencoded.png"/>
          <p:cNvPicPr>
            <a:picLocks noChangeAspect="1"/>
          </p:cNvPicPr>
          <p:nvPr/>
        </p:nvPicPr>
        <p:blipFill>
          <a:blip r:embed="rId10"/>
          <a:stretch>
            <a:fillRect/>
          </a:stretch>
        </p:blipFill>
        <p:spPr>
          <a:xfrm>
            <a:off x="6629400" y="3829050"/>
            <a:ext cx="609600" cy="609600"/>
          </a:xfrm>
          <a:prstGeom prst="rect">
            <a:avLst/>
          </a:prstGeom>
        </p:spPr>
      </p:pic>
      <p:pic>
        <p:nvPicPr>
          <p:cNvPr id="10" name="Image 8" descr="preencoded.png"/>
          <p:cNvPicPr>
            <a:picLocks noChangeAspect="1"/>
          </p:cNvPicPr>
          <p:nvPr/>
        </p:nvPicPr>
        <p:blipFill>
          <a:blip r:embed="rId11"/>
          <a:stretch>
            <a:fillRect/>
          </a:stretch>
        </p:blipFill>
        <p:spPr>
          <a:xfrm>
            <a:off x="6791325" y="3962400"/>
            <a:ext cx="285750" cy="342900"/>
          </a:xfrm>
          <a:prstGeom prst="rect">
            <a:avLst/>
          </a:prstGeom>
        </p:spPr>
      </p:pic>
      <p:pic>
        <p:nvPicPr>
          <p:cNvPr id="11" name="Image 9" descr="preencoded.png"/>
          <p:cNvPicPr>
            <a:picLocks noChangeAspect="1"/>
          </p:cNvPicPr>
          <p:nvPr/>
        </p:nvPicPr>
        <p:blipFill>
          <a:blip r:embed="rId12"/>
          <a:stretch>
            <a:fillRect/>
          </a:stretch>
        </p:blipFill>
        <p:spPr>
          <a:xfrm>
            <a:off x="609600" y="5676900"/>
            <a:ext cx="171450" cy="190500"/>
          </a:xfrm>
          <a:prstGeom prst="rect">
            <a:avLst/>
          </a:prstGeom>
        </p:spPr>
      </p:pic>
      <p:pic>
        <p:nvPicPr>
          <p:cNvPr id="12" name="Image 10" descr="preencoded.png"/>
          <p:cNvPicPr>
            <a:picLocks noChangeAspect="1"/>
          </p:cNvPicPr>
          <p:nvPr/>
        </p:nvPicPr>
        <p:blipFill>
          <a:blip r:embed="rId13"/>
          <a:stretch>
            <a:fillRect/>
          </a:stretch>
        </p:blipFill>
        <p:spPr>
          <a:xfrm>
            <a:off x="609600" y="6019800"/>
            <a:ext cx="171450" cy="190500"/>
          </a:xfrm>
          <a:prstGeom prst="rect">
            <a:avLst/>
          </a:prstGeom>
        </p:spPr>
      </p:pic>
      <p:sp>
        <p:nvSpPr>
          <p:cNvPr id="13" name="Text 0"/>
          <p:cNvSpPr/>
          <p:nvPr/>
        </p:nvSpPr>
        <p:spPr>
          <a:xfrm>
            <a:off x="609600" y="685800"/>
            <a:ext cx="1824692" cy="200025"/>
          </a:xfrm>
          <a:prstGeom prst="rect">
            <a:avLst/>
          </a:prstGeom>
          <a:noFill/>
          <a:ln/>
        </p:spPr>
        <p:txBody>
          <a:bodyPr vert="horz" wrap="square" lIns="0" tIns="0" rIns="0" bIns="0" rtlCol="0" anchor="t"/>
          <a:lstStyle/>
          <a:p>
            <a:pPr marL="0" indent="0">
              <a:lnSpc>
                <a:spcPts val="1575"/>
              </a:lnSpc>
              <a:buNone/>
            </a:pPr>
            <a:r>
              <a:rPr lang="en-US" sz="1050" dirty="0">
                <a:solidFill>
                  <a:srgbClr val="FFFFFF"/>
                </a:solidFill>
                <a:latin typeface="Courier New" pitchFamily="34" charset="0"/>
                <a:ea typeface="Courier New" pitchFamily="34" charset="-122"/>
                <a:cs typeface="Courier New" pitchFamily="34" charset="-120"/>
              </a:rPr>
              <a:t>software.quality{ }</a:t>
            </a:r>
            <a:endParaRPr lang="en-US" sz="1050" dirty="0"/>
          </a:p>
        </p:txBody>
      </p:sp>
      <p:sp>
        <p:nvSpPr>
          <p:cNvPr id="14" name="Text 1"/>
          <p:cNvSpPr/>
          <p:nvPr/>
        </p:nvSpPr>
        <p:spPr>
          <a:xfrm>
            <a:off x="9932491" y="2057400"/>
            <a:ext cx="1248370" cy="200025"/>
          </a:xfrm>
          <a:prstGeom prst="rect">
            <a:avLst/>
          </a:prstGeom>
          <a:noFill/>
          <a:ln/>
        </p:spPr>
        <p:txBody>
          <a:bodyPr vert="horz" wrap="square" lIns="0" tIns="0" rIns="0" bIns="0" rtlCol="0" anchor="t"/>
          <a:lstStyle/>
          <a:p>
            <a:pPr marL="0" indent="0">
              <a:lnSpc>
                <a:spcPts val="1575"/>
              </a:lnSpc>
              <a:buNone/>
            </a:pPr>
            <a:r>
              <a:rPr lang="en-US" sz="1050" dirty="0">
                <a:solidFill>
                  <a:srgbClr val="FFFFFF"/>
                </a:solidFill>
                <a:latin typeface="Courier New" pitchFamily="34" charset="0"/>
                <a:ea typeface="Courier New" pitchFamily="34" charset="-122"/>
                <a:cs typeface="Courier New" pitchFamily="34" charset="-120"/>
              </a:rPr>
              <a:t>ISO/IEC 9126;</a:t>
            </a:r>
            <a:endParaRPr lang="en-US" sz="1050" dirty="0"/>
          </a:p>
        </p:txBody>
      </p:sp>
      <p:sp>
        <p:nvSpPr>
          <p:cNvPr id="15" name="Text 2"/>
          <p:cNvSpPr/>
          <p:nvPr/>
        </p:nvSpPr>
        <p:spPr>
          <a:xfrm>
            <a:off x="1828800" y="5286375"/>
            <a:ext cx="1536442" cy="200025"/>
          </a:xfrm>
          <a:prstGeom prst="rect">
            <a:avLst/>
          </a:prstGeom>
          <a:noFill/>
          <a:ln/>
        </p:spPr>
        <p:txBody>
          <a:bodyPr vert="horz" wrap="square" lIns="0" tIns="0" rIns="0" bIns="0" rtlCol="0" anchor="t"/>
          <a:lstStyle/>
          <a:p>
            <a:pPr marL="0" indent="0">
              <a:lnSpc>
                <a:spcPts val="1575"/>
              </a:lnSpc>
              <a:buNone/>
            </a:pPr>
            <a:r>
              <a:rPr lang="en-US" sz="1050" dirty="0">
                <a:solidFill>
                  <a:srgbClr val="FFFFFF"/>
                </a:solidFill>
                <a:latin typeface="Courier New" pitchFamily="34" charset="0"/>
                <a:ea typeface="Courier New" pitchFamily="34" charset="-122"/>
                <a:cs typeface="Courier New" pitchFamily="34" charset="-120"/>
              </a:rPr>
              <a:t>CISQ.standard();</a:t>
            </a:r>
            <a:endParaRPr lang="en-US" sz="1050" dirty="0"/>
          </a:p>
        </p:txBody>
      </p:sp>
      <p:sp>
        <p:nvSpPr>
          <p:cNvPr id="16" name="Text 3"/>
          <p:cNvSpPr/>
          <p:nvPr/>
        </p:nvSpPr>
        <p:spPr>
          <a:xfrm>
            <a:off x="8153102" y="3914775"/>
            <a:ext cx="1920597" cy="200025"/>
          </a:xfrm>
          <a:prstGeom prst="rect">
            <a:avLst/>
          </a:prstGeom>
          <a:noFill/>
          <a:ln/>
        </p:spPr>
        <p:txBody>
          <a:bodyPr vert="horz" wrap="square" lIns="0" tIns="0" rIns="0" bIns="0" rtlCol="0" anchor="t"/>
          <a:lstStyle/>
          <a:p>
            <a:pPr marL="0" indent="0">
              <a:lnSpc>
                <a:spcPts val="1575"/>
              </a:lnSpc>
              <a:buNone/>
            </a:pPr>
            <a:r>
              <a:rPr lang="en-US" sz="1050" dirty="0">
                <a:solidFill>
                  <a:srgbClr val="FFFFFF"/>
                </a:solidFill>
                <a:latin typeface="Courier New" pitchFamily="34" charset="0"/>
                <a:ea typeface="Courier New" pitchFamily="34" charset="-122"/>
                <a:cs typeface="Courier New" pitchFamily="34" charset="-120"/>
              </a:rPr>
              <a:t>metrics.calculate();</a:t>
            </a:r>
            <a:endParaRPr lang="en-US" sz="1050" dirty="0"/>
          </a:p>
        </p:txBody>
      </p:sp>
      <p:sp>
        <p:nvSpPr>
          <p:cNvPr id="17" name="Text 4"/>
          <p:cNvSpPr/>
          <p:nvPr/>
        </p:nvSpPr>
        <p:spPr>
          <a:xfrm>
            <a:off x="609600" y="1066800"/>
            <a:ext cx="10972800" cy="914400"/>
          </a:xfrm>
          <a:prstGeom prst="rect">
            <a:avLst/>
          </a:prstGeom>
          <a:noFill/>
          <a:ln/>
        </p:spPr>
        <p:txBody>
          <a:bodyPr vert="horz" wrap="square" lIns="0" tIns="0" rIns="0" bIns="0" rtlCol="0" anchor="t"/>
          <a:lstStyle/>
          <a:p>
            <a:pPr marL="0" indent="0">
              <a:lnSpc>
                <a:spcPts val="3600"/>
              </a:lnSpc>
              <a:buNone/>
            </a:pPr>
            <a:r>
              <a:rPr lang="en-US" sz="3600" b="1" dirty="0">
                <a:solidFill>
                  <a:srgbClr val="FF6600"/>
                </a:solidFill>
                <a:latin typeface="Montserrat" pitchFamily="34" charset="0"/>
                <a:ea typeface="Montserrat" pitchFamily="34" charset="-122"/>
                <a:cs typeface="Montserrat" pitchFamily="34" charset="-120"/>
              </a:rPr>
              <a:t>Estándares</a:t>
            </a:r>
            <a:r>
              <a:rPr lang="en-US" sz="3600" b="1" dirty="0">
                <a:solidFill>
                  <a:srgbClr val="FFFFFF"/>
                </a:solidFill>
                <a:latin typeface="Montserrat" pitchFamily="34" charset="0"/>
                <a:ea typeface="Montserrat" pitchFamily="34" charset="-122"/>
                <a:cs typeface="Montserrat" pitchFamily="34" charset="-120"/>
              </a:rPr>
              <a:t> para la </a:t>
            </a:r>
            <a:r>
              <a:rPr lang="en-US" sz="3600" b="1" dirty="0">
                <a:solidFill>
                  <a:srgbClr val="00CC99"/>
                </a:solidFill>
                <a:latin typeface="Montserrat" pitchFamily="34" charset="0"/>
                <a:ea typeface="Montserrat" pitchFamily="34" charset="-122"/>
                <a:cs typeface="Montserrat" pitchFamily="34" charset="-120"/>
              </a:rPr>
              <a:t>Calidad</a:t>
            </a:r>
            <a:r>
              <a:rPr lang="en-US" sz="3600" b="1" dirty="0">
                <a:solidFill>
                  <a:srgbClr val="FFFFFF"/>
                </a:solidFill>
                <a:latin typeface="Montserrat" pitchFamily="34" charset="0"/>
                <a:ea typeface="Montserrat" pitchFamily="34" charset="-122"/>
                <a:cs typeface="Montserrat" pitchFamily="34" charset="-120"/>
              </a:rPr>
              <a:t> del Producto de Software</a:t>
            </a:r>
            <a:endParaRPr lang="en-US" sz="3600" dirty="0"/>
          </a:p>
        </p:txBody>
      </p:sp>
      <p:sp>
        <p:nvSpPr>
          <p:cNvPr id="18" name="Text 5"/>
          <p:cNvSpPr/>
          <p:nvPr/>
        </p:nvSpPr>
        <p:spPr>
          <a:xfrm>
            <a:off x="609600" y="2209800"/>
            <a:ext cx="13167360" cy="342900"/>
          </a:xfrm>
          <a:prstGeom prst="rect">
            <a:avLst/>
          </a:prstGeom>
          <a:noFill/>
          <a:ln/>
        </p:spPr>
        <p:txBody>
          <a:bodyPr vert="horz" wrap="square" lIns="0" tIns="0" rIns="0" bIns="0" rtlCol="0" anchor="t"/>
          <a:lstStyle/>
          <a:p>
            <a:pPr marL="0" indent="0">
              <a:lnSpc>
                <a:spcPts val="2700"/>
              </a:lnSpc>
              <a:buNone/>
            </a:pPr>
            <a:r>
              <a:rPr lang="en-US" sz="2250" dirty="0">
                <a:solidFill>
                  <a:srgbClr val="FFFFFF"/>
                </a:solidFill>
                <a:latin typeface="Montserrat" pitchFamily="34" charset="0"/>
                <a:ea typeface="Montserrat" pitchFamily="34" charset="-122"/>
                <a:cs typeface="Montserrat" pitchFamily="34" charset="-120"/>
              </a:rPr>
              <a:t>Un Enfoque Práctico con ISO/IEC 9126 y CISQ</a:t>
            </a:r>
            <a:endParaRPr lang="en-US" sz="2250" dirty="0"/>
          </a:p>
        </p:txBody>
      </p:sp>
      <p:sp>
        <p:nvSpPr>
          <p:cNvPr id="19" name="Text 6"/>
          <p:cNvSpPr/>
          <p:nvPr/>
        </p:nvSpPr>
        <p:spPr>
          <a:xfrm>
            <a:off x="857250" y="5638800"/>
            <a:ext cx="4857750" cy="266700"/>
          </a:xfrm>
          <a:prstGeom prst="rect">
            <a:avLst/>
          </a:prstGeom>
          <a:noFill/>
          <a:ln/>
        </p:spPr>
        <p:txBody>
          <a:bodyPr vert="horz" wrap="square" lIns="0" tIns="0" rIns="0" bIns="0" rtlCol="0" anchor="t"/>
          <a:lstStyle/>
          <a:p>
            <a:pPr marL="0" indent="0">
              <a:lnSpc>
                <a:spcPts val="2100"/>
              </a:lnSpc>
              <a:buNone/>
            </a:pPr>
            <a:r>
              <a:rPr lang="en-US" sz="1500" dirty="0">
                <a:solidFill>
                  <a:srgbClr val="FFFFFF"/>
                </a:solidFill>
                <a:latin typeface="Open Sans" pitchFamily="34" charset="0"/>
                <a:ea typeface="Open Sans" pitchFamily="34" charset="-122"/>
                <a:cs typeface="Open Sans" pitchFamily="34" charset="-120"/>
              </a:rPr>
              <a:t> </a:t>
            </a:r>
            <a:r>
              <a:rPr lang="en-US" sz="1500" dirty="0" err="1">
                <a:solidFill>
                  <a:srgbClr val="FFFFFF"/>
                </a:solidFill>
                <a:latin typeface="Open Sans" pitchFamily="34" charset="0"/>
                <a:ea typeface="Open Sans" pitchFamily="34" charset="-122"/>
                <a:cs typeface="Open Sans" pitchFamily="34" charset="-120"/>
              </a:rPr>
              <a:t>Docente</a:t>
            </a:r>
            <a:r>
              <a:rPr lang="en-US" sz="1500" dirty="0">
                <a:solidFill>
                  <a:srgbClr val="FFFFFF"/>
                </a:solidFill>
                <a:latin typeface="Open Sans" pitchFamily="34" charset="0"/>
                <a:ea typeface="Open Sans" pitchFamily="34" charset="-122"/>
                <a:cs typeface="Open Sans" pitchFamily="34" charset="-120"/>
              </a:rPr>
              <a:t>: </a:t>
            </a:r>
            <a:r>
              <a:rPr lang="en-US" sz="1500" b="1" dirty="0">
                <a:solidFill>
                  <a:srgbClr val="FFFFFF"/>
                </a:solidFill>
                <a:latin typeface="Open Sans" pitchFamily="34" charset="0"/>
                <a:ea typeface="Open Sans" pitchFamily="34" charset="-122"/>
                <a:cs typeface="Open Sans" pitchFamily="34" charset="-120"/>
              </a:rPr>
              <a:t>Diego Gamboa</a:t>
            </a:r>
            <a:endParaRPr lang="en-US" sz="1500" dirty="0"/>
          </a:p>
        </p:txBody>
      </p:sp>
      <p:sp>
        <p:nvSpPr>
          <p:cNvPr id="20" name="Text 7"/>
          <p:cNvSpPr/>
          <p:nvPr/>
        </p:nvSpPr>
        <p:spPr>
          <a:xfrm>
            <a:off x="857250" y="5981700"/>
            <a:ext cx="4857750" cy="266700"/>
          </a:xfrm>
          <a:prstGeom prst="rect">
            <a:avLst/>
          </a:prstGeom>
          <a:noFill/>
          <a:ln/>
        </p:spPr>
        <p:txBody>
          <a:bodyPr vert="horz" wrap="square" lIns="0" tIns="0" rIns="0" bIns="0" rtlCol="0" anchor="t"/>
          <a:lstStyle/>
          <a:p>
            <a:pPr marL="0" indent="0">
              <a:lnSpc>
                <a:spcPts val="2100"/>
              </a:lnSpc>
              <a:buNone/>
            </a:pPr>
            <a:r>
              <a:rPr lang="en-US" sz="1500" dirty="0">
                <a:solidFill>
                  <a:srgbClr val="FFFFFF"/>
                </a:solidFill>
                <a:latin typeface="Open Sans" pitchFamily="34" charset="0"/>
                <a:ea typeface="Open Sans" pitchFamily="34" charset="-122"/>
                <a:cs typeface="Open Sans" pitchFamily="34" charset="-120"/>
              </a:rPr>
              <a:t> Fecha: </a:t>
            </a:r>
            <a:r>
              <a:rPr lang="en-US" sz="1500" b="1" dirty="0">
                <a:solidFill>
                  <a:srgbClr val="FFFFFF"/>
                </a:solidFill>
                <a:latin typeface="Open Sans" pitchFamily="34" charset="0"/>
                <a:ea typeface="Open Sans" pitchFamily="34" charset="-122"/>
                <a:cs typeface="Open Sans" pitchFamily="34" charset="-120"/>
              </a:rPr>
              <a:t>24 de Noviembre de 2025</a:t>
            </a:r>
            <a:endParaRPr lang="en-US" sz="1500" dirty="0"/>
          </a:p>
        </p:txBody>
      </p:sp>
      <p:sp>
        <p:nvSpPr>
          <p:cNvPr id="21" name="Text 8"/>
          <p:cNvSpPr/>
          <p:nvPr/>
        </p:nvSpPr>
        <p:spPr>
          <a:xfrm>
            <a:off x="8542020" y="5715000"/>
            <a:ext cx="3040380" cy="266700"/>
          </a:xfrm>
          <a:prstGeom prst="rect">
            <a:avLst/>
          </a:prstGeom>
          <a:noFill/>
          <a:ln/>
        </p:spPr>
        <p:txBody>
          <a:bodyPr vert="horz" wrap="square" lIns="0" tIns="0" rIns="0" bIns="0" rtlCol="0" anchor="t"/>
          <a:lstStyle/>
          <a:p>
            <a:pPr marL="0" indent="0" algn="r">
              <a:lnSpc>
                <a:spcPts val="2100"/>
              </a:lnSpc>
              <a:buNone/>
            </a:pPr>
            <a:r>
              <a:rPr lang="en-US" sz="1350" dirty="0">
                <a:solidFill>
                  <a:srgbClr val="FFFFFF"/>
                </a:solidFill>
                <a:latin typeface="Open Sans" pitchFamily="34" charset="0"/>
                <a:ea typeface="Open Sans" pitchFamily="34" charset="-122"/>
                <a:cs typeface="Open Sans" pitchFamily="34" charset="-120"/>
              </a:rPr>
              <a:t>Informe de Calidad de Software</a:t>
            </a:r>
            <a:endParaRPr lang="en-US" sz="1350" dirty="0"/>
          </a:p>
        </p:txBody>
      </p:sp>
      <p:sp>
        <p:nvSpPr>
          <p:cNvPr id="22" name="Text 9"/>
          <p:cNvSpPr/>
          <p:nvPr/>
        </p:nvSpPr>
        <p:spPr>
          <a:xfrm>
            <a:off x="9048750" y="5981700"/>
            <a:ext cx="2533650" cy="266700"/>
          </a:xfrm>
          <a:prstGeom prst="rect">
            <a:avLst/>
          </a:prstGeom>
          <a:noFill/>
          <a:ln/>
        </p:spPr>
        <p:txBody>
          <a:bodyPr vert="horz" wrap="square" lIns="0" tIns="0" rIns="0" bIns="0" rtlCol="0" anchor="t"/>
          <a:lstStyle/>
          <a:p>
            <a:pPr marL="0" indent="0" algn="r">
              <a:lnSpc>
                <a:spcPts val="2100"/>
              </a:lnSpc>
              <a:buNone/>
            </a:pPr>
            <a:r>
              <a:rPr lang="en-US" sz="1350" dirty="0">
                <a:solidFill>
                  <a:srgbClr val="FFFFFF"/>
                </a:solidFill>
                <a:latin typeface="Open Sans" pitchFamily="34" charset="0"/>
                <a:ea typeface="Open Sans" pitchFamily="34" charset="-122"/>
                <a:cs typeface="Open Sans" pitchFamily="34" charset="-120"/>
              </a:rPr>
              <a:t>Página 1</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914400"/>
            <a:ext cx="914400" cy="38100"/>
          </a:xfrm>
          <a:prstGeom prst="rect">
            <a:avLst/>
          </a:prstGeom>
        </p:spPr>
      </p:pic>
      <p:pic>
        <p:nvPicPr>
          <p:cNvPr id="4" name="Image 2" descr="preencoded.png"/>
          <p:cNvPicPr>
            <a:picLocks noChangeAspect="1"/>
          </p:cNvPicPr>
          <p:nvPr/>
        </p:nvPicPr>
        <p:blipFill>
          <a:blip r:embed="rId5"/>
          <a:stretch>
            <a:fillRect/>
          </a:stretch>
        </p:blipFill>
        <p:spPr>
          <a:xfrm>
            <a:off x="457200" y="1276350"/>
            <a:ext cx="457200" cy="457200"/>
          </a:xfrm>
          <a:prstGeom prst="rect">
            <a:avLst/>
          </a:prstGeom>
        </p:spPr>
      </p:pic>
      <p:pic>
        <p:nvPicPr>
          <p:cNvPr id="5" name="Image 3" descr="preencoded.png"/>
          <p:cNvPicPr>
            <a:picLocks noChangeAspect="1"/>
          </p:cNvPicPr>
          <p:nvPr/>
        </p:nvPicPr>
        <p:blipFill>
          <a:blip r:embed="rId6"/>
          <a:stretch>
            <a:fillRect/>
          </a:stretch>
        </p:blipFill>
        <p:spPr>
          <a:xfrm>
            <a:off x="590550" y="1371600"/>
            <a:ext cx="190500" cy="266700"/>
          </a:xfrm>
          <a:prstGeom prst="rect">
            <a:avLst/>
          </a:prstGeom>
        </p:spPr>
      </p:pic>
      <p:pic>
        <p:nvPicPr>
          <p:cNvPr id="6" name="Image 4" descr="preencoded.png"/>
          <p:cNvPicPr>
            <a:picLocks noChangeAspect="1"/>
          </p:cNvPicPr>
          <p:nvPr/>
        </p:nvPicPr>
        <p:blipFill>
          <a:blip r:embed="rId7"/>
          <a:stretch>
            <a:fillRect/>
          </a:stretch>
        </p:blipFill>
        <p:spPr>
          <a:xfrm>
            <a:off x="457200" y="2000250"/>
            <a:ext cx="457200" cy="457200"/>
          </a:xfrm>
          <a:prstGeom prst="rect">
            <a:avLst/>
          </a:prstGeom>
        </p:spPr>
      </p:pic>
      <p:pic>
        <p:nvPicPr>
          <p:cNvPr id="7" name="Image 5" descr="preencoded.png"/>
          <p:cNvPicPr>
            <a:picLocks noChangeAspect="1"/>
          </p:cNvPicPr>
          <p:nvPr/>
        </p:nvPicPr>
        <p:blipFill>
          <a:blip r:embed="rId8"/>
          <a:stretch>
            <a:fillRect/>
          </a:stretch>
        </p:blipFill>
        <p:spPr>
          <a:xfrm>
            <a:off x="600075" y="2095500"/>
            <a:ext cx="171450" cy="266700"/>
          </a:xfrm>
          <a:prstGeom prst="rect">
            <a:avLst/>
          </a:prstGeom>
        </p:spPr>
      </p:pic>
      <p:pic>
        <p:nvPicPr>
          <p:cNvPr id="8" name="Image 6" descr="preencoded.png"/>
          <p:cNvPicPr>
            <a:picLocks noChangeAspect="1"/>
          </p:cNvPicPr>
          <p:nvPr/>
        </p:nvPicPr>
        <p:blipFill>
          <a:blip r:embed="rId9"/>
          <a:stretch>
            <a:fillRect/>
          </a:stretch>
        </p:blipFill>
        <p:spPr>
          <a:xfrm>
            <a:off x="457200" y="2724150"/>
            <a:ext cx="457200" cy="457200"/>
          </a:xfrm>
          <a:prstGeom prst="rect">
            <a:avLst/>
          </a:prstGeom>
        </p:spPr>
      </p:pic>
      <p:pic>
        <p:nvPicPr>
          <p:cNvPr id="9" name="Image 7" descr="preencoded.png"/>
          <p:cNvPicPr>
            <a:picLocks noChangeAspect="1"/>
          </p:cNvPicPr>
          <p:nvPr/>
        </p:nvPicPr>
        <p:blipFill>
          <a:blip r:embed="rId10"/>
          <a:stretch>
            <a:fillRect/>
          </a:stretch>
        </p:blipFill>
        <p:spPr>
          <a:xfrm>
            <a:off x="590550" y="2819400"/>
            <a:ext cx="190500" cy="266700"/>
          </a:xfrm>
          <a:prstGeom prst="rect">
            <a:avLst/>
          </a:prstGeom>
        </p:spPr>
      </p:pic>
      <p:pic>
        <p:nvPicPr>
          <p:cNvPr id="10" name="Image 8" descr="preencoded.png"/>
          <p:cNvPicPr>
            <a:picLocks noChangeAspect="1"/>
          </p:cNvPicPr>
          <p:nvPr/>
        </p:nvPicPr>
        <p:blipFill>
          <a:blip r:embed="rId11"/>
          <a:stretch>
            <a:fillRect/>
          </a:stretch>
        </p:blipFill>
        <p:spPr>
          <a:xfrm>
            <a:off x="6096000" y="1257300"/>
            <a:ext cx="5638800" cy="4648200"/>
          </a:xfrm>
          <a:prstGeom prst="rect">
            <a:avLst/>
          </a:prstGeom>
        </p:spPr>
      </p:pic>
      <p:pic>
        <p:nvPicPr>
          <p:cNvPr id="11" name="Image 9" descr="preencoded.png"/>
          <p:cNvPicPr>
            <a:picLocks noChangeAspect="1"/>
          </p:cNvPicPr>
          <p:nvPr/>
        </p:nvPicPr>
        <p:blipFill>
          <a:blip r:embed="rId12"/>
          <a:stretch>
            <a:fillRect/>
          </a:stretch>
        </p:blipFill>
        <p:spPr>
          <a:xfrm>
            <a:off x="6400800" y="1276350"/>
            <a:ext cx="457200" cy="457200"/>
          </a:xfrm>
          <a:prstGeom prst="rect">
            <a:avLst/>
          </a:prstGeom>
        </p:spPr>
      </p:pic>
      <p:pic>
        <p:nvPicPr>
          <p:cNvPr id="12" name="Image 10" descr="preencoded.png"/>
          <p:cNvPicPr>
            <a:picLocks noChangeAspect="1"/>
          </p:cNvPicPr>
          <p:nvPr/>
        </p:nvPicPr>
        <p:blipFill>
          <a:blip r:embed="rId13"/>
          <a:stretch>
            <a:fillRect/>
          </a:stretch>
        </p:blipFill>
        <p:spPr>
          <a:xfrm>
            <a:off x="6534150" y="1371600"/>
            <a:ext cx="190500" cy="266700"/>
          </a:xfrm>
          <a:prstGeom prst="rect">
            <a:avLst/>
          </a:prstGeom>
        </p:spPr>
      </p:pic>
      <p:pic>
        <p:nvPicPr>
          <p:cNvPr id="13" name="Image 11" descr="preencoded.png"/>
          <p:cNvPicPr>
            <a:picLocks noChangeAspect="1"/>
          </p:cNvPicPr>
          <p:nvPr/>
        </p:nvPicPr>
        <p:blipFill>
          <a:blip r:embed="rId14"/>
          <a:stretch>
            <a:fillRect/>
          </a:stretch>
        </p:blipFill>
        <p:spPr>
          <a:xfrm>
            <a:off x="6400800" y="2000250"/>
            <a:ext cx="457200" cy="457200"/>
          </a:xfrm>
          <a:prstGeom prst="rect">
            <a:avLst/>
          </a:prstGeom>
        </p:spPr>
      </p:pic>
      <p:pic>
        <p:nvPicPr>
          <p:cNvPr id="14" name="Image 12" descr="preencoded.png"/>
          <p:cNvPicPr>
            <a:picLocks noChangeAspect="1"/>
          </p:cNvPicPr>
          <p:nvPr/>
        </p:nvPicPr>
        <p:blipFill>
          <a:blip r:embed="rId15"/>
          <a:stretch>
            <a:fillRect/>
          </a:stretch>
        </p:blipFill>
        <p:spPr>
          <a:xfrm>
            <a:off x="6510338" y="2095500"/>
            <a:ext cx="238125" cy="266700"/>
          </a:xfrm>
          <a:prstGeom prst="rect">
            <a:avLst/>
          </a:prstGeom>
        </p:spPr>
      </p:pic>
      <p:pic>
        <p:nvPicPr>
          <p:cNvPr id="15" name="Image 13" descr="preencoded.png"/>
          <p:cNvPicPr>
            <a:picLocks noChangeAspect="1"/>
          </p:cNvPicPr>
          <p:nvPr/>
        </p:nvPicPr>
        <p:blipFill>
          <a:blip r:embed="rId16"/>
          <a:stretch>
            <a:fillRect/>
          </a:stretch>
        </p:blipFill>
        <p:spPr>
          <a:xfrm>
            <a:off x="6400800" y="2724150"/>
            <a:ext cx="457200" cy="457200"/>
          </a:xfrm>
          <a:prstGeom prst="rect">
            <a:avLst/>
          </a:prstGeom>
        </p:spPr>
      </p:pic>
      <p:pic>
        <p:nvPicPr>
          <p:cNvPr id="16" name="Image 14" descr="preencoded.png"/>
          <p:cNvPicPr>
            <a:picLocks noChangeAspect="1"/>
          </p:cNvPicPr>
          <p:nvPr/>
        </p:nvPicPr>
        <p:blipFill>
          <a:blip r:embed="rId17"/>
          <a:stretch>
            <a:fillRect/>
          </a:stretch>
        </p:blipFill>
        <p:spPr>
          <a:xfrm>
            <a:off x="6557963" y="2819400"/>
            <a:ext cx="142875" cy="266700"/>
          </a:xfrm>
          <a:prstGeom prst="rect">
            <a:avLst/>
          </a:prstGeom>
        </p:spPr>
      </p:pic>
      <p:sp>
        <p:nvSpPr>
          <p:cNvPr id="17" name="Text 0"/>
          <p:cNvSpPr/>
          <p:nvPr/>
        </p:nvSpPr>
        <p:spPr>
          <a:xfrm>
            <a:off x="457200" y="457200"/>
            <a:ext cx="112776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97316"/>
                </a:solidFill>
                <a:latin typeface="ui-sans-serif" pitchFamily="34" charset="0"/>
                <a:ea typeface="ui-sans-serif" pitchFamily="34" charset="-122"/>
                <a:cs typeface="ui-sans-serif" pitchFamily="34" charset="-120"/>
              </a:rPr>
              <a:t>Agenda de la Presentación</a:t>
            </a:r>
            <a:endParaRPr lang="en-US" sz="2700" dirty="0"/>
          </a:p>
        </p:txBody>
      </p:sp>
      <p:sp>
        <p:nvSpPr>
          <p:cNvPr id="18" name="Text 1"/>
          <p:cNvSpPr/>
          <p:nvPr/>
        </p:nvSpPr>
        <p:spPr>
          <a:xfrm>
            <a:off x="1066800" y="1257300"/>
            <a:ext cx="3208437" cy="266700"/>
          </a:xfrm>
          <a:prstGeom prst="rect">
            <a:avLst/>
          </a:prstGeom>
          <a:noFill/>
          <a:ln/>
        </p:spPr>
        <p:txBody>
          <a:bodyPr vert="horz" wrap="square" lIns="0" tIns="0" rIns="0" bIns="0" rtlCol="0" anchor="t"/>
          <a:lstStyle/>
          <a:p>
            <a:pPr marL="0" indent="0">
              <a:lnSpc>
                <a:spcPts val="2100"/>
              </a:lnSpc>
              <a:buNone/>
            </a:pPr>
            <a:r>
              <a:rPr lang="en-US" sz="1500" b="1" dirty="0">
                <a:solidFill>
                  <a:srgbClr val="C084FC"/>
                </a:solidFill>
                <a:latin typeface="ui-sans-serif" pitchFamily="34" charset="0"/>
                <a:ea typeface="ui-sans-serif" pitchFamily="34" charset="-122"/>
                <a:cs typeface="ui-sans-serif" pitchFamily="34" charset="-120"/>
              </a:rPr>
              <a:t>Introducción a la Calidad</a:t>
            </a:r>
            <a:endParaRPr lang="en-US" sz="1500" dirty="0"/>
          </a:p>
        </p:txBody>
      </p:sp>
      <p:sp>
        <p:nvSpPr>
          <p:cNvPr id="19" name="Text 2"/>
          <p:cNvSpPr/>
          <p:nvPr/>
        </p:nvSpPr>
        <p:spPr>
          <a:xfrm>
            <a:off x="1066800" y="1524000"/>
            <a:ext cx="3208437" cy="2286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Importancia y conceptos básicos</a:t>
            </a:r>
            <a:endParaRPr lang="en-US" sz="1200" dirty="0"/>
          </a:p>
        </p:txBody>
      </p:sp>
      <p:sp>
        <p:nvSpPr>
          <p:cNvPr id="20" name="Text 3"/>
          <p:cNvSpPr/>
          <p:nvPr/>
        </p:nvSpPr>
        <p:spPr>
          <a:xfrm>
            <a:off x="1066800" y="1981200"/>
            <a:ext cx="4137660" cy="266700"/>
          </a:xfrm>
          <a:prstGeom prst="rect">
            <a:avLst/>
          </a:prstGeom>
          <a:noFill/>
          <a:ln/>
        </p:spPr>
        <p:txBody>
          <a:bodyPr vert="horz" wrap="square" lIns="0" tIns="0" rIns="0" bIns="0" rtlCol="0" anchor="t"/>
          <a:lstStyle/>
          <a:p>
            <a:pPr marL="0" indent="0">
              <a:lnSpc>
                <a:spcPts val="2100"/>
              </a:lnSpc>
              <a:buNone/>
            </a:pPr>
            <a:r>
              <a:rPr lang="en-US" sz="1500" b="1" dirty="0">
                <a:solidFill>
                  <a:srgbClr val="FB923C"/>
                </a:solidFill>
                <a:latin typeface="ui-sans-serif" pitchFamily="34" charset="0"/>
                <a:ea typeface="ui-sans-serif" pitchFamily="34" charset="-122"/>
                <a:cs typeface="ui-sans-serif" pitchFamily="34" charset="-120"/>
              </a:rPr>
              <a:t>Estándar ISO/IEC 9126</a:t>
            </a:r>
            <a:endParaRPr lang="en-US" sz="1500" dirty="0"/>
          </a:p>
        </p:txBody>
      </p:sp>
      <p:sp>
        <p:nvSpPr>
          <p:cNvPr id="21" name="Text 4"/>
          <p:cNvSpPr/>
          <p:nvPr/>
        </p:nvSpPr>
        <p:spPr>
          <a:xfrm>
            <a:off x="1066800" y="2247900"/>
            <a:ext cx="4137660" cy="2286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Modelo de calidad, características y métricas</a:t>
            </a:r>
            <a:endParaRPr lang="en-US" sz="1200" dirty="0"/>
          </a:p>
        </p:txBody>
      </p:sp>
      <p:sp>
        <p:nvSpPr>
          <p:cNvPr id="22" name="Text 5"/>
          <p:cNvSpPr/>
          <p:nvPr/>
        </p:nvSpPr>
        <p:spPr>
          <a:xfrm>
            <a:off x="1066800" y="2705100"/>
            <a:ext cx="4223147" cy="266700"/>
          </a:xfrm>
          <a:prstGeom prst="rect">
            <a:avLst/>
          </a:prstGeom>
          <a:noFill/>
          <a:ln/>
        </p:spPr>
        <p:txBody>
          <a:bodyPr vert="horz" wrap="square" lIns="0" tIns="0" rIns="0" bIns="0" rtlCol="0" anchor="t"/>
          <a:lstStyle/>
          <a:p>
            <a:pPr marL="0" indent="0">
              <a:lnSpc>
                <a:spcPts val="2100"/>
              </a:lnSpc>
              <a:buNone/>
            </a:pPr>
            <a:r>
              <a:rPr lang="en-US" sz="1500" b="1" dirty="0">
                <a:solidFill>
                  <a:srgbClr val="4ADE80"/>
                </a:solidFill>
                <a:latin typeface="ui-sans-serif" pitchFamily="34" charset="0"/>
                <a:ea typeface="ui-sans-serif" pitchFamily="34" charset="-122"/>
                <a:cs typeface="ui-sans-serif" pitchFamily="34" charset="-120"/>
              </a:rPr>
              <a:t>Estándares CISQ</a:t>
            </a:r>
            <a:endParaRPr lang="en-US" sz="1500" dirty="0"/>
          </a:p>
        </p:txBody>
      </p:sp>
      <p:sp>
        <p:nvSpPr>
          <p:cNvPr id="23" name="Text 6"/>
          <p:cNvSpPr/>
          <p:nvPr/>
        </p:nvSpPr>
        <p:spPr>
          <a:xfrm>
            <a:off x="1066800" y="2971800"/>
            <a:ext cx="5067776" cy="2286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Características de calidad y medición de deuda técnica</a:t>
            </a:r>
            <a:endParaRPr lang="en-US" sz="1200" dirty="0"/>
          </a:p>
        </p:txBody>
      </p:sp>
      <p:sp>
        <p:nvSpPr>
          <p:cNvPr id="24" name="Text 7"/>
          <p:cNvSpPr/>
          <p:nvPr/>
        </p:nvSpPr>
        <p:spPr>
          <a:xfrm>
            <a:off x="7010400" y="1257300"/>
            <a:ext cx="5031165" cy="266700"/>
          </a:xfrm>
          <a:prstGeom prst="rect">
            <a:avLst/>
          </a:prstGeom>
          <a:noFill/>
          <a:ln/>
        </p:spPr>
        <p:txBody>
          <a:bodyPr vert="horz" wrap="square" lIns="0" tIns="0" rIns="0" bIns="0" rtlCol="0" anchor="t"/>
          <a:lstStyle/>
          <a:p>
            <a:pPr marL="0" indent="0">
              <a:lnSpc>
                <a:spcPts val="2100"/>
              </a:lnSpc>
              <a:buNone/>
            </a:pPr>
            <a:r>
              <a:rPr lang="en-US" sz="1500" b="1" dirty="0">
                <a:solidFill>
                  <a:srgbClr val="60A5FA"/>
                </a:solidFill>
                <a:latin typeface="ui-sans-serif" pitchFamily="34" charset="0"/>
                <a:ea typeface="ui-sans-serif" pitchFamily="34" charset="-122"/>
                <a:cs typeface="ui-sans-serif" pitchFamily="34" charset="-120"/>
              </a:rPr>
              <a:t>Ejemplos y Casos Reales</a:t>
            </a:r>
            <a:endParaRPr lang="en-US" sz="1500" dirty="0"/>
          </a:p>
        </p:txBody>
      </p:sp>
      <p:sp>
        <p:nvSpPr>
          <p:cNvPr id="25" name="Text 8"/>
          <p:cNvSpPr/>
          <p:nvPr/>
        </p:nvSpPr>
        <p:spPr>
          <a:xfrm>
            <a:off x="7010400" y="1524000"/>
            <a:ext cx="5031165" cy="2286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Aplicaciones prácticas en empresas y estudios de caso</a:t>
            </a:r>
            <a:endParaRPr lang="en-US" sz="1200" dirty="0"/>
          </a:p>
        </p:txBody>
      </p:sp>
      <p:sp>
        <p:nvSpPr>
          <p:cNvPr id="26" name="Text 9"/>
          <p:cNvSpPr/>
          <p:nvPr/>
        </p:nvSpPr>
        <p:spPr>
          <a:xfrm>
            <a:off x="7010400" y="1981200"/>
            <a:ext cx="4431804" cy="266700"/>
          </a:xfrm>
          <a:prstGeom prst="rect">
            <a:avLst/>
          </a:prstGeom>
          <a:noFill/>
          <a:ln/>
        </p:spPr>
        <p:txBody>
          <a:bodyPr vert="horz" wrap="square" lIns="0" tIns="0" rIns="0" bIns="0" rtlCol="0" anchor="t"/>
          <a:lstStyle/>
          <a:p>
            <a:pPr marL="0" indent="0">
              <a:lnSpc>
                <a:spcPts val="2100"/>
              </a:lnSpc>
              <a:buNone/>
            </a:pPr>
            <a:r>
              <a:rPr lang="en-US" sz="1500" b="1" dirty="0">
                <a:solidFill>
                  <a:srgbClr val="F87171"/>
                </a:solidFill>
                <a:latin typeface="ui-sans-serif" pitchFamily="34" charset="0"/>
                <a:ea typeface="ui-sans-serif" pitchFamily="34" charset="-122"/>
                <a:cs typeface="ui-sans-serif" pitchFamily="34" charset="-120"/>
              </a:rPr>
              <a:t>Actividades Prácticas</a:t>
            </a:r>
            <a:endParaRPr lang="en-US" sz="1500" dirty="0"/>
          </a:p>
        </p:txBody>
      </p:sp>
      <p:sp>
        <p:nvSpPr>
          <p:cNvPr id="27" name="Text 10"/>
          <p:cNvSpPr/>
          <p:nvPr/>
        </p:nvSpPr>
        <p:spPr>
          <a:xfrm>
            <a:off x="7010400" y="2247900"/>
            <a:ext cx="4431804" cy="2286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Ejercicio para docentes y taller para estudiantes</a:t>
            </a:r>
            <a:endParaRPr lang="en-US" sz="1200" dirty="0"/>
          </a:p>
        </p:txBody>
      </p:sp>
      <p:sp>
        <p:nvSpPr>
          <p:cNvPr id="28" name="Text 11"/>
          <p:cNvSpPr/>
          <p:nvPr/>
        </p:nvSpPr>
        <p:spPr>
          <a:xfrm>
            <a:off x="7010400" y="2705100"/>
            <a:ext cx="2000429" cy="266700"/>
          </a:xfrm>
          <a:prstGeom prst="rect">
            <a:avLst/>
          </a:prstGeom>
          <a:noFill/>
          <a:ln/>
        </p:spPr>
        <p:txBody>
          <a:bodyPr vert="horz" wrap="square" lIns="0" tIns="0" rIns="0" bIns="0" rtlCol="0" anchor="t"/>
          <a:lstStyle/>
          <a:p>
            <a:pPr marL="0" indent="0">
              <a:lnSpc>
                <a:spcPts val="2100"/>
              </a:lnSpc>
              <a:buNone/>
            </a:pPr>
            <a:r>
              <a:rPr lang="en-US" sz="1500" b="1" dirty="0">
                <a:solidFill>
                  <a:srgbClr val="FACC15"/>
                </a:solidFill>
                <a:latin typeface="ui-sans-serif" pitchFamily="34" charset="0"/>
                <a:ea typeface="ui-sans-serif" pitchFamily="34" charset="-122"/>
                <a:cs typeface="ui-sans-serif" pitchFamily="34" charset="-120"/>
              </a:rPr>
              <a:t>Conclusiones</a:t>
            </a:r>
            <a:endParaRPr lang="en-US" sz="1500" dirty="0"/>
          </a:p>
        </p:txBody>
      </p:sp>
      <p:sp>
        <p:nvSpPr>
          <p:cNvPr id="29" name="Text 12"/>
          <p:cNvSpPr/>
          <p:nvPr/>
        </p:nvSpPr>
        <p:spPr>
          <a:xfrm>
            <a:off x="7010400" y="2971800"/>
            <a:ext cx="2000429" cy="2286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Resumen y preguntas</a:t>
            </a:r>
            <a:endParaRPr lang="en-US" sz="1200" dirty="0"/>
          </a:p>
        </p:txBody>
      </p:sp>
      <p:sp>
        <p:nvSpPr>
          <p:cNvPr id="30" name="Text 13"/>
          <p:cNvSpPr/>
          <p:nvPr/>
        </p:nvSpPr>
        <p:spPr>
          <a:xfrm>
            <a:off x="457200" y="6210300"/>
            <a:ext cx="2087761"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24 de Noviembre de 2025</a:t>
            </a:r>
            <a:endParaRPr lang="en-US" sz="1050" dirty="0"/>
          </a:p>
        </p:txBody>
      </p:sp>
      <p:sp>
        <p:nvSpPr>
          <p:cNvPr id="31" name="Text 14"/>
          <p:cNvSpPr/>
          <p:nvPr/>
        </p:nvSpPr>
        <p:spPr>
          <a:xfrm>
            <a:off x="10742265" y="6210300"/>
            <a:ext cx="1191042"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Página 2 de 25</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914400"/>
            <a:ext cx="914400" cy="38100"/>
          </a:xfrm>
          <a:prstGeom prst="rect">
            <a:avLst/>
          </a:prstGeom>
        </p:spPr>
      </p:pic>
      <p:pic>
        <p:nvPicPr>
          <p:cNvPr id="4" name="Image 2" descr="preencoded.png"/>
          <p:cNvPicPr>
            <a:picLocks noChangeAspect="1"/>
          </p:cNvPicPr>
          <p:nvPr/>
        </p:nvPicPr>
        <p:blipFill>
          <a:blip r:embed="rId5"/>
          <a:stretch>
            <a:fillRect/>
          </a:stretch>
        </p:blipFill>
        <p:spPr>
          <a:xfrm>
            <a:off x="457200" y="2747963"/>
            <a:ext cx="5524500" cy="1181100"/>
          </a:xfrm>
          <a:prstGeom prst="rect">
            <a:avLst/>
          </a:prstGeom>
        </p:spPr>
      </p:pic>
      <p:pic>
        <p:nvPicPr>
          <p:cNvPr id="5" name="Image 3" descr="preencoded.png"/>
          <p:cNvPicPr>
            <a:picLocks noChangeAspect="1"/>
          </p:cNvPicPr>
          <p:nvPr/>
        </p:nvPicPr>
        <p:blipFill>
          <a:blip r:embed="rId6"/>
          <a:stretch>
            <a:fillRect/>
          </a:stretch>
        </p:blipFill>
        <p:spPr>
          <a:xfrm>
            <a:off x="647700" y="2938463"/>
            <a:ext cx="457200" cy="457200"/>
          </a:xfrm>
          <a:prstGeom prst="rect">
            <a:avLst/>
          </a:prstGeom>
        </p:spPr>
      </p:pic>
      <p:pic>
        <p:nvPicPr>
          <p:cNvPr id="6" name="Image 4" descr="preencoded.png"/>
          <p:cNvPicPr>
            <a:picLocks noChangeAspect="1"/>
          </p:cNvPicPr>
          <p:nvPr/>
        </p:nvPicPr>
        <p:blipFill>
          <a:blip r:embed="rId7"/>
          <a:stretch>
            <a:fillRect/>
          </a:stretch>
        </p:blipFill>
        <p:spPr>
          <a:xfrm>
            <a:off x="781050" y="3033713"/>
            <a:ext cx="190500" cy="266700"/>
          </a:xfrm>
          <a:prstGeom prst="rect">
            <a:avLst/>
          </a:prstGeom>
        </p:spPr>
      </p:pic>
      <p:pic>
        <p:nvPicPr>
          <p:cNvPr id="7" name="Image 5" descr="preencoded.png"/>
          <p:cNvPicPr>
            <a:picLocks noChangeAspect="1"/>
          </p:cNvPicPr>
          <p:nvPr/>
        </p:nvPicPr>
        <p:blipFill>
          <a:blip r:embed="rId5"/>
          <a:stretch>
            <a:fillRect/>
          </a:stretch>
        </p:blipFill>
        <p:spPr>
          <a:xfrm>
            <a:off x="6210300" y="2747963"/>
            <a:ext cx="5524500" cy="1181100"/>
          </a:xfrm>
          <a:prstGeom prst="rect">
            <a:avLst/>
          </a:prstGeom>
        </p:spPr>
      </p:pic>
      <p:pic>
        <p:nvPicPr>
          <p:cNvPr id="8" name="Image 6" descr="preencoded.png"/>
          <p:cNvPicPr>
            <a:picLocks noChangeAspect="1"/>
          </p:cNvPicPr>
          <p:nvPr/>
        </p:nvPicPr>
        <p:blipFill>
          <a:blip r:embed="rId8"/>
          <a:stretch>
            <a:fillRect/>
          </a:stretch>
        </p:blipFill>
        <p:spPr>
          <a:xfrm>
            <a:off x="6400800" y="2938463"/>
            <a:ext cx="457200" cy="457200"/>
          </a:xfrm>
          <a:prstGeom prst="rect">
            <a:avLst/>
          </a:prstGeom>
        </p:spPr>
      </p:pic>
      <p:pic>
        <p:nvPicPr>
          <p:cNvPr id="9" name="Image 7" descr="preencoded.png"/>
          <p:cNvPicPr>
            <a:picLocks noChangeAspect="1"/>
          </p:cNvPicPr>
          <p:nvPr/>
        </p:nvPicPr>
        <p:blipFill>
          <a:blip r:embed="rId9"/>
          <a:stretch>
            <a:fillRect/>
          </a:stretch>
        </p:blipFill>
        <p:spPr>
          <a:xfrm>
            <a:off x="6534150" y="3033713"/>
            <a:ext cx="190500" cy="266700"/>
          </a:xfrm>
          <a:prstGeom prst="rect">
            <a:avLst/>
          </a:prstGeom>
        </p:spPr>
      </p:pic>
      <p:pic>
        <p:nvPicPr>
          <p:cNvPr id="10" name="Image 8" descr="preencoded.png"/>
          <p:cNvPicPr>
            <a:picLocks noChangeAspect="1"/>
          </p:cNvPicPr>
          <p:nvPr/>
        </p:nvPicPr>
        <p:blipFill>
          <a:blip r:embed="rId5"/>
          <a:stretch>
            <a:fillRect/>
          </a:stretch>
        </p:blipFill>
        <p:spPr>
          <a:xfrm>
            <a:off x="457200" y="4157663"/>
            <a:ext cx="5524500" cy="1181100"/>
          </a:xfrm>
          <a:prstGeom prst="rect">
            <a:avLst/>
          </a:prstGeom>
        </p:spPr>
      </p:pic>
      <p:pic>
        <p:nvPicPr>
          <p:cNvPr id="11" name="Image 9" descr="preencoded.png"/>
          <p:cNvPicPr>
            <a:picLocks noChangeAspect="1"/>
          </p:cNvPicPr>
          <p:nvPr/>
        </p:nvPicPr>
        <p:blipFill>
          <a:blip r:embed="rId10"/>
          <a:stretch>
            <a:fillRect/>
          </a:stretch>
        </p:blipFill>
        <p:spPr>
          <a:xfrm>
            <a:off x="647700" y="4348163"/>
            <a:ext cx="457200" cy="457200"/>
          </a:xfrm>
          <a:prstGeom prst="rect">
            <a:avLst/>
          </a:prstGeom>
        </p:spPr>
      </p:pic>
      <p:pic>
        <p:nvPicPr>
          <p:cNvPr id="12" name="Image 10" descr="preencoded.png"/>
          <p:cNvPicPr>
            <a:picLocks noChangeAspect="1"/>
          </p:cNvPicPr>
          <p:nvPr/>
        </p:nvPicPr>
        <p:blipFill>
          <a:blip r:embed="rId11"/>
          <a:stretch>
            <a:fillRect/>
          </a:stretch>
        </p:blipFill>
        <p:spPr>
          <a:xfrm>
            <a:off x="781050" y="4443413"/>
            <a:ext cx="190500" cy="266700"/>
          </a:xfrm>
          <a:prstGeom prst="rect">
            <a:avLst/>
          </a:prstGeom>
        </p:spPr>
      </p:pic>
      <p:pic>
        <p:nvPicPr>
          <p:cNvPr id="13" name="Image 11" descr="preencoded.png"/>
          <p:cNvPicPr>
            <a:picLocks noChangeAspect="1"/>
          </p:cNvPicPr>
          <p:nvPr/>
        </p:nvPicPr>
        <p:blipFill>
          <a:blip r:embed="rId5"/>
          <a:stretch>
            <a:fillRect/>
          </a:stretch>
        </p:blipFill>
        <p:spPr>
          <a:xfrm>
            <a:off x="6210300" y="4157663"/>
            <a:ext cx="5524500" cy="1181100"/>
          </a:xfrm>
          <a:prstGeom prst="rect">
            <a:avLst/>
          </a:prstGeom>
        </p:spPr>
      </p:pic>
      <p:pic>
        <p:nvPicPr>
          <p:cNvPr id="14" name="Image 12" descr="preencoded.png"/>
          <p:cNvPicPr>
            <a:picLocks noChangeAspect="1"/>
          </p:cNvPicPr>
          <p:nvPr/>
        </p:nvPicPr>
        <p:blipFill>
          <a:blip r:embed="rId12"/>
          <a:stretch>
            <a:fillRect/>
          </a:stretch>
        </p:blipFill>
        <p:spPr>
          <a:xfrm>
            <a:off x="6400800" y="4348163"/>
            <a:ext cx="457200" cy="457200"/>
          </a:xfrm>
          <a:prstGeom prst="rect">
            <a:avLst/>
          </a:prstGeom>
        </p:spPr>
      </p:pic>
      <p:pic>
        <p:nvPicPr>
          <p:cNvPr id="15" name="Image 13" descr="preencoded.png"/>
          <p:cNvPicPr>
            <a:picLocks noChangeAspect="1"/>
          </p:cNvPicPr>
          <p:nvPr/>
        </p:nvPicPr>
        <p:blipFill>
          <a:blip r:embed="rId13"/>
          <a:stretch>
            <a:fillRect/>
          </a:stretch>
        </p:blipFill>
        <p:spPr>
          <a:xfrm>
            <a:off x="6510338" y="4443413"/>
            <a:ext cx="238125" cy="266700"/>
          </a:xfrm>
          <a:prstGeom prst="rect">
            <a:avLst/>
          </a:prstGeom>
        </p:spPr>
      </p:pic>
      <p:sp>
        <p:nvSpPr>
          <p:cNvPr id="16" name="Text 0"/>
          <p:cNvSpPr/>
          <p:nvPr/>
        </p:nvSpPr>
        <p:spPr>
          <a:xfrm>
            <a:off x="457200" y="457200"/>
            <a:ext cx="1353312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97316"/>
                </a:solidFill>
                <a:latin typeface="ui-sans-serif" pitchFamily="34" charset="0"/>
                <a:ea typeface="ui-sans-serif" pitchFamily="34" charset="-122"/>
                <a:cs typeface="ui-sans-serif" pitchFamily="34" charset="-120"/>
              </a:rPr>
              <a:t>Importancia de la Calidad del Software</a:t>
            </a:r>
            <a:endParaRPr lang="en-US" sz="2700" dirty="0"/>
          </a:p>
        </p:txBody>
      </p:sp>
      <p:sp>
        <p:nvSpPr>
          <p:cNvPr id="17" name="Text 1"/>
          <p:cNvSpPr/>
          <p:nvPr/>
        </p:nvSpPr>
        <p:spPr>
          <a:xfrm>
            <a:off x="457200" y="1824038"/>
            <a:ext cx="11277600" cy="619125"/>
          </a:xfrm>
          <a:prstGeom prst="rect">
            <a:avLst/>
          </a:prstGeom>
          <a:noFill/>
          <a:ln/>
        </p:spPr>
        <p:txBody>
          <a:bodyPr vert="horz" wrap="square" lIns="0" tIns="0" rIns="0" bIns="0" rtlCol="0" anchor="t"/>
          <a:lstStyle/>
          <a:p>
            <a:pPr marL="0" indent="0">
              <a:lnSpc>
                <a:spcPts val="2438"/>
              </a:lnSpc>
              <a:buNone/>
            </a:pPr>
            <a:r>
              <a:rPr lang="en-US" sz="1500" dirty="0">
                <a:solidFill>
                  <a:srgbClr val="FFFFFF"/>
                </a:solidFill>
                <a:latin typeface="ui-sans-serif" pitchFamily="34" charset="0"/>
                <a:ea typeface="ui-sans-serif" pitchFamily="34" charset="-122"/>
                <a:cs typeface="ui-sans-serif" pitchFamily="34" charset="-120"/>
              </a:rPr>
              <a:t>La calidad del software es un pilar fundamental para el éxito en el panorama tecnológico actual. Los estándares de calidad permiten evaluar, gestionar y mejorar el software de forma objetiva.</a:t>
            </a:r>
            <a:endParaRPr lang="en-US" sz="1500" dirty="0"/>
          </a:p>
        </p:txBody>
      </p:sp>
      <p:sp>
        <p:nvSpPr>
          <p:cNvPr id="18" name="Text 2"/>
          <p:cNvSpPr/>
          <p:nvPr/>
        </p:nvSpPr>
        <p:spPr>
          <a:xfrm>
            <a:off x="1257300" y="2938463"/>
            <a:ext cx="5440680" cy="266700"/>
          </a:xfrm>
          <a:prstGeom prst="rect">
            <a:avLst/>
          </a:prstGeom>
          <a:noFill/>
          <a:ln/>
        </p:spPr>
        <p:txBody>
          <a:bodyPr vert="horz" wrap="square" lIns="0" tIns="0" rIns="0" bIns="0" rtlCol="0" anchor="t"/>
          <a:lstStyle/>
          <a:p>
            <a:pPr marL="0" indent="0">
              <a:lnSpc>
                <a:spcPts val="2100"/>
              </a:lnSpc>
              <a:buNone/>
            </a:pPr>
            <a:r>
              <a:rPr lang="en-US" sz="1500" b="1" dirty="0">
                <a:solidFill>
                  <a:srgbClr val="FB923C"/>
                </a:solidFill>
                <a:latin typeface="ui-sans-serif" pitchFamily="34" charset="0"/>
                <a:ea typeface="ui-sans-serif" pitchFamily="34" charset="-122"/>
                <a:cs typeface="ui-sans-serif" pitchFamily="34" charset="-120"/>
              </a:rPr>
              <a:t>Satisfacción del Cliente</a:t>
            </a:r>
            <a:endParaRPr lang="en-US" sz="1500" dirty="0"/>
          </a:p>
        </p:txBody>
      </p:sp>
      <p:sp>
        <p:nvSpPr>
          <p:cNvPr id="19" name="Text 3"/>
          <p:cNvSpPr/>
          <p:nvPr/>
        </p:nvSpPr>
        <p:spPr>
          <a:xfrm>
            <a:off x="1257300" y="3281363"/>
            <a:ext cx="4533900" cy="4572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Un producto de alta calidad satisface las expectativas del cliente y mejora la experiencia.</a:t>
            </a:r>
            <a:endParaRPr lang="en-US" sz="1200" dirty="0"/>
          </a:p>
        </p:txBody>
      </p:sp>
      <p:sp>
        <p:nvSpPr>
          <p:cNvPr id="20" name="Text 4"/>
          <p:cNvSpPr/>
          <p:nvPr/>
        </p:nvSpPr>
        <p:spPr>
          <a:xfrm>
            <a:off x="7010400" y="2938463"/>
            <a:ext cx="5440680" cy="266700"/>
          </a:xfrm>
          <a:prstGeom prst="rect">
            <a:avLst/>
          </a:prstGeom>
          <a:noFill/>
          <a:ln/>
        </p:spPr>
        <p:txBody>
          <a:bodyPr vert="horz" wrap="square" lIns="0" tIns="0" rIns="0" bIns="0" rtlCol="0" anchor="t"/>
          <a:lstStyle/>
          <a:p>
            <a:pPr marL="0" indent="0">
              <a:lnSpc>
                <a:spcPts val="2100"/>
              </a:lnSpc>
              <a:buNone/>
            </a:pPr>
            <a:r>
              <a:rPr lang="en-US" sz="1500" b="1" dirty="0">
                <a:solidFill>
                  <a:srgbClr val="4ADE80"/>
                </a:solidFill>
                <a:latin typeface="ui-sans-serif" pitchFamily="34" charset="0"/>
                <a:ea typeface="ui-sans-serif" pitchFamily="34" charset="-122"/>
                <a:cs typeface="ui-sans-serif" pitchFamily="34" charset="-120"/>
              </a:rPr>
              <a:t>Eficiencia Operativa</a:t>
            </a:r>
            <a:endParaRPr lang="en-US" sz="1500" dirty="0"/>
          </a:p>
        </p:txBody>
      </p:sp>
      <p:sp>
        <p:nvSpPr>
          <p:cNvPr id="21" name="Text 5"/>
          <p:cNvSpPr/>
          <p:nvPr/>
        </p:nvSpPr>
        <p:spPr>
          <a:xfrm>
            <a:off x="7010400" y="3281363"/>
            <a:ext cx="4533900" cy="4572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Software de calidad impulsa la eficiencia operativa y reduce los costos de mantenimiento.</a:t>
            </a:r>
            <a:endParaRPr lang="en-US" sz="1200" dirty="0"/>
          </a:p>
        </p:txBody>
      </p:sp>
      <p:sp>
        <p:nvSpPr>
          <p:cNvPr id="22" name="Text 6"/>
          <p:cNvSpPr/>
          <p:nvPr/>
        </p:nvSpPr>
        <p:spPr>
          <a:xfrm>
            <a:off x="1257300" y="4348163"/>
            <a:ext cx="5440680" cy="266700"/>
          </a:xfrm>
          <a:prstGeom prst="rect">
            <a:avLst/>
          </a:prstGeom>
          <a:noFill/>
          <a:ln/>
        </p:spPr>
        <p:txBody>
          <a:bodyPr vert="horz" wrap="square" lIns="0" tIns="0" rIns="0" bIns="0" rtlCol="0" anchor="t"/>
          <a:lstStyle/>
          <a:p>
            <a:pPr marL="0" indent="0">
              <a:lnSpc>
                <a:spcPts val="2100"/>
              </a:lnSpc>
              <a:buNone/>
            </a:pPr>
            <a:r>
              <a:rPr lang="en-US" sz="1500" b="1" dirty="0">
                <a:solidFill>
                  <a:srgbClr val="C084FC"/>
                </a:solidFill>
                <a:latin typeface="ui-sans-serif" pitchFamily="34" charset="0"/>
                <a:ea typeface="ui-sans-serif" pitchFamily="34" charset="-122"/>
                <a:cs typeface="ui-sans-serif" pitchFamily="34" charset="-120"/>
              </a:rPr>
              <a:t>Fortalecimiento de Marca</a:t>
            </a:r>
            <a:endParaRPr lang="en-US" sz="1500" dirty="0"/>
          </a:p>
        </p:txBody>
      </p:sp>
      <p:sp>
        <p:nvSpPr>
          <p:cNvPr id="23" name="Text 7"/>
          <p:cNvSpPr/>
          <p:nvPr/>
        </p:nvSpPr>
        <p:spPr>
          <a:xfrm>
            <a:off x="1257300" y="4691063"/>
            <a:ext cx="4533900" cy="4572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La calidad consistently deliverada impulsa la reputación de la empresa.</a:t>
            </a:r>
            <a:endParaRPr lang="en-US" sz="1200" dirty="0"/>
          </a:p>
        </p:txBody>
      </p:sp>
      <p:sp>
        <p:nvSpPr>
          <p:cNvPr id="24" name="Text 8"/>
          <p:cNvSpPr/>
          <p:nvPr/>
        </p:nvSpPr>
        <p:spPr>
          <a:xfrm>
            <a:off x="7010400" y="4348163"/>
            <a:ext cx="45339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60A5FA"/>
                </a:solidFill>
                <a:latin typeface="ui-sans-serif" pitchFamily="34" charset="0"/>
                <a:ea typeface="ui-sans-serif" pitchFamily="34" charset="-122"/>
                <a:cs typeface="ui-sans-serif" pitchFamily="34" charset="-120"/>
              </a:rPr>
              <a:t>Evaluación Objeta</a:t>
            </a:r>
            <a:endParaRPr lang="en-US" sz="1500" dirty="0"/>
          </a:p>
        </p:txBody>
      </p:sp>
      <p:sp>
        <p:nvSpPr>
          <p:cNvPr id="25" name="Text 9"/>
          <p:cNvSpPr/>
          <p:nvPr/>
        </p:nvSpPr>
        <p:spPr>
          <a:xfrm>
            <a:off x="7010400" y="4691063"/>
            <a:ext cx="4533900" cy="4572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Los estándares permiten una evaluación objetiva y medible de la calidad del software.</a:t>
            </a:r>
            <a:endParaRPr lang="en-US" sz="1200" dirty="0"/>
          </a:p>
        </p:txBody>
      </p:sp>
      <p:sp>
        <p:nvSpPr>
          <p:cNvPr id="26" name="Text 10"/>
          <p:cNvSpPr/>
          <p:nvPr/>
        </p:nvSpPr>
        <p:spPr>
          <a:xfrm>
            <a:off x="457200" y="6210300"/>
            <a:ext cx="2087761"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24 de Noviembre de 2025</a:t>
            </a:r>
            <a:endParaRPr lang="en-US" sz="1050" dirty="0"/>
          </a:p>
        </p:txBody>
      </p:sp>
      <p:sp>
        <p:nvSpPr>
          <p:cNvPr id="27" name="Text 11"/>
          <p:cNvSpPr/>
          <p:nvPr/>
        </p:nvSpPr>
        <p:spPr>
          <a:xfrm>
            <a:off x="10742265" y="6210300"/>
            <a:ext cx="1191042"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Página 3 de 25</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815" y="1563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914400"/>
            <a:ext cx="914400" cy="38100"/>
          </a:xfrm>
          <a:prstGeom prst="rect">
            <a:avLst/>
          </a:prstGeom>
        </p:spPr>
      </p:pic>
      <p:pic>
        <p:nvPicPr>
          <p:cNvPr id="4" name="Image 2" descr="preencoded.png"/>
          <p:cNvPicPr>
            <a:picLocks noChangeAspect="1"/>
          </p:cNvPicPr>
          <p:nvPr/>
        </p:nvPicPr>
        <p:blipFill>
          <a:blip r:embed="rId5"/>
          <a:stretch>
            <a:fillRect/>
          </a:stretch>
        </p:blipFill>
        <p:spPr>
          <a:xfrm>
            <a:off x="457200" y="1209675"/>
            <a:ext cx="257175" cy="228600"/>
          </a:xfrm>
          <a:prstGeom prst="rect">
            <a:avLst/>
          </a:prstGeom>
        </p:spPr>
      </p:pic>
      <p:pic>
        <p:nvPicPr>
          <p:cNvPr id="5" name="Image 3" descr="preencoded.png"/>
          <p:cNvPicPr>
            <a:picLocks noChangeAspect="1"/>
          </p:cNvPicPr>
          <p:nvPr/>
        </p:nvPicPr>
        <p:blipFill>
          <a:blip r:embed="rId6"/>
          <a:stretch>
            <a:fillRect/>
          </a:stretch>
        </p:blipFill>
        <p:spPr>
          <a:xfrm>
            <a:off x="457200" y="1638300"/>
            <a:ext cx="152400" cy="152400"/>
          </a:xfrm>
          <a:prstGeom prst="rect">
            <a:avLst/>
          </a:prstGeom>
        </p:spPr>
      </p:pic>
      <p:pic>
        <p:nvPicPr>
          <p:cNvPr id="6" name="Image 4" descr="preencoded.png"/>
          <p:cNvPicPr>
            <a:picLocks noChangeAspect="1"/>
          </p:cNvPicPr>
          <p:nvPr/>
        </p:nvPicPr>
        <p:blipFill>
          <a:blip r:embed="rId6"/>
          <a:stretch>
            <a:fillRect/>
          </a:stretch>
        </p:blipFill>
        <p:spPr>
          <a:xfrm>
            <a:off x="457200" y="2209800"/>
            <a:ext cx="152400" cy="152400"/>
          </a:xfrm>
          <a:prstGeom prst="rect">
            <a:avLst/>
          </a:prstGeom>
        </p:spPr>
      </p:pic>
      <p:pic>
        <p:nvPicPr>
          <p:cNvPr id="7" name="Image 5" descr="preencoded.png"/>
          <p:cNvPicPr>
            <a:picLocks noChangeAspect="1"/>
          </p:cNvPicPr>
          <p:nvPr/>
        </p:nvPicPr>
        <p:blipFill>
          <a:blip r:embed="rId6"/>
          <a:stretch>
            <a:fillRect/>
          </a:stretch>
        </p:blipFill>
        <p:spPr>
          <a:xfrm>
            <a:off x="457200" y="2781300"/>
            <a:ext cx="152400" cy="152400"/>
          </a:xfrm>
          <a:prstGeom prst="rect">
            <a:avLst/>
          </a:prstGeom>
        </p:spPr>
      </p:pic>
      <p:pic>
        <p:nvPicPr>
          <p:cNvPr id="8" name="Image 6" descr="preencoded.png"/>
          <p:cNvPicPr>
            <a:picLocks noChangeAspect="1"/>
          </p:cNvPicPr>
          <p:nvPr/>
        </p:nvPicPr>
        <p:blipFill>
          <a:blip r:embed="rId7"/>
          <a:stretch>
            <a:fillRect/>
          </a:stretch>
        </p:blipFill>
        <p:spPr>
          <a:xfrm>
            <a:off x="457200" y="3228975"/>
            <a:ext cx="228600" cy="228600"/>
          </a:xfrm>
          <a:prstGeom prst="rect">
            <a:avLst/>
          </a:prstGeom>
        </p:spPr>
      </p:pic>
      <p:pic>
        <p:nvPicPr>
          <p:cNvPr id="9" name="Image 7" descr="preencoded.png"/>
          <p:cNvPicPr>
            <a:picLocks noChangeAspect="1"/>
          </p:cNvPicPr>
          <p:nvPr/>
        </p:nvPicPr>
        <p:blipFill>
          <a:blip r:embed="rId8"/>
          <a:stretch>
            <a:fillRect/>
          </a:stretch>
        </p:blipFill>
        <p:spPr>
          <a:xfrm>
            <a:off x="457200" y="4191000"/>
            <a:ext cx="5334000" cy="762000"/>
          </a:xfrm>
          <a:prstGeom prst="rect">
            <a:avLst/>
          </a:prstGeom>
        </p:spPr>
      </p:pic>
      <p:pic>
        <p:nvPicPr>
          <p:cNvPr id="10" name="Image 8" descr="preencoded.png"/>
          <p:cNvPicPr>
            <a:picLocks noChangeAspect="1"/>
          </p:cNvPicPr>
          <p:nvPr/>
        </p:nvPicPr>
        <p:blipFill>
          <a:blip r:embed="rId9"/>
          <a:stretch>
            <a:fillRect/>
          </a:stretch>
        </p:blipFill>
        <p:spPr>
          <a:xfrm>
            <a:off x="2957810" y="4448175"/>
            <a:ext cx="200025" cy="228600"/>
          </a:xfrm>
          <a:prstGeom prst="rect">
            <a:avLst/>
          </a:prstGeom>
        </p:spPr>
      </p:pic>
      <p:pic>
        <p:nvPicPr>
          <p:cNvPr id="11" name="Image 9" descr="preencoded.png"/>
          <p:cNvPicPr>
            <a:picLocks noChangeAspect="1"/>
          </p:cNvPicPr>
          <p:nvPr/>
        </p:nvPicPr>
        <p:blipFill>
          <a:blip r:embed="rId10"/>
          <a:stretch>
            <a:fillRect/>
          </a:stretch>
        </p:blipFill>
        <p:spPr>
          <a:xfrm>
            <a:off x="6096000" y="1181100"/>
            <a:ext cx="5638800" cy="4724400"/>
          </a:xfrm>
          <a:prstGeom prst="rect">
            <a:avLst/>
          </a:prstGeom>
        </p:spPr>
      </p:pic>
      <p:pic>
        <p:nvPicPr>
          <p:cNvPr id="12" name="Image 10" descr="preencoded.png"/>
          <p:cNvPicPr>
            <a:picLocks noChangeAspect="1"/>
          </p:cNvPicPr>
          <p:nvPr/>
        </p:nvPicPr>
        <p:blipFill>
          <a:blip r:embed="rId11"/>
          <a:stretch>
            <a:fillRect/>
          </a:stretch>
        </p:blipFill>
        <p:spPr>
          <a:xfrm>
            <a:off x="6400800" y="1209675"/>
            <a:ext cx="257175" cy="228600"/>
          </a:xfrm>
          <a:prstGeom prst="rect">
            <a:avLst/>
          </a:prstGeom>
        </p:spPr>
      </p:pic>
      <p:pic>
        <p:nvPicPr>
          <p:cNvPr id="13" name="Image 11" descr="preencoded.png"/>
          <p:cNvPicPr>
            <a:picLocks noChangeAspect="1"/>
          </p:cNvPicPr>
          <p:nvPr/>
        </p:nvPicPr>
        <p:blipFill>
          <a:blip r:embed="rId12"/>
          <a:stretch>
            <a:fillRect/>
          </a:stretch>
        </p:blipFill>
        <p:spPr>
          <a:xfrm>
            <a:off x="6400800" y="1600200"/>
            <a:ext cx="2590800" cy="1257300"/>
          </a:xfrm>
          <a:prstGeom prst="rect">
            <a:avLst/>
          </a:prstGeom>
        </p:spPr>
      </p:pic>
      <p:pic>
        <p:nvPicPr>
          <p:cNvPr id="14" name="Image 12" descr="preencoded.png"/>
          <p:cNvPicPr>
            <a:picLocks noChangeAspect="1"/>
          </p:cNvPicPr>
          <p:nvPr/>
        </p:nvPicPr>
        <p:blipFill>
          <a:blip r:embed="rId13"/>
          <a:stretch>
            <a:fillRect/>
          </a:stretch>
        </p:blipFill>
        <p:spPr>
          <a:xfrm>
            <a:off x="6553200" y="1752600"/>
            <a:ext cx="304800" cy="304800"/>
          </a:xfrm>
          <a:prstGeom prst="rect">
            <a:avLst/>
          </a:prstGeom>
        </p:spPr>
      </p:pic>
      <p:pic>
        <p:nvPicPr>
          <p:cNvPr id="15" name="Image 13" descr="preencoded.png"/>
          <p:cNvPicPr>
            <a:picLocks noChangeAspect="1"/>
          </p:cNvPicPr>
          <p:nvPr/>
        </p:nvPicPr>
        <p:blipFill>
          <a:blip r:embed="rId14"/>
          <a:stretch>
            <a:fillRect/>
          </a:stretch>
        </p:blipFill>
        <p:spPr>
          <a:xfrm>
            <a:off x="6610350" y="1828800"/>
            <a:ext cx="190500" cy="152400"/>
          </a:xfrm>
          <a:prstGeom prst="rect">
            <a:avLst/>
          </a:prstGeom>
        </p:spPr>
      </p:pic>
      <p:pic>
        <p:nvPicPr>
          <p:cNvPr id="16" name="Image 14" descr="preencoded.png"/>
          <p:cNvPicPr>
            <a:picLocks noChangeAspect="1"/>
          </p:cNvPicPr>
          <p:nvPr/>
        </p:nvPicPr>
        <p:blipFill>
          <a:blip r:embed="rId15"/>
          <a:stretch>
            <a:fillRect/>
          </a:stretch>
        </p:blipFill>
        <p:spPr>
          <a:xfrm>
            <a:off x="9144000" y="1600200"/>
            <a:ext cx="2590800" cy="1257300"/>
          </a:xfrm>
          <a:prstGeom prst="rect">
            <a:avLst/>
          </a:prstGeom>
        </p:spPr>
      </p:pic>
      <p:pic>
        <p:nvPicPr>
          <p:cNvPr id="17" name="Image 15" descr="preencoded.png"/>
          <p:cNvPicPr>
            <a:picLocks noChangeAspect="1"/>
          </p:cNvPicPr>
          <p:nvPr/>
        </p:nvPicPr>
        <p:blipFill>
          <a:blip r:embed="rId16"/>
          <a:stretch>
            <a:fillRect/>
          </a:stretch>
        </p:blipFill>
        <p:spPr>
          <a:xfrm>
            <a:off x="9296400" y="1752600"/>
            <a:ext cx="304800" cy="304800"/>
          </a:xfrm>
          <a:prstGeom prst="rect">
            <a:avLst/>
          </a:prstGeom>
        </p:spPr>
      </p:pic>
      <p:pic>
        <p:nvPicPr>
          <p:cNvPr id="18" name="Image 16" descr="preencoded.png"/>
          <p:cNvPicPr>
            <a:picLocks noChangeAspect="1"/>
          </p:cNvPicPr>
          <p:nvPr/>
        </p:nvPicPr>
        <p:blipFill>
          <a:blip r:embed="rId17"/>
          <a:stretch>
            <a:fillRect/>
          </a:stretch>
        </p:blipFill>
        <p:spPr>
          <a:xfrm>
            <a:off x="9372600" y="1828800"/>
            <a:ext cx="152400" cy="152400"/>
          </a:xfrm>
          <a:prstGeom prst="rect">
            <a:avLst/>
          </a:prstGeom>
        </p:spPr>
      </p:pic>
      <p:pic>
        <p:nvPicPr>
          <p:cNvPr id="19" name="Image 17" descr="preencoded.png"/>
          <p:cNvPicPr>
            <a:picLocks noChangeAspect="1"/>
          </p:cNvPicPr>
          <p:nvPr/>
        </p:nvPicPr>
        <p:blipFill>
          <a:blip r:embed="rId18"/>
          <a:stretch>
            <a:fillRect/>
          </a:stretch>
        </p:blipFill>
        <p:spPr>
          <a:xfrm>
            <a:off x="6400800" y="3009900"/>
            <a:ext cx="2590800" cy="1257300"/>
          </a:xfrm>
          <a:prstGeom prst="rect">
            <a:avLst/>
          </a:prstGeom>
        </p:spPr>
      </p:pic>
      <p:pic>
        <p:nvPicPr>
          <p:cNvPr id="20" name="Image 18" descr="preencoded.png"/>
          <p:cNvPicPr>
            <a:picLocks noChangeAspect="1"/>
          </p:cNvPicPr>
          <p:nvPr/>
        </p:nvPicPr>
        <p:blipFill>
          <a:blip r:embed="rId19"/>
          <a:stretch>
            <a:fillRect/>
          </a:stretch>
        </p:blipFill>
        <p:spPr>
          <a:xfrm>
            <a:off x="6553200" y="3162300"/>
            <a:ext cx="304800" cy="304800"/>
          </a:xfrm>
          <a:prstGeom prst="rect">
            <a:avLst/>
          </a:prstGeom>
        </p:spPr>
      </p:pic>
      <p:pic>
        <p:nvPicPr>
          <p:cNvPr id="21" name="Image 19" descr="preencoded.png"/>
          <p:cNvPicPr>
            <a:picLocks noChangeAspect="1"/>
          </p:cNvPicPr>
          <p:nvPr/>
        </p:nvPicPr>
        <p:blipFill>
          <a:blip r:embed="rId20"/>
          <a:stretch>
            <a:fillRect/>
          </a:stretch>
        </p:blipFill>
        <p:spPr>
          <a:xfrm>
            <a:off x="6610350" y="3238500"/>
            <a:ext cx="190500" cy="152400"/>
          </a:xfrm>
          <a:prstGeom prst="rect">
            <a:avLst/>
          </a:prstGeom>
        </p:spPr>
      </p:pic>
      <p:pic>
        <p:nvPicPr>
          <p:cNvPr id="22" name="Image 20" descr="preencoded.png"/>
          <p:cNvPicPr>
            <a:picLocks noChangeAspect="1"/>
          </p:cNvPicPr>
          <p:nvPr/>
        </p:nvPicPr>
        <p:blipFill>
          <a:blip r:embed="rId21"/>
          <a:stretch>
            <a:fillRect/>
          </a:stretch>
        </p:blipFill>
        <p:spPr>
          <a:xfrm>
            <a:off x="9144000" y="3009900"/>
            <a:ext cx="2590800" cy="1257300"/>
          </a:xfrm>
          <a:prstGeom prst="rect">
            <a:avLst/>
          </a:prstGeom>
        </p:spPr>
      </p:pic>
      <p:pic>
        <p:nvPicPr>
          <p:cNvPr id="23" name="Image 21" descr="preencoded.png"/>
          <p:cNvPicPr>
            <a:picLocks noChangeAspect="1"/>
          </p:cNvPicPr>
          <p:nvPr/>
        </p:nvPicPr>
        <p:blipFill>
          <a:blip r:embed="rId22"/>
          <a:stretch>
            <a:fillRect/>
          </a:stretch>
        </p:blipFill>
        <p:spPr>
          <a:xfrm>
            <a:off x="9296400" y="3162300"/>
            <a:ext cx="304800" cy="304800"/>
          </a:xfrm>
          <a:prstGeom prst="rect">
            <a:avLst/>
          </a:prstGeom>
        </p:spPr>
      </p:pic>
      <p:pic>
        <p:nvPicPr>
          <p:cNvPr id="24" name="Image 22" descr="preencoded.png"/>
          <p:cNvPicPr>
            <a:picLocks noChangeAspect="1"/>
          </p:cNvPicPr>
          <p:nvPr/>
        </p:nvPicPr>
        <p:blipFill>
          <a:blip r:embed="rId23"/>
          <a:stretch>
            <a:fillRect/>
          </a:stretch>
        </p:blipFill>
        <p:spPr>
          <a:xfrm>
            <a:off x="9363075" y="3238500"/>
            <a:ext cx="171450" cy="152400"/>
          </a:xfrm>
          <a:prstGeom prst="rect">
            <a:avLst/>
          </a:prstGeom>
        </p:spPr>
      </p:pic>
      <p:sp>
        <p:nvSpPr>
          <p:cNvPr id="25" name="Text 0"/>
          <p:cNvSpPr/>
          <p:nvPr/>
        </p:nvSpPr>
        <p:spPr>
          <a:xfrm>
            <a:off x="457200" y="457200"/>
            <a:ext cx="1353312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97316"/>
                </a:solidFill>
                <a:latin typeface="ui-sans-serif" pitchFamily="34" charset="0"/>
                <a:ea typeface="ui-sans-serif" pitchFamily="34" charset="-122"/>
                <a:cs typeface="ui-sans-serif" pitchFamily="34" charset="-120"/>
              </a:rPr>
              <a:t>Introducción al Estándar ISO/IEC 9126</a:t>
            </a:r>
            <a:endParaRPr lang="en-US" sz="2700" dirty="0"/>
          </a:p>
        </p:txBody>
      </p:sp>
      <p:sp>
        <p:nvSpPr>
          <p:cNvPr id="26" name="Text 1"/>
          <p:cNvSpPr/>
          <p:nvPr/>
        </p:nvSpPr>
        <p:spPr>
          <a:xfrm>
            <a:off x="790575" y="1181100"/>
            <a:ext cx="53340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C084FC"/>
                </a:solidFill>
                <a:latin typeface="ui-sans-serif" pitchFamily="34" charset="0"/>
                <a:ea typeface="ui-sans-serif" pitchFamily="34" charset="-122"/>
                <a:cs typeface="ui-sans-serif" pitchFamily="34" charset="-120"/>
              </a:rPr>
              <a:t> Fundamentos</a:t>
            </a:r>
            <a:endParaRPr lang="en-US" sz="1800" dirty="0"/>
          </a:p>
        </p:txBody>
      </p:sp>
      <p:sp>
        <p:nvSpPr>
          <p:cNvPr id="27" name="Text 2"/>
          <p:cNvSpPr/>
          <p:nvPr/>
        </p:nvSpPr>
        <p:spPr>
          <a:xfrm>
            <a:off x="685800" y="1600200"/>
            <a:ext cx="51054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D1D5DB"/>
                </a:solidFill>
                <a:latin typeface="ui-sans-serif" pitchFamily="34" charset="0"/>
                <a:ea typeface="ui-sans-serif" pitchFamily="34" charset="-122"/>
                <a:cs typeface="ui-sans-serif" pitchFamily="34" charset="-120"/>
              </a:rPr>
              <a:t>Estándar internacional fundamental para evaluación de calidad del software</a:t>
            </a:r>
            <a:endParaRPr lang="en-US" sz="1200" dirty="0"/>
          </a:p>
        </p:txBody>
      </p:sp>
      <p:sp>
        <p:nvSpPr>
          <p:cNvPr id="28" name="Text 3"/>
          <p:cNvSpPr/>
          <p:nvPr/>
        </p:nvSpPr>
        <p:spPr>
          <a:xfrm>
            <a:off x="685800" y="2171700"/>
            <a:ext cx="51054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D1D5DB"/>
                </a:solidFill>
                <a:latin typeface="ui-sans-serif" pitchFamily="34" charset="0"/>
                <a:ea typeface="ui-sans-serif" pitchFamily="34" charset="-122"/>
                <a:cs typeface="ui-sans-serif" pitchFamily="34" charset="-120"/>
              </a:rPr>
              <a:t>Abordó sesgos humanos que afectan negativamente la entrega y percepción de proyectos</a:t>
            </a:r>
            <a:endParaRPr lang="en-US" sz="1200" dirty="0"/>
          </a:p>
        </p:txBody>
      </p:sp>
      <p:sp>
        <p:nvSpPr>
          <p:cNvPr id="29" name="Text 4"/>
          <p:cNvSpPr/>
          <p:nvPr/>
        </p:nvSpPr>
        <p:spPr>
          <a:xfrm>
            <a:off x="685800" y="2743200"/>
            <a:ext cx="5808940"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D1D5DB"/>
                </a:solidFill>
                <a:latin typeface="ui-sans-serif" pitchFamily="34" charset="0"/>
                <a:ea typeface="ui-sans-serif" pitchFamily="34" charset="-122"/>
                <a:cs typeface="ui-sans-serif" pitchFamily="34" charset="-120"/>
              </a:rPr>
              <a:t>Estableció definiciones claras de "éxito" y prioridades medibles</a:t>
            </a:r>
            <a:endParaRPr lang="en-US" sz="1200" dirty="0"/>
          </a:p>
        </p:txBody>
      </p:sp>
      <p:sp>
        <p:nvSpPr>
          <p:cNvPr id="30" name="Text 5"/>
          <p:cNvSpPr/>
          <p:nvPr/>
        </p:nvSpPr>
        <p:spPr>
          <a:xfrm>
            <a:off x="762000" y="3200400"/>
            <a:ext cx="53340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C084FC"/>
                </a:solidFill>
                <a:latin typeface="ui-sans-serif" pitchFamily="34" charset="0"/>
                <a:ea typeface="ui-sans-serif" pitchFamily="34" charset="-122"/>
                <a:cs typeface="ui-sans-serif" pitchFamily="34" charset="-120"/>
              </a:rPr>
              <a:t> Evolución</a:t>
            </a:r>
            <a:endParaRPr lang="en-US" sz="1800" dirty="0"/>
          </a:p>
        </p:txBody>
      </p:sp>
      <p:sp>
        <p:nvSpPr>
          <p:cNvPr id="31" name="Text 6"/>
          <p:cNvSpPr/>
          <p:nvPr/>
        </p:nvSpPr>
        <p:spPr>
          <a:xfrm>
            <a:off x="457200" y="3619500"/>
            <a:ext cx="5334000" cy="4572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Reemplazado por la serie ISO/IEC 25000 (SQuaRE), específicamente ISO/IEC 25010:2011</a:t>
            </a:r>
            <a:endParaRPr lang="en-US" sz="1200" dirty="0"/>
          </a:p>
        </p:txBody>
      </p:sp>
      <p:sp>
        <p:nvSpPr>
          <p:cNvPr id="32" name="Text 7"/>
          <p:cNvSpPr/>
          <p:nvPr/>
        </p:nvSpPr>
        <p:spPr>
          <a:xfrm>
            <a:off x="471904" y="4343400"/>
            <a:ext cx="1652349"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F97316"/>
                </a:solidFill>
                <a:latin typeface="ui-sans-serif" pitchFamily="34" charset="0"/>
                <a:ea typeface="ui-sans-serif" pitchFamily="34" charset="-122"/>
                <a:cs typeface="ui-sans-serif" pitchFamily="34" charset="-120"/>
              </a:rPr>
              <a:t>ISO/IEC 9126</a:t>
            </a:r>
            <a:endParaRPr lang="en-US" sz="1500" dirty="0"/>
          </a:p>
        </p:txBody>
      </p:sp>
      <p:sp>
        <p:nvSpPr>
          <p:cNvPr id="33" name="Text 8"/>
          <p:cNvSpPr/>
          <p:nvPr/>
        </p:nvSpPr>
        <p:spPr>
          <a:xfrm>
            <a:off x="609600" y="4610100"/>
            <a:ext cx="1376958"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9CA3AF"/>
                </a:solidFill>
                <a:latin typeface="ui-sans-serif" pitchFamily="34" charset="0"/>
                <a:ea typeface="ui-sans-serif" pitchFamily="34" charset="-122"/>
                <a:cs typeface="ui-sans-serif" pitchFamily="34" charset="-120"/>
              </a:rPr>
              <a:t>2001</a:t>
            </a:r>
            <a:endParaRPr lang="en-US" sz="1050" dirty="0"/>
          </a:p>
        </p:txBody>
      </p:sp>
      <p:sp>
        <p:nvSpPr>
          <p:cNvPr id="34" name="Text 9"/>
          <p:cNvSpPr/>
          <p:nvPr/>
        </p:nvSpPr>
        <p:spPr>
          <a:xfrm>
            <a:off x="3978131" y="4343400"/>
            <a:ext cx="1811476"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22C55E"/>
                </a:solidFill>
                <a:latin typeface="ui-sans-serif" pitchFamily="34" charset="0"/>
                <a:ea typeface="ui-sans-serif" pitchFamily="34" charset="-122"/>
                <a:cs typeface="ui-sans-serif" pitchFamily="34" charset="-120"/>
              </a:rPr>
              <a:t>ISO/IEC 25000</a:t>
            </a:r>
            <a:endParaRPr lang="en-US" sz="1500" dirty="0"/>
          </a:p>
        </p:txBody>
      </p:sp>
      <p:sp>
        <p:nvSpPr>
          <p:cNvPr id="35" name="Text 10"/>
          <p:cNvSpPr/>
          <p:nvPr/>
        </p:nvSpPr>
        <p:spPr>
          <a:xfrm>
            <a:off x="4129088" y="4610100"/>
            <a:ext cx="1509564"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9CA3AF"/>
                </a:solidFill>
                <a:latin typeface="ui-sans-serif" pitchFamily="34" charset="0"/>
                <a:ea typeface="ui-sans-serif" pitchFamily="34" charset="-122"/>
                <a:cs typeface="ui-sans-serif" pitchFamily="34" charset="-120"/>
              </a:rPr>
              <a:t>2011</a:t>
            </a:r>
            <a:endParaRPr lang="en-US" sz="1050" dirty="0"/>
          </a:p>
        </p:txBody>
      </p:sp>
      <p:sp>
        <p:nvSpPr>
          <p:cNvPr id="36" name="Text 11"/>
          <p:cNvSpPr/>
          <p:nvPr/>
        </p:nvSpPr>
        <p:spPr>
          <a:xfrm>
            <a:off x="6734175" y="1181100"/>
            <a:ext cx="64008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C084FC"/>
                </a:solidFill>
                <a:latin typeface="ui-sans-serif" pitchFamily="34" charset="0"/>
                <a:ea typeface="ui-sans-serif" pitchFamily="34" charset="-122"/>
                <a:cs typeface="ui-sans-serif" pitchFamily="34" charset="-120"/>
              </a:rPr>
              <a:t> Características Clave</a:t>
            </a:r>
            <a:endParaRPr lang="en-US" sz="1800" dirty="0"/>
          </a:p>
        </p:txBody>
      </p:sp>
      <p:sp>
        <p:nvSpPr>
          <p:cNvPr id="37" name="Text 12"/>
          <p:cNvSpPr/>
          <p:nvPr/>
        </p:nvSpPr>
        <p:spPr>
          <a:xfrm>
            <a:off x="6972300" y="1771650"/>
            <a:ext cx="1616809" cy="266700"/>
          </a:xfrm>
          <a:prstGeom prst="rect">
            <a:avLst/>
          </a:prstGeom>
          <a:noFill/>
          <a:ln/>
        </p:spPr>
        <p:txBody>
          <a:bodyPr vert="horz" wrap="square" lIns="0" tIns="0" rIns="0" bIns="0" rtlCol="0" anchor="t"/>
          <a:lstStyle/>
          <a:p>
            <a:pPr marL="0" indent="0">
              <a:lnSpc>
                <a:spcPts val="2100"/>
              </a:lnSpc>
              <a:buNone/>
            </a:pPr>
            <a:r>
              <a:rPr lang="en-US" sz="1350" b="1" dirty="0">
                <a:solidFill>
                  <a:srgbClr val="FB923C"/>
                </a:solidFill>
                <a:latin typeface="ui-sans-serif" pitchFamily="34" charset="0"/>
                <a:ea typeface="ui-sans-serif" pitchFamily="34" charset="-122"/>
                <a:cs typeface="ui-sans-serif" pitchFamily="34" charset="-120"/>
              </a:rPr>
              <a:t>Funcionalidad</a:t>
            </a:r>
            <a:endParaRPr lang="en-US" sz="1350" dirty="0"/>
          </a:p>
        </p:txBody>
      </p:sp>
      <p:sp>
        <p:nvSpPr>
          <p:cNvPr id="38" name="Text 13"/>
          <p:cNvSpPr/>
          <p:nvPr/>
        </p:nvSpPr>
        <p:spPr>
          <a:xfrm>
            <a:off x="6553200" y="2133600"/>
            <a:ext cx="2286000" cy="571500"/>
          </a:xfrm>
          <a:prstGeom prst="rect">
            <a:avLst/>
          </a:prstGeom>
          <a:noFill/>
          <a:ln/>
        </p:spPr>
        <p:txBody>
          <a:bodyPr vert="horz" wrap="square" lIns="0" tIns="0" rIns="0" bIns="0" rtlCol="0" anchor="t"/>
          <a:lstStyle/>
          <a:p>
            <a:pPr marL="0" indent="0">
              <a:lnSpc>
                <a:spcPts val="1500"/>
              </a:lnSpc>
              <a:buNone/>
            </a:pPr>
            <a:r>
              <a:rPr lang="en-US" sz="1050" dirty="0">
                <a:solidFill>
                  <a:srgbClr val="D1D5DB"/>
                </a:solidFill>
                <a:latin typeface="ui-sans-serif" pitchFamily="34" charset="0"/>
                <a:ea typeface="ui-sans-serif" pitchFamily="34" charset="-122"/>
                <a:cs typeface="ui-sans-serif" pitchFamily="34" charset="-120"/>
              </a:rPr>
              <a:t>Evalúa si el software cumple con las funciones para las que fue diseñado</a:t>
            </a:r>
            <a:endParaRPr lang="en-US" sz="1050" dirty="0"/>
          </a:p>
        </p:txBody>
      </p:sp>
      <p:sp>
        <p:nvSpPr>
          <p:cNvPr id="39" name="Text 14"/>
          <p:cNvSpPr/>
          <p:nvPr/>
        </p:nvSpPr>
        <p:spPr>
          <a:xfrm>
            <a:off x="9715500" y="1771650"/>
            <a:ext cx="1142286" cy="266700"/>
          </a:xfrm>
          <a:prstGeom prst="rect">
            <a:avLst/>
          </a:prstGeom>
          <a:noFill/>
          <a:ln/>
        </p:spPr>
        <p:txBody>
          <a:bodyPr vert="horz" wrap="square" lIns="0" tIns="0" rIns="0" bIns="0" rtlCol="0" anchor="t"/>
          <a:lstStyle/>
          <a:p>
            <a:pPr marL="0" indent="0">
              <a:lnSpc>
                <a:spcPts val="2100"/>
              </a:lnSpc>
              <a:buNone/>
            </a:pPr>
            <a:r>
              <a:rPr lang="en-US" sz="1350" b="1" dirty="0">
                <a:solidFill>
                  <a:srgbClr val="F87171"/>
                </a:solidFill>
                <a:latin typeface="ui-sans-serif" pitchFamily="34" charset="0"/>
                <a:ea typeface="ui-sans-serif" pitchFamily="34" charset="-122"/>
                <a:cs typeface="ui-sans-serif" pitchFamily="34" charset="-120"/>
              </a:rPr>
              <a:t>Fiabilidad</a:t>
            </a:r>
            <a:endParaRPr lang="en-US" sz="1350" dirty="0"/>
          </a:p>
        </p:txBody>
      </p:sp>
      <p:sp>
        <p:nvSpPr>
          <p:cNvPr id="40" name="Text 15"/>
          <p:cNvSpPr/>
          <p:nvPr/>
        </p:nvSpPr>
        <p:spPr>
          <a:xfrm>
            <a:off x="9296400" y="2133600"/>
            <a:ext cx="2286000" cy="571500"/>
          </a:xfrm>
          <a:prstGeom prst="rect">
            <a:avLst/>
          </a:prstGeom>
          <a:noFill/>
          <a:ln/>
        </p:spPr>
        <p:txBody>
          <a:bodyPr vert="horz" wrap="square" lIns="0" tIns="0" rIns="0" bIns="0" rtlCol="0" anchor="t"/>
          <a:lstStyle/>
          <a:p>
            <a:pPr marL="0" indent="0">
              <a:lnSpc>
                <a:spcPts val="1500"/>
              </a:lnSpc>
              <a:buNone/>
            </a:pPr>
            <a:r>
              <a:rPr lang="en-US" sz="1050" dirty="0">
                <a:solidFill>
                  <a:srgbClr val="D1D5DB"/>
                </a:solidFill>
                <a:latin typeface="ui-sans-serif" pitchFamily="34" charset="0"/>
                <a:ea typeface="ui-sans-serif" pitchFamily="34" charset="-122"/>
                <a:cs typeface="ui-sans-serif" pitchFamily="34" charset="-120"/>
              </a:rPr>
              <a:t>Capacidad del software de mantener su nivel de desempeño bajo condiciones determinadas</a:t>
            </a:r>
            <a:endParaRPr lang="en-US" sz="1050" dirty="0"/>
          </a:p>
        </p:txBody>
      </p:sp>
      <p:sp>
        <p:nvSpPr>
          <p:cNvPr id="41" name="Text 16"/>
          <p:cNvSpPr/>
          <p:nvPr/>
        </p:nvSpPr>
        <p:spPr>
          <a:xfrm>
            <a:off x="6972300" y="3181350"/>
            <a:ext cx="1220688" cy="266700"/>
          </a:xfrm>
          <a:prstGeom prst="rect">
            <a:avLst/>
          </a:prstGeom>
          <a:noFill/>
          <a:ln/>
        </p:spPr>
        <p:txBody>
          <a:bodyPr vert="horz" wrap="square" lIns="0" tIns="0" rIns="0" bIns="0" rtlCol="0" anchor="t"/>
          <a:lstStyle/>
          <a:p>
            <a:pPr marL="0" indent="0">
              <a:lnSpc>
                <a:spcPts val="2100"/>
              </a:lnSpc>
              <a:buNone/>
            </a:pPr>
            <a:r>
              <a:rPr lang="en-US" sz="1350" b="1" dirty="0">
                <a:solidFill>
                  <a:srgbClr val="4ADE80"/>
                </a:solidFill>
                <a:latin typeface="ui-sans-serif" pitchFamily="34" charset="0"/>
                <a:ea typeface="ui-sans-serif" pitchFamily="34" charset="-122"/>
                <a:cs typeface="ui-sans-serif" pitchFamily="34" charset="-120"/>
              </a:rPr>
              <a:t>Usabilidad</a:t>
            </a:r>
            <a:endParaRPr lang="en-US" sz="1350" dirty="0"/>
          </a:p>
        </p:txBody>
      </p:sp>
      <p:sp>
        <p:nvSpPr>
          <p:cNvPr id="42" name="Text 17"/>
          <p:cNvSpPr/>
          <p:nvPr/>
        </p:nvSpPr>
        <p:spPr>
          <a:xfrm>
            <a:off x="6553200" y="3543300"/>
            <a:ext cx="2286000" cy="571500"/>
          </a:xfrm>
          <a:prstGeom prst="rect">
            <a:avLst/>
          </a:prstGeom>
          <a:noFill/>
          <a:ln/>
        </p:spPr>
        <p:txBody>
          <a:bodyPr vert="horz" wrap="square" lIns="0" tIns="0" rIns="0" bIns="0" rtlCol="0" anchor="t"/>
          <a:lstStyle/>
          <a:p>
            <a:pPr marL="0" indent="0">
              <a:lnSpc>
                <a:spcPts val="1500"/>
              </a:lnSpc>
              <a:buNone/>
            </a:pPr>
            <a:r>
              <a:rPr lang="en-US" sz="1050" dirty="0">
                <a:solidFill>
                  <a:srgbClr val="D1D5DB"/>
                </a:solidFill>
                <a:latin typeface="ui-sans-serif" pitchFamily="34" charset="0"/>
                <a:ea typeface="ui-sans-serif" pitchFamily="34" charset="-122"/>
                <a:cs typeface="ui-sans-serif" pitchFamily="34" charset="-120"/>
              </a:rPr>
              <a:t>Facilita la comprensión, el aprendizaje y la operación del software</a:t>
            </a:r>
            <a:endParaRPr lang="en-US" sz="1050" dirty="0"/>
          </a:p>
        </p:txBody>
      </p:sp>
      <p:sp>
        <p:nvSpPr>
          <p:cNvPr id="43" name="Text 18"/>
          <p:cNvSpPr/>
          <p:nvPr/>
        </p:nvSpPr>
        <p:spPr>
          <a:xfrm>
            <a:off x="9715500" y="3181350"/>
            <a:ext cx="1110496" cy="266700"/>
          </a:xfrm>
          <a:prstGeom prst="rect">
            <a:avLst/>
          </a:prstGeom>
          <a:noFill/>
          <a:ln/>
        </p:spPr>
        <p:txBody>
          <a:bodyPr vert="horz" wrap="square" lIns="0" tIns="0" rIns="0" bIns="0" rtlCol="0" anchor="t"/>
          <a:lstStyle/>
          <a:p>
            <a:pPr marL="0" indent="0">
              <a:lnSpc>
                <a:spcPts val="2100"/>
              </a:lnSpc>
              <a:buNone/>
            </a:pPr>
            <a:r>
              <a:rPr lang="en-US" sz="1350" b="1" dirty="0">
                <a:solidFill>
                  <a:srgbClr val="60A5FA"/>
                </a:solidFill>
                <a:latin typeface="ui-sans-serif" pitchFamily="34" charset="0"/>
                <a:ea typeface="ui-sans-serif" pitchFamily="34" charset="-122"/>
                <a:cs typeface="ui-sans-serif" pitchFamily="34" charset="-120"/>
              </a:rPr>
              <a:t>Eficiencia</a:t>
            </a:r>
            <a:endParaRPr lang="en-US" sz="1350" dirty="0"/>
          </a:p>
        </p:txBody>
      </p:sp>
      <p:sp>
        <p:nvSpPr>
          <p:cNvPr id="44" name="Text 19"/>
          <p:cNvSpPr/>
          <p:nvPr/>
        </p:nvSpPr>
        <p:spPr>
          <a:xfrm>
            <a:off x="9296400" y="3543300"/>
            <a:ext cx="2286000" cy="381000"/>
          </a:xfrm>
          <a:prstGeom prst="rect">
            <a:avLst/>
          </a:prstGeom>
          <a:noFill/>
          <a:ln/>
        </p:spPr>
        <p:txBody>
          <a:bodyPr vert="horz" wrap="square" lIns="0" tIns="0" rIns="0" bIns="0" rtlCol="0" anchor="t"/>
          <a:lstStyle/>
          <a:p>
            <a:pPr marL="0" indent="0">
              <a:lnSpc>
                <a:spcPts val="1500"/>
              </a:lnSpc>
              <a:buNone/>
            </a:pPr>
            <a:r>
              <a:rPr lang="en-US" sz="1050" dirty="0">
                <a:solidFill>
                  <a:srgbClr val="D1D5DB"/>
                </a:solidFill>
                <a:latin typeface="ui-sans-serif" pitchFamily="34" charset="0"/>
                <a:ea typeface="ui-sans-serif" pitchFamily="34" charset="-122"/>
                <a:cs typeface="ui-sans-serif" pitchFamily="34" charset="-120"/>
              </a:rPr>
              <a:t>Determina el uso adecuado de los recursos por parte del software</a:t>
            </a:r>
            <a:endParaRPr lang="en-US" sz="1050" dirty="0"/>
          </a:p>
        </p:txBody>
      </p:sp>
      <p:sp>
        <p:nvSpPr>
          <p:cNvPr id="45" name="Text 20"/>
          <p:cNvSpPr/>
          <p:nvPr/>
        </p:nvSpPr>
        <p:spPr>
          <a:xfrm>
            <a:off x="457200" y="6210300"/>
            <a:ext cx="2087761"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24 de Noviembre de 2025</a:t>
            </a:r>
            <a:endParaRPr lang="en-US" sz="1050" dirty="0"/>
          </a:p>
        </p:txBody>
      </p:sp>
      <p:sp>
        <p:nvSpPr>
          <p:cNvPr id="46" name="Text 21"/>
          <p:cNvSpPr/>
          <p:nvPr/>
        </p:nvSpPr>
        <p:spPr>
          <a:xfrm>
            <a:off x="10742265" y="6210300"/>
            <a:ext cx="1191042"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Página 4 de 25</a:t>
            </a:r>
            <a:endParaRPr lang="en-US" sz="1050" dirty="0"/>
          </a:p>
        </p:txBody>
      </p:sp>
      <p:sp>
        <p:nvSpPr>
          <p:cNvPr id="48" name="TextBox 47">
            <a:extLst>
              <a:ext uri="{FF2B5EF4-FFF2-40B4-BE49-F238E27FC236}">
                <a16:creationId xmlns:a16="http://schemas.microsoft.com/office/drawing/2014/main" id="{22D70C3F-83CA-B84A-3033-01433C236AAC}"/>
              </a:ext>
            </a:extLst>
          </p:cNvPr>
          <p:cNvSpPr txBox="1"/>
          <p:nvPr/>
        </p:nvSpPr>
        <p:spPr>
          <a:xfrm>
            <a:off x="6069038" y="4620780"/>
            <a:ext cx="6122962" cy="1862048"/>
          </a:xfrm>
          <a:prstGeom prst="rect">
            <a:avLst/>
          </a:prstGeom>
          <a:noFill/>
        </p:spPr>
        <p:txBody>
          <a:bodyPr wrap="square">
            <a:spAutoFit/>
          </a:bodyPr>
          <a:lstStyle/>
          <a:p>
            <a:pPr algn="l" fontAlgn="base">
              <a:spcAft>
                <a:spcPts val="1800"/>
              </a:spcAft>
              <a:buFont typeface="+mj-lt"/>
              <a:buAutoNum type="arabicPeriod"/>
            </a:pPr>
            <a:r>
              <a:rPr lang="es-MX" sz="1400" b="0" i="0" dirty="0">
                <a:solidFill>
                  <a:srgbClr val="FFFFFF"/>
                </a:solidFill>
                <a:effectLst/>
                <a:latin typeface="Nunito" pitchFamily="2" charset="0"/>
              </a:rPr>
              <a:t>ISO/IEC 9126-1: Modelo de calidad - Qué evaluar</a:t>
            </a:r>
          </a:p>
          <a:p>
            <a:pPr algn="l" fontAlgn="base">
              <a:spcAft>
                <a:spcPts val="1800"/>
              </a:spcAft>
              <a:buFont typeface="+mj-lt"/>
              <a:buAutoNum type="arabicPeriod" startAt="2"/>
            </a:pPr>
            <a:r>
              <a:rPr lang="es-MX" sz="1400" b="0" i="0" dirty="0">
                <a:solidFill>
                  <a:srgbClr val="FFFFFF"/>
                </a:solidFill>
                <a:effectLst/>
                <a:latin typeface="Nunito" pitchFamily="2" charset="0"/>
              </a:rPr>
              <a:t>ISO/IEC 9126-2: Métricas externas - Cómo medir en funcionamiento</a:t>
            </a:r>
          </a:p>
          <a:p>
            <a:pPr algn="l" fontAlgn="base">
              <a:spcAft>
                <a:spcPts val="1800"/>
              </a:spcAft>
              <a:buFont typeface="+mj-lt"/>
              <a:buAutoNum type="arabicPeriod" startAt="3"/>
            </a:pPr>
            <a:r>
              <a:rPr lang="es-MX" sz="1400" b="0" i="0" dirty="0">
                <a:solidFill>
                  <a:srgbClr val="FFFFFF"/>
                </a:solidFill>
                <a:effectLst/>
                <a:latin typeface="Nunito" pitchFamily="2" charset="0"/>
              </a:rPr>
              <a:t>ISO/IEC 9126-3: Métricas internas - Cómo medir internamente</a:t>
            </a:r>
          </a:p>
          <a:p>
            <a:pPr algn="l" fontAlgn="base">
              <a:spcAft>
                <a:spcPts val="1800"/>
              </a:spcAft>
              <a:buFont typeface="+mj-lt"/>
              <a:buAutoNum type="arabicPeriod" startAt="4"/>
            </a:pPr>
            <a:r>
              <a:rPr lang="es-MX" sz="1400" b="0" i="0" dirty="0">
                <a:solidFill>
                  <a:srgbClr val="FFFFFF"/>
                </a:solidFill>
                <a:effectLst/>
                <a:latin typeface="Nunito" pitchFamily="2" charset="0"/>
              </a:rPr>
              <a:t>ISO/IEC 9126-4: Matrices de calidad en uso - </a:t>
            </a:r>
            <a:r>
              <a:rPr lang="es-ES" sz="1400" b="0" i="0" dirty="0">
                <a:solidFill>
                  <a:srgbClr val="FFFFFF"/>
                </a:solidFill>
                <a:effectLst/>
                <a:latin typeface="Nunito" pitchFamily="2" charset="0"/>
              </a:rPr>
              <a:t>Cómo medir para el usuario</a:t>
            </a:r>
            <a:endParaRPr lang="es-MX" sz="1400" b="0" i="0" dirty="0">
              <a:solidFill>
                <a:srgbClr val="FFFFFF"/>
              </a:solidFill>
              <a:effectLst/>
              <a:latin typeface="Nunito" pitchFamily="2"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914400"/>
            <a:ext cx="914400" cy="38100"/>
          </a:xfrm>
          <a:prstGeom prst="rect">
            <a:avLst/>
          </a:prstGeom>
        </p:spPr>
      </p:pic>
      <p:pic>
        <p:nvPicPr>
          <p:cNvPr id="4" name="Image 2" descr="preencoded.png"/>
          <p:cNvPicPr>
            <a:picLocks noChangeAspect="1"/>
          </p:cNvPicPr>
          <p:nvPr/>
        </p:nvPicPr>
        <p:blipFill>
          <a:blip r:embed="rId5"/>
          <a:stretch>
            <a:fillRect/>
          </a:stretch>
        </p:blipFill>
        <p:spPr>
          <a:xfrm>
            <a:off x="457200" y="2228850"/>
            <a:ext cx="3606701" cy="1447800"/>
          </a:xfrm>
          <a:prstGeom prst="rect">
            <a:avLst/>
          </a:prstGeom>
        </p:spPr>
      </p:pic>
      <p:pic>
        <p:nvPicPr>
          <p:cNvPr id="5" name="Image 3" descr="preencoded.png"/>
          <p:cNvPicPr>
            <a:picLocks noChangeAspect="1"/>
          </p:cNvPicPr>
          <p:nvPr/>
        </p:nvPicPr>
        <p:blipFill>
          <a:blip r:embed="rId6"/>
          <a:stretch>
            <a:fillRect/>
          </a:stretch>
        </p:blipFill>
        <p:spPr>
          <a:xfrm>
            <a:off x="609600" y="2381250"/>
            <a:ext cx="381000" cy="381000"/>
          </a:xfrm>
          <a:prstGeom prst="rect">
            <a:avLst/>
          </a:prstGeom>
        </p:spPr>
      </p:pic>
      <p:pic>
        <p:nvPicPr>
          <p:cNvPr id="6" name="Image 4" descr="preencoded.png"/>
          <p:cNvPicPr>
            <a:picLocks noChangeAspect="1"/>
          </p:cNvPicPr>
          <p:nvPr/>
        </p:nvPicPr>
        <p:blipFill>
          <a:blip r:embed="rId7"/>
          <a:stretch>
            <a:fillRect/>
          </a:stretch>
        </p:blipFill>
        <p:spPr>
          <a:xfrm>
            <a:off x="704850" y="2438400"/>
            <a:ext cx="190500" cy="266700"/>
          </a:xfrm>
          <a:prstGeom prst="rect">
            <a:avLst/>
          </a:prstGeom>
        </p:spPr>
      </p:pic>
      <p:pic>
        <p:nvPicPr>
          <p:cNvPr id="7" name="Image 5" descr="preencoded.png"/>
          <p:cNvPicPr>
            <a:picLocks noChangeAspect="1"/>
          </p:cNvPicPr>
          <p:nvPr/>
        </p:nvPicPr>
        <p:blipFill>
          <a:blip r:embed="rId8"/>
          <a:stretch>
            <a:fillRect/>
          </a:stretch>
        </p:blipFill>
        <p:spPr>
          <a:xfrm>
            <a:off x="4292501" y="2228850"/>
            <a:ext cx="3606850" cy="1447800"/>
          </a:xfrm>
          <a:prstGeom prst="rect">
            <a:avLst/>
          </a:prstGeom>
        </p:spPr>
      </p:pic>
      <p:pic>
        <p:nvPicPr>
          <p:cNvPr id="8" name="Image 6" descr="preencoded.png"/>
          <p:cNvPicPr>
            <a:picLocks noChangeAspect="1"/>
          </p:cNvPicPr>
          <p:nvPr/>
        </p:nvPicPr>
        <p:blipFill>
          <a:blip r:embed="rId9"/>
          <a:stretch>
            <a:fillRect/>
          </a:stretch>
        </p:blipFill>
        <p:spPr>
          <a:xfrm>
            <a:off x="4444901" y="2381250"/>
            <a:ext cx="381000" cy="381000"/>
          </a:xfrm>
          <a:prstGeom prst="rect">
            <a:avLst/>
          </a:prstGeom>
        </p:spPr>
      </p:pic>
      <p:pic>
        <p:nvPicPr>
          <p:cNvPr id="9" name="Image 7" descr="preencoded.png"/>
          <p:cNvPicPr>
            <a:picLocks noChangeAspect="1"/>
          </p:cNvPicPr>
          <p:nvPr/>
        </p:nvPicPr>
        <p:blipFill>
          <a:blip r:embed="rId10"/>
          <a:stretch>
            <a:fillRect/>
          </a:stretch>
        </p:blipFill>
        <p:spPr>
          <a:xfrm>
            <a:off x="4540151" y="2438400"/>
            <a:ext cx="190500" cy="266700"/>
          </a:xfrm>
          <a:prstGeom prst="rect">
            <a:avLst/>
          </a:prstGeom>
        </p:spPr>
      </p:pic>
      <p:pic>
        <p:nvPicPr>
          <p:cNvPr id="10" name="Image 8" descr="preencoded.png"/>
          <p:cNvPicPr>
            <a:picLocks noChangeAspect="1"/>
          </p:cNvPicPr>
          <p:nvPr/>
        </p:nvPicPr>
        <p:blipFill>
          <a:blip r:embed="rId11"/>
          <a:stretch>
            <a:fillRect/>
          </a:stretch>
        </p:blipFill>
        <p:spPr>
          <a:xfrm>
            <a:off x="8127950" y="2228850"/>
            <a:ext cx="3606701" cy="1447800"/>
          </a:xfrm>
          <a:prstGeom prst="rect">
            <a:avLst/>
          </a:prstGeom>
        </p:spPr>
      </p:pic>
      <p:pic>
        <p:nvPicPr>
          <p:cNvPr id="11" name="Image 9" descr="preencoded.png"/>
          <p:cNvPicPr>
            <a:picLocks noChangeAspect="1"/>
          </p:cNvPicPr>
          <p:nvPr/>
        </p:nvPicPr>
        <p:blipFill>
          <a:blip r:embed="rId12"/>
          <a:stretch>
            <a:fillRect/>
          </a:stretch>
        </p:blipFill>
        <p:spPr>
          <a:xfrm>
            <a:off x="8280350" y="2381250"/>
            <a:ext cx="381000" cy="381000"/>
          </a:xfrm>
          <a:prstGeom prst="rect">
            <a:avLst/>
          </a:prstGeom>
        </p:spPr>
      </p:pic>
      <p:pic>
        <p:nvPicPr>
          <p:cNvPr id="12" name="Image 10" descr="preencoded.png"/>
          <p:cNvPicPr>
            <a:picLocks noChangeAspect="1"/>
          </p:cNvPicPr>
          <p:nvPr/>
        </p:nvPicPr>
        <p:blipFill>
          <a:blip r:embed="rId13"/>
          <a:stretch>
            <a:fillRect/>
          </a:stretch>
        </p:blipFill>
        <p:spPr>
          <a:xfrm>
            <a:off x="8385125" y="2438400"/>
            <a:ext cx="171450" cy="266700"/>
          </a:xfrm>
          <a:prstGeom prst="rect">
            <a:avLst/>
          </a:prstGeom>
        </p:spPr>
      </p:pic>
      <p:pic>
        <p:nvPicPr>
          <p:cNvPr id="13" name="Image 11" descr="preencoded.png"/>
          <p:cNvPicPr>
            <a:picLocks noChangeAspect="1"/>
          </p:cNvPicPr>
          <p:nvPr/>
        </p:nvPicPr>
        <p:blipFill>
          <a:blip r:embed="rId14"/>
          <a:stretch>
            <a:fillRect/>
          </a:stretch>
        </p:blipFill>
        <p:spPr>
          <a:xfrm>
            <a:off x="457200" y="3905250"/>
            <a:ext cx="3606701" cy="1447800"/>
          </a:xfrm>
          <a:prstGeom prst="rect">
            <a:avLst/>
          </a:prstGeom>
        </p:spPr>
      </p:pic>
      <p:pic>
        <p:nvPicPr>
          <p:cNvPr id="14" name="Image 12" descr="preencoded.png"/>
          <p:cNvPicPr>
            <a:picLocks noChangeAspect="1"/>
          </p:cNvPicPr>
          <p:nvPr/>
        </p:nvPicPr>
        <p:blipFill>
          <a:blip r:embed="rId15"/>
          <a:stretch>
            <a:fillRect/>
          </a:stretch>
        </p:blipFill>
        <p:spPr>
          <a:xfrm>
            <a:off x="609600" y="4057650"/>
            <a:ext cx="381000" cy="381000"/>
          </a:xfrm>
          <a:prstGeom prst="rect">
            <a:avLst/>
          </a:prstGeom>
        </p:spPr>
      </p:pic>
      <p:pic>
        <p:nvPicPr>
          <p:cNvPr id="15" name="Image 13" descr="preencoded.png"/>
          <p:cNvPicPr>
            <a:picLocks noChangeAspect="1"/>
          </p:cNvPicPr>
          <p:nvPr/>
        </p:nvPicPr>
        <p:blipFill>
          <a:blip r:embed="rId16"/>
          <a:stretch>
            <a:fillRect/>
          </a:stretch>
        </p:blipFill>
        <p:spPr>
          <a:xfrm>
            <a:off x="690563" y="4114800"/>
            <a:ext cx="219075" cy="266700"/>
          </a:xfrm>
          <a:prstGeom prst="rect">
            <a:avLst/>
          </a:prstGeom>
        </p:spPr>
      </p:pic>
      <p:pic>
        <p:nvPicPr>
          <p:cNvPr id="16" name="Image 14" descr="preencoded.png"/>
          <p:cNvPicPr>
            <a:picLocks noChangeAspect="1"/>
          </p:cNvPicPr>
          <p:nvPr/>
        </p:nvPicPr>
        <p:blipFill>
          <a:blip r:embed="rId17"/>
          <a:stretch>
            <a:fillRect/>
          </a:stretch>
        </p:blipFill>
        <p:spPr>
          <a:xfrm>
            <a:off x="4292501" y="3905250"/>
            <a:ext cx="3606850" cy="1447800"/>
          </a:xfrm>
          <a:prstGeom prst="rect">
            <a:avLst/>
          </a:prstGeom>
        </p:spPr>
      </p:pic>
      <p:pic>
        <p:nvPicPr>
          <p:cNvPr id="17" name="Image 15" descr="preencoded.png"/>
          <p:cNvPicPr>
            <a:picLocks noChangeAspect="1"/>
          </p:cNvPicPr>
          <p:nvPr/>
        </p:nvPicPr>
        <p:blipFill>
          <a:blip r:embed="rId18"/>
          <a:stretch>
            <a:fillRect/>
          </a:stretch>
        </p:blipFill>
        <p:spPr>
          <a:xfrm>
            <a:off x="4444901" y="4057650"/>
            <a:ext cx="381000" cy="381000"/>
          </a:xfrm>
          <a:prstGeom prst="rect">
            <a:avLst/>
          </a:prstGeom>
        </p:spPr>
      </p:pic>
      <p:pic>
        <p:nvPicPr>
          <p:cNvPr id="18" name="Image 16" descr="preencoded.png"/>
          <p:cNvPicPr>
            <a:picLocks noChangeAspect="1"/>
          </p:cNvPicPr>
          <p:nvPr/>
        </p:nvPicPr>
        <p:blipFill>
          <a:blip r:embed="rId19"/>
          <a:stretch>
            <a:fillRect/>
          </a:stretch>
        </p:blipFill>
        <p:spPr>
          <a:xfrm>
            <a:off x="4540151" y="4114800"/>
            <a:ext cx="190500" cy="266700"/>
          </a:xfrm>
          <a:prstGeom prst="rect">
            <a:avLst/>
          </a:prstGeom>
        </p:spPr>
      </p:pic>
      <p:pic>
        <p:nvPicPr>
          <p:cNvPr id="19" name="Image 17" descr="preencoded.png"/>
          <p:cNvPicPr>
            <a:picLocks noChangeAspect="1"/>
          </p:cNvPicPr>
          <p:nvPr/>
        </p:nvPicPr>
        <p:blipFill>
          <a:blip r:embed="rId20"/>
          <a:stretch>
            <a:fillRect/>
          </a:stretch>
        </p:blipFill>
        <p:spPr>
          <a:xfrm>
            <a:off x="8127950" y="3905250"/>
            <a:ext cx="3606701" cy="1447800"/>
          </a:xfrm>
          <a:prstGeom prst="rect">
            <a:avLst/>
          </a:prstGeom>
        </p:spPr>
      </p:pic>
      <p:pic>
        <p:nvPicPr>
          <p:cNvPr id="20" name="Image 18" descr="preencoded.png"/>
          <p:cNvPicPr>
            <a:picLocks noChangeAspect="1"/>
          </p:cNvPicPr>
          <p:nvPr/>
        </p:nvPicPr>
        <p:blipFill>
          <a:blip r:embed="rId21"/>
          <a:stretch>
            <a:fillRect/>
          </a:stretch>
        </p:blipFill>
        <p:spPr>
          <a:xfrm>
            <a:off x="8280350" y="4057650"/>
            <a:ext cx="381000" cy="381000"/>
          </a:xfrm>
          <a:prstGeom prst="rect">
            <a:avLst/>
          </a:prstGeom>
        </p:spPr>
      </p:pic>
      <p:pic>
        <p:nvPicPr>
          <p:cNvPr id="21" name="Image 19" descr="preencoded.png"/>
          <p:cNvPicPr>
            <a:picLocks noChangeAspect="1"/>
          </p:cNvPicPr>
          <p:nvPr/>
        </p:nvPicPr>
        <p:blipFill>
          <a:blip r:embed="rId22"/>
          <a:stretch>
            <a:fillRect/>
          </a:stretch>
        </p:blipFill>
        <p:spPr>
          <a:xfrm>
            <a:off x="8375600" y="4114800"/>
            <a:ext cx="190500" cy="266700"/>
          </a:xfrm>
          <a:prstGeom prst="rect">
            <a:avLst/>
          </a:prstGeom>
        </p:spPr>
      </p:pic>
      <p:pic>
        <p:nvPicPr>
          <p:cNvPr id="22" name="Image 20" descr="preencoded.png"/>
          <p:cNvPicPr>
            <a:picLocks noChangeAspect="1"/>
          </p:cNvPicPr>
          <p:nvPr/>
        </p:nvPicPr>
        <p:blipFill>
          <a:blip r:embed="rId23"/>
          <a:stretch>
            <a:fillRect/>
          </a:stretch>
        </p:blipFill>
        <p:spPr>
          <a:xfrm>
            <a:off x="0" y="0"/>
            <a:ext cx="12192000" cy="6858000"/>
          </a:xfrm>
          <a:prstGeom prst="rect">
            <a:avLst/>
          </a:prstGeom>
        </p:spPr>
      </p:pic>
      <p:sp>
        <p:nvSpPr>
          <p:cNvPr id="23" name="Text 0"/>
          <p:cNvSpPr/>
          <p:nvPr/>
        </p:nvSpPr>
        <p:spPr>
          <a:xfrm>
            <a:off x="457200" y="457200"/>
            <a:ext cx="1353312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97316"/>
                </a:solidFill>
                <a:latin typeface="ui-sans-serif" pitchFamily="34" charset="0"/>
                <a:ea typeface="ui-sans-serif" pitchFamily="34" charset="-122"/>
                <a:cs typeface="ui-sans-serif" pitchFamily="34" charset="-120"/>
              </a:rPr>
              <a:t>Modelo de Calidad ISO/IEC 9126</a:t>
            </a:r>
            <a:endParaRPr lang="en-US" sz="2700" dirty="0"/>
          </a:p>
        </p:txBody>
      </p:sp>
      <p:sp>
        <p:nvSpPr>
          <p:cNvPr id="24" name="Text 1"/>
          <p:cNvSpPr/>
          <p:nvPr/>
        </p:nvSpPr>
        <p:spPr>
          <a:xfrm>
            <a:off x="-670560" y="1181100"/>
            <a:ext cx="13533120" cy="266700"/>
          </a:xfrm>
          <a:prstGeom prst="rect">
            <a:avLst/>
          </a:prstGeom>
          <a:noFill/>
          <a:ln/>
        </p:spPr>
        <p:txBody>
          <a:bodyPr vert="horz" wrap="square" lIns="0" tIns="0" rIns="0" bIns="0" rtlCol="0" anchor="t"/>
          <a:lstStyle/>
          <a:p>
            <a:pPr marL="0" indent="0" algn="ctr">
              <a:lnSpc>
                <a:spcPts val="2100"/>
              </a:lnSpc>
              <a:buNone/>
            </a:pPr>
            <a:r>
              <a:rPr lang="en-US" sz="1500" dirty="0">
                <a:solidFill>
                  <a:srgbClr val="D1D5DB"/>
                </a:solidFill>
                <a:latin typeface="ui-sans-serif" pitchFamily="34" charset="0"/>
                <a:ea typeface="ui-sans-serif" pitchFamily="34" charset="-122"/>
                <a:cs typeface="ui-sans-serif" pitchFamily="34" charset="-120"/>
              </a:rPr>
              <a:t>El estándar ISO/IEC 9126 clasifica la calidad del software en seis características principales</a:t>
            </a:r>
            <a:endParaRPr lang="en-US" sz="1500" dirty="0"/>
          </a:p>
        </p:txBody>
      </p:sp>
      <p:sp>
        <p:nvSpPr>
          <p:cNvPr id="25" name="Text 2"/>
          <p:cNvSpPr/>
          <p:nvPr/>
        </p:nvSpPr>
        <p:spPr>
          <a:xfrm>
            <a:off x="1104900" y="2438400"/>
            <a:ext cx="1796475" cy="266700"/>
          </a:xfrm>
          <a:prstGeom prst="rect">
            <a:avLst/>
          </a:prstGeom>
          <a:noFill/>
          <a:ln/>
        </p:spPr>
        <p:txBody>
          <a:bodyPr vert="horz" wrap="square" lIns="0" tIns="0" rIns="0" bIns="0" rtlCol="0" anchor="t"/>
          <a:lstStyle/>
          <a:p>
            <a:pPr marL="0" indent="0">
              <a:lnSpc>
                <a:spcPts val="2100"/>
              </a:lnSpc>
              <a:buNone/>
            </a:pPr>
            <a:r>
              <a:rPr lang="en-US" sz="1500" b="1" dirty="0">
                <a:solidFill>
                  <a:srgbClr val="FB923C"/>
                </a:solidFill>
                <a:latin typeface="ui-sans-serif" pitchFamily="34" charset="0"/>
                <a:ea typeface="ui-sans-serif" pitchFamily="34" charset="-122"/>
                <a:cs typeface="ui-sans-serif" pitchFamily="34" charset="-120"/>
              </a:rPr>
              <a:t>Funcionalidad</a:t>
            </a:r>
            <a:endParaRPr lang="en-US" sz="1500" dirty="0"/>
          </a:p>
        </p:txBody>
      </p:sp>
      <p:sp>
        <p:nvSpPr>
          <p:cNvPr id="26" name="Text 3"/>
          <p:cNvSpPr/>
          <p:nvPr/>
        </p:nvSpPr>
        <p:spPr>
          <a:xfrm>
            <a:off x="609600" y="2838450"/>
            <a:ext cx="3301901" cy="4572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Evalúa si el software cumple con las funciones para las que fue diseñado</a:t>
            </a:r>
            <a:endParaRPr lang="en-US" sz="1200" dirty="0"/>
          </a:p>
        </p:txBody>
      </p:sp>
      <p:sp>
        <p:nvSpPr>
          <p:cNvPr id="27" name="Text 4"/>
          <p:cNvSpPr/>
          <p:nvPr/>
        </p:nvSpPr>
        <p:spPr>
          <a:xfrm>
            <a:off x="4940201" y="2438400"/>
            <a:ext cx="1269087" cy="266700"/>
          </a:xfrm>
          <a:prstGeom prst="rect">
            <a:avLst/>
          </a:prstGeom>
          <a:noFill/>
          <a:ln/>
        </p:spPr>
        <p:txBody>
          <a:bodyPr vert="horz" wrap="square" lIns="0" tIns="0" rIns="0" bIns="0" rtlCol="0" anchor="t"/>
          <a:lstStyle/>
          <a:p>
            <a:pPr marL="0" indent="0">
              <a:lnSpc>
                <a:spcPts val="2100"/>
              </a:lnSpc>
              <a:buNone/>
            </a:pPr>
            <a:r>
              <a:rPr lang="en-US" sz="1500" b="1" dirty="0">
                <a:solidFill>
                  <a:srgbClr val="F87171"/>
                </a:solidFill>
                <a:latin typeface="ui-sans-serif" pitchFamily="34" charset="0"/>
                <a:ea typeface="ui-sans-serif" pitchFamily="34" charset="-122"/>
                <a:cs typeface="ui-sans-serif" pitchFamily="34" charset="-120"/>
              </a:rPr>
              <a:t>Fiabilidad</a:t>
            </a:r>
            <a:endParaRPr lang="en-US" sz="1500" dirty="0"/>
          </a:p>
        </p:txBody>
      </p:sp>
      <p:sp>
        <p:nvSpPr>
          <p:cNvPr id="28" name="Text 5"/>
          <p:cNvSpPr/>
          <p:nvPr/>
        </p:nvSpPr>
        <p:spPr>
          <a:xfrm>
            <a:off x="4444901" y="2838450"/>
            <a:ext cx="3302050" cy="6858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Indica la capacidad del software de mantener su nivel de desempeño bajo condiciones determinadas</a:t>
            </a:r>
            <a:endParaRPr lang="en-US" sz="1200" dirty="0"/>
          </a:p>
        </p:txBody>
      </p:sp>
      <p:sp>
        <p:nvSpPr>
          <p:cNvPr id="29" name="Text 6"/>
          <p:cNvSpPr/>
          <p:nvPr/>
        </p:nvSpPr>
        <p:spPr>
          <a:xfrm>
            <a:off x="8775650" y="2438400"/>
            <a:ext cx="1356241" cy="266700"/>
          </a:xfrm>
          <a:prstGeom prst="rect">
            <a:avLst/>
          </a:prstGeom>
          <a:noFill/>
          <a:ln/>
        </p:spPr>
        <p:txBody>
          <a:bodyPr vert="horz" wrap="square" lIns="0" tIns="0" rIns="0" bIns="0" rtlCol="0" anchor="t"/>
          <a:lstStyle/>
          <a:p>
            <a:pPr marL="0" indent="0">
              <a:lnSpc>
                <a:spcPts val="2100"/>
              </a:lnSpc>
              <a:buNone/>
            </a:pPr>
            <a:r>
              <a:rPr lang="en-US" sz="1500" b="1" dirty="0">
                <a:solidFill>
                  <a:srgbClr val="4ADE80"/>
                </a:solidFill>
                <a:latin typeface="ui-sans-serif" pitchFamily="34" charset="0"/>
                <a:ea typeface="ui-sans-serif" pitchFamily="34" charset="-122"/>
                <a:cs typeface="ui-sans-serif" pitchFamily="34" charset="-120"/>
              </a:rPr>
              <a:t>Usabilidad</a:t>
            </a:r>
            <a:endParaRPr lang="en-US" sz="1500" dirty="0"/>
          </a:p>
        </p:txBody>
      </p:sp>
      <p:sp>
        <p:nvSpPr>
          <p:cNvPr id="30" name="Text 7"/>
          <p:cNvSpPr/>
          <p:nvPr/>
        </p:nvSpPr>
        <p:spPr>
          <a:xfrm>
            <a:off x="8280350" y="2838450"/>
            <a:ext cx="3301901" cy="4572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Facilita la comprensión, el aprendizaje y la operación del software</a:t>
            </a:r>
            <a:endParaRPr lang="en-US" sz="1200" dirty="0"/>
          </a:p>
        </p:txBody>
      </p:sp>
      <p:sp>
        <p:nvSpPr>
          <p:cNvPr id="31" name="Text 8"/>
          <p:cNvSpPr/>
          <p:nvPr/>
        </p:nvSpPr>
        <p:spPr>
          <a:xfrm>
            <a:off x="1104900" y="4114800"/>
            <a:ext cx="1233904" cy="266700"/>
          </a:xfrm>
          <a:prstGeom prst="rect">
            <a:avLst/>
          </a:prstGeom>
          <a:noFill/>
          <a:ln/>
        </p:spPr>
        <p:txBody>
          <a:bodyPr vert="horz" wrap="square" lIns="0" tIns="0" rIns="0" bIns="0" rtlCol="0" anchor="t"/>
          <a:lstStyle/>
          <a:p>
            <a:pPr marL="0" indent="0">
              <a:lnSpc>
                <a:spcPts val="2100"/>
              </a:lnSpc>
              <a:buNone/>
            </a:pPr>
            <a:r>
              <a:rPr lang="en-US" sz="1500" b="1" dirty="0">
                <a:solidFill>
                  <a:srgbClr val="60A5FA"/>
                </a:solidFill>
                <a:latin typeface="ui-sans-serif" pitchFamily="34" charset="0"/>
                <a:ea typeface="ui-sans-serif" pitchFamily="34" charset="-122"/>
                <a:cs typeface="ui-sans-serif" pitchFamily="34" charset="-120"/>
              </a:rPr>
              <a:t>Eficiencia</a:t>
            </a:r>
            <a:endParaRPr lang="en-US" sz="1500" dirty="0"/>
          </a:p>
        </p:txBody>
      </p:sp>
      <p:sp>
        <p:nvSpPr>
          <p:cNvPr id="32" name="Text 9"/>
          <p:cNvSpPr/>
          <p:nvPr/>
        </p:nvSpPr>
        <p:spPr>
          <a:xfrm>
            <a:off x="609600" y="4514850"/>
            <a:ext cx="3301901" cy="4572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Determina el uso adecuado de los recursos por parte del software</a:t>
            </a:r>
            <a:endParaRPr lang="en-US" sz="1200" dirty="0"/>
          </a:p>
        </p:txBody>
      </p:sp>
      <p:sp>
        <p:nvSpPr>
          <p:cNvPr id="33" name="Text 10"/>
          <p:cNvSpPr/>
          <p:nvPr/>
        </p:nvSpPr>
        <p:spPr>
          <a:xfrm>
            <a:off x="4940201" y="4114800"/>
            <a:ext cx="1930241" cy="266700"/>
          </a:xfrm>
          <a:prstGeom prst="rect">
            <a:avLst/>
          </a:prstGeom>
          <a:noFill/>
          <a:ln/>
        </p:spPr>
        <p:txBody>
          <a:bodyPr vert="horz" wrap="square" lIns="0" tIns="0" rIns="0" bIns="0" rtlCol="0" anchor="t"/>
          <a:lstStyle/>
          <a:p>
            <a:pPr marL="0" indent="0">
              <a:lnSpc>
                <a:spcPts val="2100"/>
              </a:lnSpc>
              <a:buNone/>
            </a:pPr>
            <a:r>
              <a:rPr lang="en-US" sz="1500" b="1" dirty="0">
                <a:solidFill>
                  <a:srgbClr val="C084FC"/>
                </a:solidFill>
                <a:latin typeface="ui-sans-serif" pitchFamily="34" charset="0"/>
                <a:ea typeface="ui-sans-serif" pitchFamily="34" charset="-122"/>
                <a:cs typeface="ui-sans-serif" pitchFamily="34" charset="-120"/>
              </a:rPr>
              <a:t>Mantenibilidad</a:t>
            </a:r>
            <a:endParaRPr lang="en-US" sz="1500" dirty="0"/>
          </a:p>
        </p:txBody>
      </p:sp>
      <p:sp>
        <p:nvSpPr>
          <p:cNvPr id="34" name="Text 11"/>
          <p:cNvSpPr/>
          <p:nvPr/>
        </p:nvSpPr>
        <p:spPr>
          <a:xfrm>
            <a:off x="4444901" y="4514850"/>
            <a:ext cx="3302050" cy="6858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Mide la facilidad con la que el software puede ser modificado para corregir fallos o mejorar</a:t>
            </a:r>
            <a:endParaRPr lang="en-US" sz="1200" dirty="0"/>
          </a:p>
        </p:txBody>
      </p:sp>
      <p:sp>
        <p:nvSpPr>
          <p:cNvPr id="35" name="Text 12"/>
          <p:cNvSpPr/>
          <p:nvPr/>
        </p:nvSpPr>
        <p:spPr>
          <a:xfrm>
            <a:off x="8775650" y="4114800"/>
            <a:ext cx="1581269" cy="266700"/>
          </a:xfrm>
          <a:prstGeom prst="rect">
            <a:avLst/>
          </a:prstGeom>
          <a:noFill/>
          <a:ln/>
        </p:spPr>
        <p:txBody>
          <a:bodyPr vert="horz" wrap="square" lIns="0" tIns="0" rIns="0" bIns="0" rtlCol="0" anchor="t"/>
          <a:lstStyle/>
          <a:p>
            <a:pPr marL="0" indent="0">
              <a:lnSpc>
                <a:spcPts val="2100"/>
              </a:lnSpc>
              <a:buNone/>
            </a:pPr>
            <a:r>
              <a:rPr lang="en-US" sz="1500" b="1" dirty="0">
                <a:solidFill>
                  <a:srgbClr val="FACC15"/>
                </a:solidFill>
                <a:latin typeface="ui-sans-serif" pitchFamily="34" charset="0"/>
                <a:ea typeface="ui-sans-serif" pitchFamily="34" charset="-122"/>
                <a:cs typeface="ui-sans-serif" pitchFamily="34" charset="-120"/>
              </a:rPr>
              <a:t>Portabilidad</a:t>
            </a:r>
            <a:endParaRPr lang="en-US" sz="1500" dirty="0"/>
          </a:p>
        </p:txBody>
      </p:sp>
      <p:sp>
        <p:nvSpPr>
          <p:cNvPr id="36" name="Text 13"/>
          <p:cNvSpPr/>
          <p:nvPr/>
        </p:nvSpPr>
        <p:spPr>
          <a:xfrm>
            <a:off x="8280350" y="4514850"/>
            <a:ext cx="3301901" cy="4572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Capacidad del software para ser transferido de un entorno a otro</a:t>
            </a:r>
            <a:endParaRPr lang="en-US" sz="1200" dirty="0"/>
          </a:p>
        </p:txBody>
      </p:sp>
      <p:sp>
        <p:nvSpPr>
          <p:cNvPr id="37" name="Text 14"/>
          <p:cNvSpPr/>
          <p:nvPr/>
        </p:nvSpPr>
        <p:spPr>
          <a:xfrm>
            <a:off x="457200" y="6210300"/>
            <a:ext cx="2087761"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24 de Noviembre de 2025</a:t>
            </a:r>
            <a:endParaRPr lang="en-US" sz="1050" dirty="0"/>
          </a:p>
        </p:txBody>
      </p:sp>
      <p:sp>
        <p:nvSpPr>
          <p:cNvPr id="38" name="Text 15"/>
          <p:cNvSpPr/>
          <p:nvPr/>
        </p:nvSpPr>
        <p:spPr>
          <a:xfrm>
            <a:off x="10742265" y="6210300"/>
            <a:ext cx="1191042"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Página 5 de 25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914400"/>
            <a:ext cx="914400" cy="38100"/>
          </a:xfrm>
          <a:prstGeom prst="rect">
            <a:avLst/>
          </a:prstGeom>
        </p:spPr>
      </p:pic>
      <p:pic>
        <p:nvPicPr>
          <p:cNvPr id="4" name="Image 2" descr="preencoded.png"/>
          <p:cNvPicPr>
            <a:picLocks noChangeAspect="1"/>
          </p:cNvPicPr>
          <p:nvPr/>
        </p:nvPicPr>
        <p:blipFill>
          <a:blip r:embed="rId5"/>
          <a:stretch>
            <a:fillRect/>
          </a:stretch>
        </p:blipFill>
        <p:spPr>
          <a:xfrm>
            <a:off x="457200" y="1600200"/>
            <a:ext cx="5486400" cy="4381500"/>
          </a:xfrm>
          <a:prstGeom prst="rect">
            <a:avLst/>
          </a:prstGeom>
        </p:spPr>
      </p:pic>
      <p:pic>
        <p:nvPicPr>
          <p:cNvPr id="5" name="Image 3" descr="preencoded.png"/>
          <p:cNvPicPr>
            <a:picLocks noChangeAspect="1"/>
          </p:cNvPicPr>
          <p:nvPr/>
        </p:nvPicPr>
        <p:blipFill>
          <a:blip r:embed="rId6"/>
          <a:stretch>
            <a:fillRect/>
          </a:stretch>
        </p:blipFill>
        <p:spPr>
          <a:xfrm>
            <a:off x="685800" y="1828800"/>
            <a:ext cx="457200" cy="457200"/>
          </a:xfrm>
          <a:prstGeom prst="rect">
            <a:avLst/>
          </a:prstGeom>
        </p:spPr>
      </p:pic>
      <p:pic>
        <p:nvPicPr>
          <p:cNvPr id="6" name="Image 4" descr="preencoded.png"/>
          <p:cNvPicPr>
            <a:picLocks noChangeAspect="1"/>
          </p:cNvPicPr>
          <p:nvPr/>
        </p:nvPicPr>
        <p:blipFill>
          <a:blip r:embed="rId7"/>
          <a:stretch>
            <a:fillRect/>
          </a:stretch>
        </p:blipFill>
        <p:spPr>
          <a:xfrm>
            <a:off x="800100" y="1905000"/>
            <a:ext cx="228600" cy="304800"/>
          </a:xfrm>
          <a:prstGeom prst="rect">
            <a:avLst/>
          </a:prstGeom>
        </p:spPr>
      </p:pic>
      <p:pic>
        <p:nvPicPr>
          <p:cNvPr id="7" name="Image 5" descr="preencoded.png"/>
          <p:cNvPicPr>
            <a:picLocks noChangeAspect="1"/>
          </p:cNvPicPr>
          <p:nvPr/>
        </p:nvPicPr>
        <p:blipFill>
          <a:blip r:embed="rId8"/>
          <a:stretch>
            <a:fillRect/>
          </a:stretch>
        </p:blipFill>
        <p:spPr>
          <a:xfrm>
            <a:off x="685800" y="3657600"/>
            <a:ext cx="152400" cy="152400"/>
          </a:xfrm>
          <a:prstGeom prst="rect">
            <a:avLst/>
          </a:prstGeom>
        </p:spPr>
      </p:pic>
      <p:pic>
        <p:nvPicPr>
          <p:cNvPr id="8" name="Image 6" descr="preencoded.png"/>
          <p:cNvPicPr>
            <a:picLocks noChangeAspect="1"/>
          </p:cNvPicPr>
          <p:nvPr/>
        </p:nvPicPr>
        <p:blipFill>
          <a:blip r:embed="rId8"/>
          <a:stretch>
            <a:fillRect/>
          </a:stretch>
        </p:blipFill>
        <p:spPr>
          <a:xfrm>
            <a:off x="685800" y="4114800"/>
            <a:ext cx="152400" cy="152400"/>
          </a:xfrm>
          <a:prstGeom prst="rect">
            <a:avLst/>
          </a:prstGeom>
        </p:spPr>
      </p:pic>
      <p:pic>
        <p:nvPicPr>
          <p:cNvPr id="9" name="Image 7" descr="preencoded.png"/>
          <p:cNvPicPr>
            <a:picLocks noChangeAspect="1"/>
          </p:cNvPicPr>
          <p:nvPr/>
        </p:nvPicPr>
        <p:blipFill>
          <a:blip r:embed="rId8"/>
          <a:stretch>
            <a:fillRect/>
          </a:stretch>
        </p:blipFill>
        <p:spPr>
          <a:xfrm>
            <a:off x="685800" y="4457700"/>
            <a:ext cx="152400" cy="152400"/>
          </a:xfrm>
          <a:prstGeom prst="rect">
            <a:avLst/>
          </a:prstGeom>
        </p:spPr>
      </p:pic>
      <p:pic>
        <p:nvPicPr>
          <p:cNvPr id="10" name="Image 8" descr="preencoded.png"/>
          <p:cNvPicPr>
            <a:picLocks noChangeAspect="1"/>
          </p:cNvPicPr>
          <p:nvPr/>
        </p:nvPicPr>
        <p:blipFill>
          <a:blip r:embed="rId8"/>
          <a:stretch>
            <a:fillRect/>
          </a:stretch>
        </p:blipFill>
        <p:spPr>
          <a:xfrm>
            <a:off x="685800" y="4800600"/>
            <a:ext cx="152400" cy="152400"/>
          </a:xfrm>
          <a:prstGeom prst="rect">
            <a:avLst/>
          </a:prstGeom>
        </p:spPr>
      </p:pic>
      <p:pic>
        <p:nvPicPr>
          <p:cNvPr id="11" name="Image 9" descr="preencoded.png"/>
          <p:cNvPicPr>
            <a:picLocks noChangeAspect="1"/>
          </p:cNvPicPr>
          <p:nvPr/>
        </p:nvPicPr>
        <p:blipFill>
          <a:blip r:embed="rId8"/>
          <a:stretch>
            <a:fillRect/>
          </a:stretch>
        </p:blipFill>
        <p:spPr>
          <a:xfrm>
            <a:off x="685800" y="5257800"/>
            <a:ext cx="152400" cy="152400"/>
          </a:xfrm>
          <a:prstGeom prst="rect">
            <a:avLst/>
          </a:prstGeom>
        </p:spPr>
      </p:pic>
      <p:pic>
        <p:nvPicPr>
          <p:cNvPr id="12" name="Image 10" descr="preencoded.png"/>
          <p:cNvPicPr>
            <a:picLocks noChangeAspect="1"/>
          </p:cNvPicPr>
          <p:nvPr/>
        </p:nvPicPr>
        <p:blipFill>
          <a:blip r:embed="rId5"/>
          <a:stretch>
            <a:fillRect/>
          </a:stretch>
        </p:blipFill>
        <p:spPr>
          <a:xfrm>
            <a:off x="6248400" y="1600200"/>
            <a:ext cx="5486400" cy="4381500"/>
          </a:xfrm>
          <a:prstGeom prst="rect">
            <a:avLst/>
          </a:prstGeom>
        </p:spPr>
      </p:pic>
      <p:pic>
        <p:nvPicPr>
          <p:cNvPr id="13" name="Image 11" descr="preencoded.png"/>
          <p:cNvPicPr>
            <a:picLocks noChangeAspect="1"/>
          </p:cNvPicPr>
          <p:nvPr/>
        </p:nvPicPr>
        <p:blipFill>
          <a:blip r:embed="rId9"/>
          <a:stretch>
            <a:fillRect/>
          </a:stretch>
        </p:blipFill>
        <p:spPr>
          <a:xfrm>
            <a:off x="6477000" y="1828800"/>
            <a:ext cx="457200" cy="457200"/>
          </a:xfrm>
          <a:prstGeom prst="rect">
            <a:avLst/>
          </a:prstGeom>
        </p:spPr>
      </p:pic>
      <p:pic>
        <p:nvPicPr>
          <p:cNvPr id="14" name="Image 12" descr="preencoded.png"/>
          <p:cNvPicPr>
            <a:picLocks noChangeAspect="1"/>
          </p:cNvPicPr>
          <p:nvPr/>
        </p:nvPicPr>
        <p:blipFill>
          <a:blip r:embed="rId10"/>
          <a:stretch>
            <a:fillRect/>
          </a:stretch>
        </p:blipFill>
        <p:spPr>
          <a:xfrm>
            <a:off x="6591300" y="1905000"/>
            <a:ext cx="228600" cy="304800"/>
          </a:xfrm>
          <a:prstGeom prst="rect">
            <a:avLst/>
          </a:prstGeom>
        </p:spPr>
      </p:pic>
      <p:pic>
        <p:nvPicPr>
          <p:cNvPr id="15" name="Image 13" descr="preencoded.png"/>
          <p:cNvPicPr>
            <a:picLocks noChangeAspect="1"/>
          </p:cNvPicPr>
          <p:nvPr/>
        </p:nvPicPr>
        <p:blipFill>
          <a:blip r:embed="rId11"/>
          <a:stretch>
            <a:fillRect/>
          </a:stretch>
        </p:blipFill>
        <p:spPr>
          <a:xfrm>
            <a:off x="6477000" y="3543300"/>
            <a:ext cx="152400" cy="152400"/>
          </a:xfrm>
          <a:prstGeom prst="rect">
            <a:avLst/>
          </a:prstGeom>
        </p:spPr>
      </p:pic>
      <p:pic>
        <p:nvPicPr>
          <p:cNvPr id="16" name="Image 14" descr="preencoded.png"/>
          <p:cNvPicPr>
            <a:picLocks noChangeAspect="1"/>
          </p:cNvPicPr>
          <p:nvPr/>
        </p:nvPicPr>
        <p:blipFill>
          <a:blip r:embed="rId11"/>
          <a:stretch>
            <a:fillRect/>
          </a:stretch>
        </p:blipFill>
        <p:spPr>
          <a:xfrm>
            <a:off x="6477000" y="4000500"/>
            <a:ext cx="152400" cy="152400"/>
          </a:xfrm>
          <a:prstGeom prst="rect">
            <a:avLst/>
          </a:prstGeom>
        </p:spPr>
      </p:pic>
      <p:pic>
        <p:nvPicPr>
          <p:cNvPr id="17" name="Image 15" descr="preencoded.png"/>
          <p:cNvPicPr>
            <a:picLocks noChangeAspect="1"/>
          </p:cNvPicPr>
          <p:nvPr/>
        </p:nvPicPr>
        <p:blipFill>
          <a:blip r:embed="rId11"/>
          <a:stretch>
            <a:fillRect/>
          </a:stretch>
        </p:blipFill>
        <p:spPr>
          <a:xfrm>
            <a:off x="6477000" y="4572000"/>
            <a:ext cx="152400" cy="152400"/>
          </a:xfrm>
          <a:prstGeom prst="rect">
            <a:avLst/>
          </a:prstGeom>
        </p:spPr>
      </p:pic>
      <p:pic>
        <p:nvPicPr>
          <p:cNvPr id="18" name="Image 16" descr="preencoded.png"/>
          <p:cNvPicPr>
            <a:picLocks noChangeAspect="1"/>
          </p:cNvPicPr>
          <p:nvPr/>
        </p:nvPicPr>
        <p:blipFill>
          <a:blip r:embed="rId11"/>
          <a:stretch>
            <a:fillRect/>
          </a:stretch>
        </p:blipFill>
        <p:spPr>
          <a:xfrm>
            <a:off x="6477000" y="5143500"/>
            <a:ext cx="152400" cy="152400"/>
          </a:xfrm>
          <a:prstGeom prst="rect">
            <a:avLst/>
          </a:prstGeom>
        </p:spPr>
      </p:pic>
      <p:sp>
        <p:nvSpPr>
          <p:cNvPr id="19" name="Text 0"/>
          <p:cNvSpPr/>
          <p:nvPr/>
        </p:nvSpPr>
        <p:spPr>
          <a:xfrm>
            <a:off x="457200" y="457200"/>
            <a:ext cx="112776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Montserrat" pitchFamily="34" charset="0"/>
                <a:ea typeface="Montserrat" pitchFamily="34" charset="-122"/>
                <a:cs typeface="Montserrat" pitchFamily="34" charset="-120"/>
              </a:rPr>
              <a:t>Funcionalidad y Fiabilidad</a:t>
            </a:r>
            <a:endParaRPr lang="en-US" sz="2700" dirty="0"/>
          </a:p>
        </p:txBody>
      </p:sp>
      <p:sp>
        <p:nvSpPr>
          <p:cNvPr id="20" name="Text 1"/>
          <p:cNvSpPr/>
          <p:nvPr/>
        </p:nvSpPr>
        <p:spPr>
          <a:xfrm>
            <a:off x="457200" y="1066800"/>
            <a:ext cx="11277600" cy="228600"/>
          </a:xfrm>
          <a:prstGeom prst="rect">
            <a:avLst/>
          </a:prstGeom>
          <a:noFill/>
          <a:ln/>
        </p:spPr>
        <p:txBody>
          <a:bodyPr vert="horz" wrap="square" lIns="0" tIns="0" rIns="0" bIns="0" rtlCol="0" anchor="t"/>
          <a:lstStyle/>
          <a:p>
            <a:pPr marL="0" indent="0">
              <a:lnSpc>
                <a:spcPts val="1800"/>
              </a:lnSpc>
              <a:buNone/>
            </a:pPr>
            <a:r>
              <a:rPr lang="en-US" sz="1200" dirty="0">
                <a:solidFill>
                  <a:srgbClr val="9CA3AF"/>
                </a:solidFill>
                <a:latin typeface="Open Sans" pitchFamily="34" charset="0"/>
                <a:ea typeface="Open Sans" pitchFamily="34" charset="-122"/>
                <a:cs typeface="Open Sans" pitchFamily="34" charset="-120"/>
              </a:rPr>
              <a:t>Características principales del modelo ISO/IEC 9126</a:t>
            </a:r>
            <a:endParaRPr lang="en-US" sz="1200" dirty="0"/>
          </a:p>
        </p:txBody>
      </p:sp>
      <p:sp>
        <p:nvSpPr>
          <p:cNvPr id="21" name="Text 2"/>
          <p:cNvSpPr/>
          <p:nvPr/>
        </p:nvSpPr>
        <p:spPr>
          <a:xfrm>
            <a:off x="1295400" y="1905000"/>
            <a:ext cx="20574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FF6600"/>
                </a:solidFill>
                <a:latin typeface="Montserrat" pitchFamily="34" charset="0"/>
                <a:ea typeface="Montserrat" pitchFamily="34" charset="-122"/>
                <a:cs typeface="Montserrat" pitchFamily="34" charset="-120"/>
              </a:rPr>
              <a:t>Funcionalidad</a:t>
            </a:r>
            <a:endParaRPr lang="en-US" sz="1800" dirty="0"/>
          </a:p>
        </p:txBody>
      </p:sp>
      <p:sp>
        <p:nvSpPr>
          <p:cNvPr id="22" name="Text 3"/>
          <p:cNvSpPr/>
          <p:nvPr/>
        </p:nvSpPr>
        <p:spPr>
          <a:xfrm>
            <a:off x="685800" y="2438400"/>
            <a:ext cx="5029200" cy="4572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Open Sans" pitchFamily="34" charset="0"/>
                <a:ea typeface="Open Sans" pitchFamily="34" charset="-122"/>
                <a:cs typeface="Open Sans" pitchFamily="34" charset="-120"/>
              </a:rPr>
              <a:t>Evalúa si el software cumple con las funciones para las que fue diseñado.</a:t>
            </a:r>
            <a:endParaRPr lang="en-US" sz="1200" dirty="0"/>
          </a:p>
        </p:txBody>
      </p:sp>
      <p:sp>
        <p:nvSpPr>
          <p:cNvPr id="23" name="Text 4"/>
          <p:cNvSpPr/>
          <p:nvPr/>
        </p:nvSpPr>
        <p:spPr>
          <a:xfrm>
            <a:off x="685800" y="3124200"/>
            <a:ext cx="50292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E5E7EB"/>
                </a:solidFill>
                <a:latin typeface="Montserrat" pitchFamily="34" charset="0"/>
                <a:ea typeface="Montserrat" pitchFamily="34" charset="-122"/>
                <a:cs typeface="Montserrat" pitchFamily="34" charset="-120"/>
              </a:rPr>
              <a:t>Sub-características:</a:t>
            </a:r>
            <a:endParaRPr lang="en-US" sz="1500" dirty="0"/>
          </a:p>
        </p:txBody>
      </p:sp>
      <p:sp>
        <p:nvSpPr>
          <p:cNvPr id="24" name="Text 5"/>
          <p:cNvSpPr/>
          <p:nvPr/>
        </p:nvSpPr>
        <p:spPr>
          <a:xfrm>
            <a:off x="952500" y="3514725"/>
            <a:ext cx="1062990" cy="20955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Open Sans" pitchFamily="34" charset="0"/>
                <a:ea typeface="Open Sans" pitchFamily="34" charset="-122"/>
                <a:cs typeface="Open Sans" pitchFamily="34" charset="-120"/>
              </a:rPr>
              <a:t>Adecuación:</a:t>
            </a:r>
            <a:endParaRPr lang="en-US" sz="1200" dirty="0"/>
          </a:p>
        </p:txBody>
      </p:sp>
      <p:sp>
        <p:nvSpPr>
          <p:cNvPr id="25" name="Text 6"/>
          <p:cNvSpPr/>
          <p:nvPr/>
        </p:nvSpPr>
        <p:spPr>
          <a:xfrm>
            <a:off x="1876425" y="3514725"/>
            <a:ext cx="4257675" cy="43815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Open Sans" pitchFamily="34" charset="0"/>
                <a:ea typeface="Open Sans" pitchFamily="34" charset="-122"/>
                <a:cs typeface="Open Sans" pitchFamily="34" charset="-120"/>
              </a:rPr>
              <a:t>Cumple con las necesidades y expectativas del usuario</a:t>
            </a:r>
            <a:endParaRPr lang="en-US" sz="1200" dirty="0"/>
          </a:p>
        </p:txBody>
      </p:sp>
      <p:sp>
        <p:nvSpPr>
          <p:cNvPr id="26" name="Text 7"/>
          <p:cNvSpPr/>
          <p:nvPr/>
        </p:nvSpPr>
        <p:spPr>
          <a:xfrm>
            <a:off x="952500" y="4086225"/>
            <a:ext cx="857250" cy="20955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Open Sans" pitchFamily="34" charset="0"/>
                <a:ea typeface="Open Sans" pitchFamily="34" charset="-122"/>
                <a:cs typeface="Open Sans" pitchFamily="34" charset="-120"/>
              </a:rPr>
              <a:t>Exactitud:</a:t>
            </a:r>
            <a:endParaRPr lang="en-US" sz="1200" dirty="0"/>
          </a:p>
        </p:txBody>
      </p:sp>
      <p:sp>
        <p:nvSpPr>
          <p:cNvPr id="27" name="Text 8"/>
          <p:cNvSpPr/>
          <p:nvPr/>
        </p:nvSpPr>
        <p:spPr>
          <a:xfrm>
            <a:off x="1704975" y="4086225"/>
            <a:ext cx="4366260" cy="20955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Open Sans" pitchFamily="34" charset="0"/>
                <a:ea typeface="Open Sans" pitchFamily="34" charset="-122"/>
                <a:cs typeface="Open Sans" pitchFamily="34" charset="-120"/>
              </a:rPr>
              <a:t>Precisión y corrección de los resultados obtenidos</a:t>
            </a:r>
            <a:endParaRPr lang="en-US" sz="1200" dirty="0"/>
          </a:p>
        </p:txBody>
      </p:sp>
      <p:sp>
        <p:nvSpPr>
          <p:cNvPr id="28" name="Text 9"/>
          <p:cNvSpPr/>
          <p:nvPr/>
        </p:nvSpPr>
        <p:spPr>
          <a:xfrm>
            <a:off x="952500" y="4429125"/>
            <a:ext cx="1565910" cy="20955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Open Sans" pitchFamily="34" charset="0"/>
                <a:ea typeface="Open Sans" pitchFamily="34" charset="-122"/>
                <a:cs typeface="Open Sans" pitchFamily="34" charset="-120"/>
              </a:rPr>
              <a:t>Interoperabilidad:</a:t>
            </a:r>
            <a:endParaRPr lang="en-US" sz="1200" dirty="0"/>
          </a:p>
        </p:txBody>
      </p:sp>
      <p:sp>
        <p:nvSpPr>
          <p:cNvPr id="29" name="Text 10"/>
          <p:cNvSpPr/>
          <p:nvPr/>
        </p:nvSpPr>
        <p:spPr>
          <a:xfrm>
            <a:off x="2295525" y="4429125"/>
            <a:ext cx="3874770" cy="20955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Open Sans" pitchFamily="34" charset="0"/>
                <a:ea typeface="Open Sans" pitchFamily="34" charset="-122"/>
                <a:cs typeface="Open Sans" pitchFamily="34" charset="-120"/>
              </a:rPr>
              <a:t>Capacidad de interactuar con otros sistemas</a:t>
            </a:r>
            <a:endParaRPr lang="en-US" sz="1200" dirty="0"/>
          </a:p>
        </p:txBody>
      </p:sp>
      <p:sp>
        <p:nvSpPr>
          <p:cNvPr id="30" name="Text 11"/>
          <p:cNvSpPr/>
          <p:nvPr/>
        </p:nvSpPr>
        <p:spPr>
          <a:xfrm>
            <a:off x="952500" y="4772025"/>
            <a:ext cx="925830" cy="20955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Open Sans" pitchFamily="34" charset="0"/>
                <a:ea typeface="Open Sans" pitchFamily="34" charset="-122"/>
                <a:cs typeface="Open Sans" pitchFamily="34" charset="-120"/>
              </a:rPr>
              <a:t>Seguridad:</a:t>
            </a:r>
            <a:endParaRPr lang="en-US" sz="1200" dirty="0"/>
          </a:p>
        </p:txBody>
      </p:sp>
      <p:sp>
        <p:nvSpPr>
          <p:cNvPr id="31" name="Text 12"/>
          <p:cNvSpPr/>
          <p:nvPr/>
        </p:nvSpPr>
        <p:spPr>
          <a:xfrm>
            <a:off x="1762125" y="4772025"/>
            <a:ext cx="3646170" cy="20955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Open Sans" pitchFamily="34" charset="0"/>
                <a:ea typeface="Open Sans" pitchFamily="34" charset="-122"/>
                <a:cs typeface="Open Sans" pitchFamily="34" charset="-120"/>
              </a:rPr>
              <a:t>Protección contra accesos no autorizados</a:t>
            </a:r>
            <a:endParaRPr lang="en-US" sz="1200" dirty="0"/>
          </a:p>
        </p:txBody>
      </p:sp>
      <p:sp>
        <p:nvSpPr>
          <p:cNvPr id="32" name="Text 13"/>
          <p:cNvSpPr/>
          <p:nvPr/>
        </p:nvSpPr>
        <p:spPr>
          <a:xfrm>
            <a:off x="952500" y="5114925"/>
            <a:ext cx="2057400" cy="20955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Open Sans" pitchFamily="34" charset="0"/>
                <a:ea typeface="Open Sans" pitchFamily="34" charset="-122"/>
                <a:cs typeface="Open Sans" pitchFamily="34" charset="-120"/>
              </a:rPr>
              <a:t>Conformidad funcional:</a:t>
            </a:r>
            <a:endParaRPr lang="en-US" sz="1200" dirty="0"/>
          </a:p>
        </p:txBody>
      </p:sp>
      <p:sp>
        <p:nvSpPr>
          <p:cNvPr id="33" name="Text 14"/>
          <p:cNvSpPr/>
          <p:nvPr/>
        </p:nvSpPr>
        <p:spPr>
          <a:xfrm>
            <a:off x="2705100" y="5114925"/>
            <a:ext cx="3905250" cy="43815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Open Sans" pitchFamily="34" charset="0"/>
                <a:ea typeface="Open Sans" pitchFamily="34" charset="-122"/>
                <a:cs typeface="Open Sans" pitchFamily="34" charset="-120"/>
              </a:rPr>
              <a:t>Adherencia a los estándares y especificaciones</a:t>
            </a:r>
            <a:endParaRPr lang="en-US" sz="1200" dirty="0"/>
          </a:p>
        </p:txBody>
      </p:sp>
      <p:sp>
        <p:nvSpPr>
          <p:cNvPr id="34" name="Text 15"/>
          <p:cNvSpPr/>
          <p:nvPr/>
        </p:nvSpPr>
        <p:spPr>
          <a:xfrm>
            <a:off x="7086600" y="1905000"/>
            <a:ext cx="1417320" cy="304800"/>
          </a:xfrm>
          <a:prstGeom prst="rect">
            <a:avLst/>
          </a:prstGeom>
          <a:noFill/>
          <a:ln/>
        </p:spPr>
        <p:txBody>
          <a:bodyPr vert="horz" wrap="square" lIns="0" tIns="0" rIns="0" bIns="0" rtlCol="0" anchor="t"/>
          <a:lstStyle/>
          <a:p>
            <a:pPr marL="0" indent="0">
              <a:lnSpc>
                <a:spcPts val="2400"/>
              </a:lnSpc>
              <a:buNone/>
            </a:pPr>
            <a:r>
              <a:rPr lang="en-US" sz="1800" b="1" dirty="0">
                <a:solidFill>
                  <a:srgbClr val="00CC99"/>
                </a:solidFill>
                <a:latin typeface="Montserrat" pitchFamily="34" charset="0"/>
                <a:ea typeface="Montserrat" pitchFamily="34" charset="-122"/>
                <a:cs typeface="Montserrat" pitchFamily="34" charset="-120"/>
              </a:rPr>
              <a:t>Fiabilidad</a:t>
            </a:r>
            <a:endParaRPr lang="en-US" sz="1800" dirty="0"/>
          </a:p>
        </p:txBody>
      </p:sp>
      <p:sp>
        <p:nvSpPr>
          <p:cNvPr id="35" name="Text 16"/>
          <p:cNvSpPr/>
          <p:nvPr/>
        </p:nvSpPr>
        <p:spPr>
          <a:xfrm>
            <a:off x="6477000" y="2438400"/>
            <a:ext cx="5029200" cy="4572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Open Sans" pitchFamily="34" charset="0"/>
                <a:ea typeface="Open Sans" pitchFamily="34" charset="-122"/>
                <a:cs typeface="Open Sans" pitchFamily="34" charset="-120"/>
              </a:rPr>
              <a:t>Indica la capacidad del software de mantener su nivel de desempeño bajo condiciones determinadas.</a:t>
            </a:r>
            <a:endParaRPr lang="en-US" sz="1200" dirty="0"/>
          </a:p>
        </p:txBody>
      </p:sp>
      <p:sp>
        <p:nvSpPr>
          <p:cNvPr id="36" name="Text 17"/>
          <p:cNvSpPr/>
          <p:nvPr/>
        </p:nvSpPr>
        <p:spPr>
          <a:xfrm>
            <a:off x="6477000" y="3124200"/>
            <a:ext cx="50292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E5E7EB"/>
                </a:solidFill>
                <a:latin typeface="Montserrat" pitchFamily="34" charset="0"/>
                <a:ea typeface="Montserrat" pitchFamily="34" charset="-122"/>
                <a:cs typeface="Montserrat" pitchFamily="34" charset="-120"/>
              </a:rPr>
              <a:t>Sub-características:</a:t>
            </a:r>
            <a:endParaRPr lang="en-US" sz="1500" dirty="0"/>
          </a:p>
        </p:txBody>
      </p:sp>
      <p:sp>
        <p:nvSpPr>
          <p:cNvPr id="37" name="Text 18"/>
          <p:cNvSpPr/>
          <p:nvPr/>
        </p:nvSpPr>
        <p:spPr>
          <a:xfrm>
            <a:off x="6743700" y="3514725"/>
            <a:ext cx="822960" cy="20955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Open Sans" pitchFamily="34" charset="0"/>
                <a:ea typeface="Open Sans" pitchFamily="34" charset="-122"/>
                <a:cs typeface="Open Sans" pitchFamily="34" charset="-120"/>
              </a:rPr>
              <a:t>Madurez:</a:t>
            </a:r>
            <a:endParaRPr lang="en-US" sz="1200" dirty="0"/>
          </a:p>
        </p:txBody>
      </p:sp>
      <p:sp>
        <p:nvSpPr>
          <p:cNvPr id="38" name="Text 19"/>
          <p:cNvSpPr/>
          <p:nvPr/>
        </p:nvSpPr>
        <p:spPr>
          <a:xfrm>
            <a:off x="7467600" y="3514725"/>
            <a:ext cx="3509010" cy="20955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Open Sans" pitchFamily="34" charset="0"/>
                <a:ea typeface="Open Sans" pitchFamily="34" charset="-122"/>
                <a:cs typeface="Open Sans" pitchFamily="34" charset="-120"/>
              </a:rPr>
              <a:t>Capacidad para detectar y corregir fallos</a:t>
            </a:r>
            <a:endParaRPr lang="en-US" sz="1200" dirty="0"/>
          </a:p>
        </p:txBody>
      </p:sp>
      <p:sp>
        <p:nvSpPr>
          <p:cNvPr id="39" name="Text 20"/>
          <p:cNvSpPr/>
          <p:nvPr/>
        </p:nvSpPr>
        <p:spPr>
          <a:xfrm>
            <a:off x="6743700" y="3857625"/>
            <a:ext cx="1611630" cy="20955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Open Sans" pitchFamily="34" charset="0"/>
                <a:ea typeface="Open Sans" pitchFamily="34" charset="-122"/>
                <a:cs typeface="Open Sans" pitchFamily="34" charset="-120"/>
              </a:rPr>
              <a:t>Tolerancia a fallos:</a:t>
            </a:r>
            <a:endParaRPr lang="en-US" sz="1200" dirty="0"/>
          </a:p>
        </p:txBody>
      </p:sp>
      <p:sp>
        <p:nvSpPr>
          <p:cNvPr id="40" name="Text 21"/>
          <p:cNvSpPr/>
          <p:nvPr/>
        </p:nvSpPr>
        <p:spPr>
          <a:xfrm>
            <a:off x="8124825" y="3857625"/>
            <a:ext cx="4514850" cy="43815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Open Sans" pitchFamily="34" charset="0"/>
                <a:ea typeface="Open Sans" pitchFamily="34" charset="-122"/>
                <a:cs typeface="Open Sans" pitchFamily="34" charset="-120"/>
              </a:rPr>
              <a:t>Capacidad para operar correctamente ante errores</a:t>
            </a:r>
            <a:endParaRPr lang="en-US" sz="1200" dirty="0"/>
          </a:p>
        </p:txBody>
      </p:sp>
      <p:sp>
        <p:nvSpPr>
          <p:cNvPr id="41" name="Text 22"/>
          <p:cNvSpPr/>
          <p:nvPr/>
        </p:nvSpPr>
        <p:spPr>
          <a:xfrm>
            <a:off x="6743700" y="4429125"/>
            <a:ext cx="1451610" cy="20955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Open Sans" pitchFamily="34" charset="0"/>
                <a:ea typeface="Open Sans" pitchFamily="34" charset="-122"/>
                <a:cs typeface="Open Sans" pitchFamily="34" charset="-120"/>
              </a:rPr>
              <a:t>Recuperabilidad:</a:t>
            </a:r>
            <a:endParaRPr lang="en-US" sz="1200" dirty="0"/>
          </a:p>
        </p:txBody>
      </p:sp>
      <p:sp>
        <p:nvSpPr>
          <p:cNvPr id="42" name="Text 23"/>
          <p:cNvSpPr/>
          <p:nvPr/>
        </p:nvSpPr>
        <p:spPr>
          <a:xfrm>
            <a:off x="7991475" y="4429125"/>
            <a:ext cx="4438650" cy="43815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Open Sans" pitchFamily="34" charset="0"/>
                <a:ea typeface="Open Sans" pitchFamily="34" charset="-122"/>
                <a:cs typeface="Open Sans" pitchFamily="34" charset="-120"/>
              </a:rPr>
              <a:t>Capacidad para restaurar el funcionamiento normal</a:t>
            </a:r>
            <a:endParaRPr lang="en-US" sz="1200" dirty="0"/>
          </a:p>
        </p:txBody>
      </p:sp>
      <p:sp>
        <p:nvSpPr>
          <p:cNvPr id="43" name="Text 24"/>
          <p:cNvSpPr/>
          <p:nvPr/>
        </p:nvSpPr>
        <p:spPr>
          <a:xfrm>
            <a:off x="6743700" y="5000625"/>
            <a:ext cx="2503170" cy="20955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Open Sans" pitchFamily="34" charset="0"/>
                <a:ea typeface="Open Sans" pitchFamily="34" charset="-122"/>
                <a:cs typeface="Open Sans" pitchFamily="34" charset="-120"/>
              </a:rPr>
              <a:t>Conformidad de la fiabilidad:</a:t>
            </a:r>
            <a:endParaRPr lang="en-US" sz="1200" dirty="0"/>
          </a:p>
        </p:txBody>
      </p:sp>
      <p:sp>
        <p:nvSpPr>
          <p:cNvPr id="44" name="Text 25"/>
          <p:cNvSpPr/>
          <p:nvPr/>
        </p:nvSpPr>
        <p:spPr>
          <a:xfrm>
            <a:off x="8867775" y="5000625"/>
            <a:ext cx="4229100" cy="43815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Open Sans" pitchFamily="34" charset="0"/>
                <a:ea typeface="Open Sans" pitchFamily="34" charset="-122"/>
                <a:cs typeface="Open Sans" pitchFamily="34" charset="-120"/>
              </a:rPr>
              <a:t>Adherencia a los objetivos de fiabilidad establecidos</a:t>
            </a:r>
            <a:endParaRPr lang="en-US" sz="1200" dirty="0"/>
          </a:p>
        </p:txBody>
      </p:sp>
      <p:sp>
        <p:nvSpPr>
          <p:cNvPr id="45" name="Text 26"/>
          <p:cNvSpPr/>
          <p:nvPr/>
        </p:nvSpPr>
        <p:spPr>
          <a:xfrm>
            <a:off x="457200" y="6210300"/>
            <a:ext cx="1383030"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Open Sans" pitchFamily="34" charset="0"/>
                <a:ea typeface="Open Sans" pitchFamily="34" charset="-122"/>
                <a:cs typeface="Open Sans" pitchFamily="34" charset="-120"/>
              </a:rPr>
              <a:t>ISO/IEC 9126:2001</a:t>
            </a:r>
            <a:endParaRPr lang="en-US" sz="1050" dirty="0"/>
          </a:p>
        </p:txBody>
      </p:sp>
      <p:sp>
        <p:nvSpPr>
          <p:cNvPr id="46" name="Text 27"/>
          <p:cNvSpPr/>
          <p:nvPr/>
        </p:nvSpPr>
        <p:spPr>
          <a:xfrm>
            <a:off x="10801350" y="6210300"/>
            <a:ext cx="1120140"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Open Sans" pitchFamily="34" charset="0"/>
                <a:ea typeface="Open Sans" pitchFamily="34" charset="-122"/>
                <a:cs typeface="Open Sans" pitchFamily="34" charset="-120"/>
              </a:rPr>
              <a:t>Página 6 de 25</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914400"/>
            <a:ext cx="914400" cy="38100"/>
          </a:xfrm>
          <a:prstGeom prst="rect">
            <a:avLst/>
          </a:prstGeom>
        </p:spPr>
      </p:pic>
      <p:pic>
        <p:nvPicPr>
          <p:cNvPr id="4" name="Image 2" descr="preencoded.png"/>
          <p:cNvPicPr>
            <a:picLocks noChangeAspect="1"/>
          </p:cNvPicPr>
          <p:nvPr/>
        </p:nvPicPr>
        <p:blipFill>
          <a:blip r:embed="rId5"/>
          <a:stretch>
            <a:fillRect/>
          </a:stretch>
        </p:blipFill>
        <p:spPr>
          <a:xfrm>
            <a:off x="457200" y="1600200"/>
            <a:ext cx="5486400" cy="4381500"/>
          </a:xfrm>
          <a:prstGeom prst="rect">
            <a:avLst/>
          </a:prstGeom>
        </p:spPr>
      </p:pic>
      <p:pic>
        <p:nvPicPr>
          <p:cNvPr id="5" name="Image 3" descr="preencoded.png"/>
          <p:cNvPicPr>
            <a:picLocks noChangeAspect="1"/>
          </p:cNvPicPr>
          <p:nvPr/>
        </p:nvPicPr>
        <p:blipFill>
          <a:blip r:embed="rId6"/>
          <a:stretch>
            <a:fillRect/>
          </a:stretch>
        </p:blipFill>
        <p:spPr>
          <a:xfrm>
            <a:off x="685800" y="1828800"/>
            <a:ext cx="457200" cy="457200"/>
          </a:xfrm>
          <a:prstGeom prst="rect">
            <a:avLst/>
          </a:prstGeom>
        </p:spPr>
      </p:pic>
      <p:pic>
        <p:nvPicPr>
          <p:cNvPr id="6" name="Image 4" descr="preencoded.png"/>
          <p:cNvPicPr>
            <a:picLocks noChangeAspect="1"/>
          </p:cNvPicPr>
          <p:nvPr/>
        </p:nvPicPr>
        <p:blipFill>
          <a:blip r:embed="rId7"/>
          <a:stretch>
            <a:fillRect/>
          </a:stretch>
        </p:blipFill>
        <p:spPr>
          <a:xfrm>
            <a:off x="842963" y="1905000"/>
            <a:ext cx="142875" cy="304800"/>
          </a:xfrm>
          <a:prstGeom prst="rect">
            <a:avLst/>
          </a:prstGeom>
        </p:spPr>
      </p:pic>
      <p:pic>
        <p:nvPicPr>
          <p:cNvPr id="7" name="Image 5" descr="preencoded.png"/>
          <p:cNvPicPr>
            <a:picLocks noChangeAspect="1"/>
          </p:cNvPicPr>
          <p:nvPr/>
        </p:nvPicPr>
        <p:blipFill>
          <a:blip r:embed="rId8"/>
          <a:stretch>
            <a:fillRect/>
          </a:stretch>
        </p:blipFill>
        <p:spPr>
          <a:xfrm>
            <a:off x="685800" y="3200400"/>
            <a:ext cx="152400" cy="152400"/>
          </a:xfrm>
          <a:prstGeom prst="rect">
            <a:avLst/>
          </a:prstGeom>
        </p:spPr>
      </p:pic>
      <p:pic>
        <p:nvPicPr>
          <p:cNvPr id="8" name="Image 6" descr="preencoded.png"/>
          <p:cNvPicPr>
            <a:picLocks noChangeAspect="1"/>
          </p:cNvPicPr>
          <p:nvPr/>
        </p:nvPicPr>
        <p:blipFill>
          <a:blip r:embed="rId8"/>
          <a:stretch>
            <a:fillRect/>
          </a:stretch>
        </p:blipFill>
        <p:spPr>
          <a:xfrm>
            <a:off x="685800" y="3505200"/>
            <a:ext cx="152400" cy="152400"/>
          </a:xfrm>
          <a:prstGeom prst="rect">
            <a:avLst/>
          </a:prstGeom>
        </p:spPr>
      </p:pic>
      <p:pic>
        <p:nvPicPr>
          <p:cNvPr id="9" name="Image 7" descr="preencoded.png"/>
          <p:cNvPicPr>
            <a:picLocks noChangeAspect="1"/>
          </p:cNvPicPr>
          <p:nvPr/>
        </p:nvPicPr>
        <p:blipFill>
          <a:blip r:embed="rId8"/>
          <a:stretch>
            <a:fillRect/>
          </a:stretch>
        </p:blipFill>
        <p:spPr>
          <a:xfrm>
            <a:off x="685800" y="3810000"/>
            <a:ext cx="152400" cy="152400"/>
          </a:xfrm>
          <a:prstGeom prst="rect">
            <a:avLst/>
          </a:prstGeom>
        </p:spPr>
      </p:pic>
      <p:pic>
        <p:nvPicPr>
          <p:cNvPr id="10" name="Image 8" descr="preencoded.png"/>
          <p:cNvPicPr>
            <a:picLocks noChangeAspect="1"/>
          </p:cNvPicPr>
          <p:nvPr/>
        </p:nvPicPr>
        <p:blipFill>
          <a:blip r:embed="rId8"/>
          <a:stretch>
            <a:fillRect/>
          </a:stretch>
        </p:blipFill>
        <p:spPr>
          <a:xfrm>
            <a:off x="685800" y="4114800"/>
            <a:ext cx="152400" cy="152400"/>
          </a:xfrm>
          <a:prstGeom prst="rect">
            <a:avLst/>
          </a:prstGeom>
        </p:spPr>
      </p:pic>
      <p:pic>
        <p:nvPicPr>
          <p:cNvPr id="11" name="Image 9" descr="preencoded.png"/>
          <p:cNvPicPr>
            <a:picLocks noChangeAspect="1"/>
          </p:cNvPicPr>
          <p:nvPr/>
        </p:nvPicPr>
        <p:blipFill>
          <a:blip r:embed="rId8"/>
          <a:stretch>
            <a:fillRect/>
          </a:stretch>
        </p:blipFill>
        <p:spPr>
          <a:xfrm>
            <a:off x="685800" y="4419600"/>
            <a:ext cx="152400" cy="152400"/>
          </a:xfrm>
          <a:prstGeom prst="rect">
            <a:avLst/>
          </a:prstGeom>
        </p:spPr>
      </p:pic>
      <p:pic>
        <p:nvPicPr>
          <p:cNvPr id="12" name="Image 10" descr="preencoded.png"/>
          <p:cNvPicPr>
            <a:picLocks noChangeAspect="1"/>
          </p:cNvPicPr>
          <p:nvPr/>
        </p:nvPicPr>
        <p:blipFill>
          <a:blip r:embed="rId9"/>
          <a:stretch>
            <a:fillRect/>
          </a:stretch>
        </p:blipFill>
        <p:spPr>
          <a:xfrm>
            <a:off x="685800" y="4914900"/>
            <a:ext cx="5029200" cy="838200"/>
          </a:xfrm>
          <a:prstGeom prst="rect">
            <a:avLst/>
          </a:prstGeom>
        </p:spPr>
      </p:pic>
      <p:pic>
        <p:nvPicPr>
          <p:cNvPr id="13" name="Image 11" descr="preencoded.png"/>
          <p:cNvPicPr>
            <a:picLocks noChangeAspect="1"/>
          </p:cNvPicPr>
          <p:nvPr/>
        </p:nvPicPr>
        <p:blipFill>
          <a:blip r:embed="rId5"/>
          <a:stretch>
            <a:fillRect/>
          </a:stretch>
        </p:blipFill>
        <p:spPr>
          <a:xfrm>
            <a:off x="6248400" y="1600200"/>
            <a:ext cx="5486400" cy="4381500"/>
          </a:xfrm>
          <a:prstGeom prst="rect">
            <a:avLst/>
          </a:prstGeom>
        </p:spPr>
      </p:pic>
      <p:pic>
        <p:nvPicPr>
          <p:cNvPr id="14" name="Image 12" descr="preencoded.png"/>
          <p:cNvPicPr>
            <a:picLocks noChangeAspect="1"/>
          </p:cNvPicPr>
          <p:nvPr/>
        </p:nvPicPr>
        <p:blipFill>
          <a:blip r:embed="rId10"/>
          <a:stretch>
            <a:fillRect/>
          </a:stretch>
        </p:blipFill>
        <p:spPr>
          <a:xfrm>
            <a:off x="6477000" y="1828800"/>
            <a:ext cx="457200" cy="457200"/>
          </a:xfrm>
          <a:prstGeom prst="rect">
            <a:avLst/>
          </a:prstGeom>
        </p:spPr>
      </p:pic>
      <p:pic>
        <p:nvPicPr>
          <p:cNvPr id="15" name="Image 13" descr="preencoded.png"/>
          <p:cNvPicPr>
            <a:picLocks noChangeAspect="1"/>
          </p:cNvPicPr>
          <p:nvPr/>
        </p:nvPicPr>
        <p:blipFill>
          <a:blip r:embed="rId11"/>
          <a:stretch>
            <a:fillRect/>
          </a:stretch>
        </p:blipFill>
        <p:spPr>
          <a:xfrm>
            <a:off x="6619875" y="1905000"/>
            <a:ext cx="171450" cy="304800"/>
          </a:xfrm>
          <a:prstGeom prst="rect">
            <a:avLst/>
          </a:prstGeom>
        </p:spPr>
      </p:pic>
      <p:pic>
        <p:nvPicPr>
          <p:cNvPr id="16" name="Image 14" descr="preencoded.png"/>
          <p:cNvPicPr>
            <a:picLocks noChangeAspect="1"/>
          </p:cNvPicPr>
          <p:nvPr/>
        </p:nvPicPr>
        <p:blipFill>
          <a:blip r:embed="rId12"/>
          <a:stretch>
            <a:fillRect/>
          </a:stretch>
        </p:blipFill>
        <p:spPr>
          <a:xfrm>
            <a:off x="6477000" y="3200400"/>
            <a:ext cx="152400" cy="152400"/>
          </a:xfrm>
          <a:prstGeom prst="rect">
            <a:avLst/>
          </a:prstGeom>
        </p:spPr>
      </p:pic>
      <p:pic>
        <p:nvPicPr>
          <p:cNvPr id="17" name="Image 15" descr="preencoded.png"/>
          <p:cNvPicPr>
            <a:picLocks noChangeAspect="1"/>
          </p:cNvPicPr>
          <p:nvPr/>
        </p:nvPicPr>
        <p:blipFill>
          <a:blip r:embed="rId12"/>
          <a:stretch>
            <a:fillRect/>
          </a:stretch>
        </p:blipFill>
        <p:spPr>
          <a:xfrm>
            <a:off x="6477000" y="3505200"/>
            <a:ext cx="152400" cy="152400"/>
          </a:xfrm>
          <a:prstGeom prst="rect">
            <a:avLst/>
          </a:prstGeom>
        </p:spPr>
      </p:pic>
      <p:pic>
        <p:nvPicPr>
          <p:cNvPr id="18" name="Image 16" descr="preencoded.png"/>
          <p:cNvPicPr>
            <a:picLocks noChangeAspect="1"/>
          </p:cNvPicPr>
          <p:nvPr/>
        </p:nvPicPr>
        <p:blipFill>
          <a:blip r:embed="rId12"/>
          <a:stretch>
            <a:fillRect/>
          </a:stretch>
        </p:blipFill>
        <p:spPr>
          <a:xfrm>
            <a:off x="6477000" y="3810000"/>
            <a:ext cx="152400" cy="152400"/>
          </a:xfrm>
          <a:prstGeom prst="rect">
            <a:avLst/>
          </a:prstGeom>
        </p:spPr>
      </p:pic>
      <p:pic>
        <p:nvPicPr>
          <p:cNvPr id="19" name="Image 17" descr="preencoded.png"/>
          <p:cNvPicPr>
            <a:picLocks noChangeAspect="1"/>
          </p:cNvPicPr>
          <p:nvPr/>
        </p:nvPicPr>
        <p:blipFill>
          <a:blip r:embed="rId13"/>
          <a:stretch>
            <a:fillRect/>
          </a:stretch>
        </p:blipFill>
        <p:spPr>
          <a:xfrm>
            <a:off x="6477000" y="4914900"/>
            <a:ext cx="5029200" cy="838200"/>
          </a:xfrm>
          <a:prstGeom prst="rect">
            <a:avLst/>
          </a:prstGeom>
        </p:spPr>
      </p:pic>
      <p:sp>
        <p:nvSpPr>
          <p:cNvPr id="20" name="Text 0"/>
          <p:cNvSpPr/>
          <p:nvPr/>
        </p:nvSpPr>
        <p:spPr>
          <a:xfrm>
            <a:off x="457200" y="457200"/>
            <a:ext cx="112776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Montserrat" pitchFamily="34" charset="0"/>
                <a:ea typeface="Montserrat" pitchFamily="34" charset="-122"/>
                <a:cs typeface="Montserrat" pitchFamily="34" charset="-120"/>
              </a:rPr>
              <a:t>Usabilidad y Eficiencia</a:t>
            </a:r>
            <a:endParaRPr lang="en-US" sz="2700" dirty="0"/>
          </a:p>
        </p:txBody>
      </p:sp>
      <p:sp>
        <p:nvSpPr>
          <p:cNvPr id="21" name="Text 1"/>
          <p:cNvSpPr/>
          <p:nvPr/>
        </p:nvSpPr>
        <p:spPr>
          <a:xfrm>
            <a:off x="457200" y="1066800"/>
            <a:ext cx="11277600" cy="2286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Open Sans" pitchFamily="34" charset="0"/>
                <a:ea typeface="Open Sans" pitchFamily="34" charset="-122"/>
                <a:cs typeface="Open Sans" pitchFamily="34" charset="-120"/>
              </a:rPr>
              <a:t>Segunda y cuarta características del modelo ISO/IEC 9126</a:t>
            </a:r>
            <a:endParaRPr lang="en-US" sz="1200" dirty="0"/>
          </a:p>
        </p:txBody>
      </p:sp>
      <p:sp>
        <p:nvSpPr>
          <p:cNvPr id="22" name="Text 2"/>
          <p:cNvSpPr/>
          <p:nvPr/>
        </p:nvSpPr>
        <p:spPr>
          <a:xfrm>
            <a:off x="1295400" y="1905000"/>
            <a:ext cx="1387138" cy="304800"/>
          </a:xfrm>
          <a:prstGeom prst="rect">
            <a:avLst/>
          </a:prstGeom>
          <a:noFill/>
          <a:ln/>
        </p:spPr>
        <p:txBody>
          <a:bodyPr vert="horz" wrap="square" lIns="0" tIns="0" rIns="0" bIns="0" rtlCol="0" anchor="t"/>
          <a:lstStyle/>
          <a:p>
            <a:pPr marL="0" indent="0">
              <a:lnSpc>
                <a:spcPts val="2400"/>
              </a:lnSpc>
              <a:buNone/>
            </a:pPr>
            <a:r>
              <a:rPr lang="en-US" sz="1800" b="1" dirty="0">
                <a:solidFill>
                  <a:srgbClr val="FF6600"/>
                </a:solidFill>
                <a:latin typeface="Montserrat" pitchFamily="34" charset="0"/>
                <a:ea typeface="Montserrat" pitchFamily="34" charset="-122"/>
                <a:cs typeface="Montserrat" pitchFamily="34" charset="-120"/>
              </a:rPr>
              <a:t>Usabilidad</a:t>
            </a:r>
            <a:endParaRPr lang="en-US" sz="1800" dirty="0"/>
          </a:p>
        </p:txBody>
      </p:sp>
      <p:sp>
        <p:nvSpPr>
          <p:cNvPr id="23" name="Text 3"/>
          <p:cNvSpPr/>
          <p:nvPr/>
        </p:nvSpPr>
        <p:spPr>
          <a:xfrm>
            <a:off x="685800" y="2438400"/>
            <a:ext cx="6035040" cy="2286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Open Sans" pitchFamily="34" charset="0"/>
                <a:ea typeface="Open Sans" pitchFamily="34" charset="-122"/>
                <a:cs typeface="Open Sans" pitchFamily="34" charset="-120"/>
              </a:rPr>
              <a:t>Facilita la comprensión, el aprendizaje y la operación del software.</a:t>
            </a:r>
            <a:endParaRPr lang="en-US" sz="1200" dirty="0"/>
          </a:p>
        </p:txBody>
      </p:sp>
      <p:sp>
        <p:nvSpPr>
          <p:cNvPr id="24" name="Text 4"/>
          <p:cNvSpPr/>
          <p:nvPr/>
        </p:nvSpPr>
        <p:spPr>
          <a:xfrm>
            <a:off x="685800" y="2819400"/>
            <a:ext cx="50292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9933CC"/>
                </a:solidFill>
                <a:latin typeface="Montserrat" pitchFamily="34" charset="0"/>
                <a:ea typeface="Montserrat" pitchFamily="34" charset="-122"/>
                <a:cs typeface="Montserrat" pitchFamily="34" charset="-120"/>
              </a:rPr>
              <a:t>Subcaracterísticas:</a:t>
            </a:r>
            <a:endParaRPr lang="en-US" sz="1350" dirty="0"/>
          </a:p>
        </p:txBody>
      </p:sp>
      <p:sp>
        <p:nvSpPr>
          <p:cNvPr id="25" name="Text 5"/>
          <p:cNvSpPr/>
          <p:nvPr/>
        </p:nvSpPr>
        <p:spPr>
          <a:xfrm>
            <a:off x="914400" y="3162300"/>
            <a:ext cx="1149072"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Open Sans" pitchFamily="34" charset="0"/>
                <a:ea typeface="Open Sans" pitchFamily="34" charset="-122"/>
                <a:cs typeface="Open Sans" pitchFamily="34" charset="-120"/>
              </a:rPr>
              <a:t>Entendibilidad</a:t>
            </a:r>
            <a:endParaRPr lang="en-US" sz="1200" dirty="0"/>
          </a:p>
        </p:txBody>
      </p:sp>
      <p:sp>
        <p:nvSpPr>
          <p:cNvPr id="26" name="Text 6"/>
          <p:cNvSpPr/>
          <p:nvPr/>
        </p:nvSpPr>
        <p:spPr>
          <a:xfrm>
            <a:off x="914400" y="3467100"/>
            <a:ext cx="1159073"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Open Sans" pitchFamily="34" charset="0"/>
                <a:ea typeface="Open Sans" pitchFamily="34" charset="-122"/>
                <a:cs typeface="Open Sans" pitchFamily="34" charset="-120"/>
              </a:rPr>
              <a:t>Aprendibilidad</a:t>
            </a:r>
            <a:endParaRPr lang="en-US" sz="1200" dirty="0"/>
          </a:p>
        </p:txBody>
      </p:sp>
      <p:sp>
        <p:nvSpPr>
          <p:cNvPr id="27" name="Text 7"/>
          <p:cNvSpPr/>
          <p:nvPr/>
        </p:nvSpPr>
        <p:spPr>
          <a:xfrm>
            <a:off x="914400" y="3771900"/>
            <a:ext cx="1036915"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Open Sans" pitchFamily="34" charset="0"/>
                <a:ea typeface="Open Sans" pitchFamily="34" charset="-122"/>
                <a:cs typeface="Open Sans" pitchFamily="34" charset="-120"/>
              </a:rPr>
              <a:t>Operatividad</a:t>
            </a:r>
            <a:endParaRPr lang="en-US" sz="1200" dirty="0"/>
          </a:p>
        </p:txBody>
      </p:sp>
      <p:sp>
        <p:nvSpPr>
          <p:cNvPr id="28" name="Text 8"/>
          <p:cNvSpPr/>
          <p:nvPr/>
        </p:nvSpPr>
        <p:spPr>
          <a:xfrm>
            <a:off x="914400" y="4076700"/>
            <a:ext cx="711518"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Open Sans" pitchFamily="34" charset="0"/>
                <a:ea typeface="Open Sans" pitchFamily="34" charset="-122"/>
                <a:cs typeface="Open Sans" pitchFamily="34" charset="-120"/>
              </a:rPr>
              <a:t>Atractivo</a:t>
            </a:r>
            <a:endParaRPr lang="en-US" sz="1200" dirty="0"/>
          </a:p>
        </p:txBody>
      </p:sp>
      <p:sp>
        <p:nvSpPr>
          <p:cNvPr id="29" name="Text 9"/>
          <p:cNvSpPr/>
          <p:nvPr/>
        </p:nvSpPr>
        <p:spPr>
          <a:xfrm>
            <a:off x="914400" y="4381500"/>
            <a:ext cx="2368867"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Open Sans" pitchFamily="34" charset="0"/>
                <a:ea typeface="Open Sans" pitchFamily="34" charset="-122"/>
                <a:cs typeface="Open Sans" pitchFamily="34" charset="-120"/>
              </a:rPr>
              <a:t>Conformidad de la usabilidad</a:t>
            </a:r>
            <a:endParaRPr lang="en-US" sz="1200" dirty="0"/>
          </a:p>
        </p:txBody>
      </p:sp>
      <p:sp>
        <p:nvSpPr>
          <p:cNvPr id="30" name="Text 10"/>
          <p:cNvSpPr/>
          <p:nvPr/>
        </p:nvSpPr>
        <p:spPr>
          <a:xfrm>
            <a:off x="800100" y="5029200"/>
            <a:ext cx="4800600" cy="190500"/>
          </a:xfrm>
          <a:prstGeom prst="rect">
            <a:avLst/>
          </a:prstGeom>
          <a:noFill/>
          <a:ln/>
        </p:spPr>
        <p:txBody>
          <a:bodyPr vert="horz" wrap="square" lIns="0" tIns="0" rIns="0" bIns="0" rtlCol="0" anchor="t"/>
          <a:lstStyle/>
          <a:p>
            <a:pPr marL="0" indent="0">
              <a:lnSpc>
                <a:spcPts val="1500"/>
              </a:lnSpc>
              <a:buNone/>
            </a:pPr>
            <a:r>
              <a:rPr lang="en-US" sz="1050" b="1" dirty="0">
                <a:solidFill>
                  <a:srgbClr val="00CC99"/>
                </a:solidFill>
                <a:latin typeface="Open Sans" pitchFamily="34" charset="0"/>
                <a:ea typeface="Open Sans" pitchFamily="34" charset="-122"/>
                <a:cs typeface="Open Sans" pitchFamily="34" charset="-120"/>
              </a:rPr>
              <a:t>Métrica Ejemplo:</a:t>
            </a:r>
            <a:endParaRPr lang="en-US" sz="1050" dirty="0"/>
          </a:p>
        </p:txBody>
      </p:sp>
      <p:sp>
        <p:nvSpPr>
          <p:cNvPr id="31" name="Text 11"/>
          <p:cNvSpPr/>
          <p:nvPr/>
        </p:nvSpPr>
        <p:spPr>
          <a:xfrm>
            <a:off x="800100" y="5257800"/>
            <a:ext cx="4800600" cy="381000"/>
          </a:xfrm>
          <a:prstGeom prst="rect">
            <a:avLst/>
          </a:prstGeom>
          <a:noFill/>
          <a:ln/>
        </p:spPr>
        <p:txBody>
          <a:bodyPr vert="horz" wrap="square" lIns="0" tIns="0" rIns="0" bIns="0" rtlCol="0" anchor="t"/>
          <a:lstStyle/>
          <a:p>
            <a:pPr marL="0" indent="0">
              <a:lnSpc>
                <a:spcPts val="1500"/>
              </a:lnSpc>
              <a:buNone/>
            </a:pPr>
            <a:r>
              <a:rPr lang="en-US" sz="1050" dirty="0">
                <a:solidFill>
                  <a:srgbClr val="D1D5DB"/>
                </a:solidFill>
                <a:latin typeface="Open Sans" pitchFamily="34" charset="0"/>
                <a:ea typeface="Open Sans" pitchFamily="34" charset="-122"/>
                <a:cs typeface="Open Sans" pitchFamily="34" charset="-120"/>
              </a:rPr>
              <a:t>Tiempo promedio para completar una transacción (desde la búsqueda hasta el pago)</a:t>
            </a:r>
            <a:endParaRPr lang="en-US" sz="1050" dirty="0"/>
          </a:p>
        </p:txBody>
      </p:sp>
      <p:sp>
        <p:nvSpPr>
          <p:cNvPr id="32" name="Text 12"/>
          <p:cNvSpPr/>
          <p:nvPr/>
        </p:nvSpPr>
        <p:spPr>
          <a:xfrm>
            <a:off x="7086600" y="1905000"/>
            <a:ext cx="1280874" cy="304800"/>
          </a:xfrm>
          <a:prstGeom prst="rect">
            <a:avLst/>
          </a:prstGeom>
          <a:noFill/>
          <a:ln/>
        </p:spPr>
        <p:txBody>
          <a:bodyPr vert="horz" wrap="square" lIns="0" tIns="0" rIns="0" bIns="0" rtlCol="0" anchor="t"/>
          <a:lstStyle/>
          <a:p>
            <a:pPr marL="0" indent="0">
              <a:lnSpc>
                <a:spcPts val="2400"/>
              </a:lnSpc>
              <a:buNone/>
            </a:pPr>
            <a:r>
              <a:rPr lang="en-US" sz="1800" b="1" dirty="0">
                <a:solidFill>
                  <a:srgbClr val="00CC99"/>
                </a:solidFill>
                <a:latin typeface="Montserrat" pitchFamily="34" charset="0"/>
                <a:ea typeface="Montserrat" pitchFamily="34" charset="-122"/>
                <a:cs typeface="Montserrat" pitchFamily="34" charset="-120"/>
              </a:rPr>
              <a:t>Eficiencia</a:t>
            </a:r>
            <a:endParaRPr lang="en-US" sz="1800" dirty="0"/>
          </a:p>
        </p:txBody>
      </p:sp>
      <p:sp>
        <p:nvSpPr>
          <p:cNvPr id="33" name="Text 13"/>
          <p:cNvSpPr/>
          <p:nvPr/>
        </p:nvSpPr>
        <p:spPr>
          <a:xfrm>
            <a:off x="6477000" y="2438400"/>
            <a:ext cx="6035040" cy="2286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Open Sans" pitchFamily="34" charset="0"/>
                <a:ea typeface="Open Sans" pitchFamily="34" charset="-122"/>
                <a:cs typeface="Open Sans" pitchFamily="34" charset="-120"/>
              </a:rPr>
              <a:t>Determina el uso adecuado de los recursos por parte del software.</a:t>
            </a:r>
            <a:endParaRPr lang="en-US" sz="1200" dirty="0"/>
          </a:p>
        </p:txBody>
      </p:sp>
      <p:sp>
        <p:nvSpPr>
          <p:cNvPr id="34" name="Text 14"/>
          <p:cNvSpPr/>
          <p:nvPr/>
        </p:nvSpPr>
        <p:spPr>
          <a:xfrm>
            <a:off x="6477000" y="2819400"/>
            <a:ext cx="50292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9933CC"/>
                </a:solidFill>
                <a:latin typeface="Montserrat" pitchFamily="34" charset="0"/>
                <a:ea typeface="Montserrat" pitchFamily="34" charset="-122"/>
                <a:cs typeface="Montserrat" pitchFamily="34" charset="-120"/>
              </a:rPr>
              <a:t>Subcaracterísticas:</a:t>
            </a:r>
            <a:endParaRPr lang="en-US" sz="1350" dirty="0"/>
          </a:p>
        </p:txBody>
      </p:sp>
      <p:sp>
        <p:nvSpPr>
          <p:cNvPr id="35" name="Text 15"/>
          <p:cNvSpPr/>
          <p:nvPr/>
        </p:nvSpPr>
        <p:spPr>
          <a:xfrm>
            <a:off x="6705600" y="3162300"/>
            <a:ext cx="2399050"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Open Sans" pitchFamily="34" charset="0"/>
                <a:ea typeface="Open Sans" pitchFamily="34" charset="-122"/>
                <a:cs typeface="Open Sans" pitchFamily="34" charset="-120"/>
              </a:rPr>
              <a:t>Comportamiento en el tiempo</a:t>
            </a:r>
            <a:endParaRPr lang="en-US" sz="1200" dirty="0"/>
          </a:p>
        </p:txBody>
      </p:sp>
      <p:sp>
        <p:nvSpPr>
          <p:cNvPr id="36" name="Text 16"/>
          <p:cNvSpPr/>
          <p:nvPr/>
        </p:nvSpPr>
        <p:spPr>
          <a:xfrm>
            <a:off x="6705600" y="3467100"/>
            <a:ext cx="1839694"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Open Sans" pitchFamily="34" charset="0"/>
                <a:ea typeface="Open Sans" pitchFamily="34" charset="-122"/>
                <a:cs typeface="Open Sans" pitchFamily="34" charset="-120"/>
              </a:rPr>
              <a:t>Utilización de recursos</a:t>
            </a:r>
            <a:endParaRPr lang="en-US" sz="1200" dirty="0"/>
          </a:p>
        </p:txBody>
      </p:sp>
      <p:sp>
        <p:nvSpPr>
          <p:cNvPr id="37" name="Text 17"/>
          <p:cNvSpPr/>
          <p:nvPr/>
        </p:nvSpPr>
        <p:spPr>
          <a:xfrm>
            <a:off x="6705600" y="3771900"/>
            <a:ext cx="2307610"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Open Sans" pitchFamily="34" charset="0"/>
                <a:ea typeface="Open Sans" pitchFamily="34" charset="-122"/>
                <a:cs typeface="Open Sans" pitchFamily="34" charset="-120"/>
              </a:rPr>
              <a:t>Conformidad de la eficiencia</a:t>
            </a:r>
            <a:endParaRPr lang="en-US" sz="1200" dirty="0"/>
          </a:p>
        </p:txBody>
      </p:sp>
      <p:sp>
        <p:nvSpPr>
          <p:cNvPr id="38" name="Text 18"/>
          <p:cNvSpPr/>
          <p:nvPr/>
        </p:nvSpPr>
        <p:spPr>
          <a:xfrm>
            <a:off x="6591300" y="5029200"/>
            <a:ext cx="4800600" cy="190500"/>
          </a:xfrm>
          <a:prstGeom prst="rect">
            <a:avLst/>
          </a:prstGeom>
          <a:noFill/>
          <a:ln/>
        </p:spPr>
        <p:txBody>
          <a:bodyPr vert="horz" wrap="square" lIns="0" tIns="0" rIns="0" bIns="0" rtlCol="0" anchor="t"/>
          <a:lstStyle/>
          <a:p>
            <a:pPr marL="0" indent="0">
              <a:lnSpc>
                <a:spcPts val="1500"/>
              </a:lnSpc>
              <a:buNone/>
            </a:pPr>
            <a:r>
              <a:rPr lang="en-US" sz="1050" b="1" dirty="0">
                <a:solidFill>
                  <a:srgbClr val="FF6600"/>
                </a:solidFill>
                <a:latin typeface="Open Sans" pitchFamily="34" charset="0"/>
                <a:ea typeface="Open Sans" pitchFamily="34" charset="-122"/>
                <a:cs typeface="Open Sans" pitchFamily="34" charset="-120"/>
              </a:rPr>
              <a:t>Métrica Ejemplo:</a:t>
            </a:r>
            <a:endParaRPr lang="en-US" sz="1050" dirty="0"/>
          </a:p>
        </p:txBody>
      </p:sp>
      <p:sp>
        <p:nvSpPr>
          <p:cNvPr id="39" name="Text 19"/>
          <p:cNvSpPr/>
          <p:nvPr/>
        </p:nvSpPr>
        <p:spPr>
          <a:xfrm>
            <a:off x="6591300" y="5257800"/>
            <a:ext cx="4800600" cy="381000"/>
          </a:xfrm>
          <a:prstGeom prst="rect">
            <a:avLst/>
          </a:prstGeom>
          <a:noFill/>
          <a:ln/>
        </p:spPr>
        <p:txBody>
          <a:bodyPr vert="horz" wrap="square" lIns="0" tIns="0" rIns="0" bIns="0" rtlCol="0" anchor="t"/>
          <a:lstStyle/>
          <a:p>
            <a:pPr marL="0" indent="0">
              <a:lnSpc>
                <a:spcPts val="1500"/>
              </a:lnSpc>
              <a:buNone/>
            </a:pPr>
            <a:r>
              <a:rPr lang="en-US" sz="1050" dirty="0">
                <a:solidFill>
                  <a:srgbClr val="D1D5DB"/>
                </a:solidFill>
                <a:latin typeface="Open Sans" pitchFamily="34" charset="0"/>
                <a:ea typeface="Open Sans" pitchFamily="34" charset="-122"/>
                <a:cs typeface="Open Sans" pitchFamily="34" charset="-120"/>
              </a:rPr>
              <a:t>Tiempo de respuesta de las páginas y elrendimiento del servidor durante picos de tráfico</a:t>
            </a:r>
            <a:endParaRPr lang="en-US" sz="1050" dirty="0"/>
          </a:p>
        </p:txBody>
      </p:sp>
      <p:sp>
        <p:nvSpPr>
          <p:cNvPr id="40" name="Text 20"/>
          <p:cNvSpPr/>
          <p:nvPr/>
        </p:nvSpPr>
        <p:spPr>
          <a:xfrm>
            <a:off x="457200" y="6210300"/>
            <a:ext cx="1387852"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Open Sans" pitchFamily="34" charset="0"/>
                <a:ea typeface="Open Sans" pitchFamily="34" charset="-122"/>
                <a:cs typeface="Open Sans" pitchFamily="34" charset="-120"/>
              </a:rPr>
              <a:t>ISO/IEC 9126:2001</a:t>
            </a:r>
            <a:endParaRPr lang="en-US" sz="1050" dirty="0"/>
          </a:p>
        </p:txBody>
      </p:sp>
      <p:sp>
        <p:nvSpPr>
          <p:cNvPr id="41" name="Text 21"/>
          <p:cNvSpPr/>
          <p:nvPr/>
        </p:nvSpPr>
        <p:spPr>
          <a:xfrm>
            <a:off x="10837515" y="6210300"/>
            <a:ext cx="1076742"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Open Sans" pitchFamily="34" charset="0"/>
                <a:ea typeface="Open Sans" pitchFamily="34" charset="-122"/>
                <a:cs typeface="Open Sans" pitchFamily="34" charset="-120"/>
              </a:rPr>
              <a:t>Página 7 de 25</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914400"/>
            <a:ext cx="914400" cy="38100"/>
          </a:xfrm>
          <a:prstGeom prst="rect">
            <a:avLst/>
          </a:prstGeom>
        </p:spPr>
      </p:pic>
      <p:pic>
        <p:nvPicPr>
          <p:cNvPr id="4" name="Image 2" descr="preencoded.png"/>
          <p:cNvPicPr>
            <a:picLocks noChangeAspect="1"/>
          </p:cNvPicPr>
          <p:nvPr/>
        </p:nvPicPr>
        <p:blipFill>
          <a:blip r:embed="rId5"/>
          <a:stretch>
            <a:fillRect/>
          </a:stretch>
        </p:blipFill>
        <p:spPr>
          <a:xfrm>
            <a:off x="457200" y="1257300"/>
            <a:ext cx="457200" cy="457200"/>
          </a:xfrm>
          <a:prstGeom prst="rect">
            <a:avLst/>
          </a:prstGeom>
        </p:spPr>
      </p:pic>
      <p:pic>
        <p:nvPicPr>
          <p:cNvPr id="5" name="Image 3" descr="preencoded.png"/>
          <p:cNvPicPr>
            <a:picLocks noChangeAspect="1"/>
          </p:cNvPicPr>
          <p:nvPr/>
        </p:nvPicPr>
        <p:blipFill>
          <a:blip r:embed="rId6"/>
          <a:stretch>
            <a:fillRect/>
          </a:stretch>
        </p:blipFill>
        <p:spPr>
          <a:xfrm>
            <a:off x="571500" y="1333500"/>
            <a:ext cx="228600" cy="304800"/>
          </a:xfrm>
          <a:prstGeom prst="rect">
            <a:avLst/>
          </a:prstGeom>
        </p:spPr>
      </p:pic>
      <p:pic>
        <p:nvPicPr>
          <p:cNvPr id="6" name="Image 4" descr="preencoded.png"/>
          <p:cNvPicPr>
            <a:picLocks noChangeAspect="1"/>
          </p:cNvPicPr>
          <p:nvPr/>
        </p:nvPicPr>
        <p:blipFill>
          <a:blip r:embed="rId7"/>
          <a:stretch>
            <a:fillRect/>
          </a:stretch>
        </p:blipFill>
        <p:spPr>
          <a:xfrm>
            <a:off x="457200" y="2857500"/>
            <a:ext cx="5486400" cy="457200"/>
          </a:xfrm>
          <a:prstGeom prst="rect">
            <a:avLst/>
          </a:prstGeom>
        </p:spPr>
      </p:pic>
      <p:pic>
        <p:nvPicPr>
          <p:cNvPr id="7" name="Image 5" descr="preencoded.png"/>
          <p:cNvPicPr>
            <a:picLocks noChangeAspect="1"/>
          </p:cNvPicPr>
          <p:nvPr/>
        </p:nvPicPr>
        <p:blipFill>
          <a:blip r:embed="rId8"/>
          <a:stretch>
            <a:fillRect/>
          </a:stretch>
        </p:blipFill>
        <p:spPr>
          <a:xfrm>
            <a:off x="571500" y="3009900"/>
            <a:ext cx="152400" cy="152400"/>
          </a:xfrm>
          <a:prstGeom prst="rect">
            <a:avLst/>
          </a:prstGeom>
        </p:spPr>
      </p:pic>
      <p:pic>
        <p:nvPicPr>
          <p:cNvPr id="8" name="Image 6" descr="preencoded.png"/>
          <p:cNvPicPr>
            <a:picLocks noChangeAspect="1"/>
          </p:cNvPicPr>
          <p:nvPr/>
        </p:nvPicPr>
        <p:blipFill>
          <a:blip r:embed="rId7"/>
          <a:stretch>
            <a:fillRect/>
          </a:stretch>
        </p:blipFill>
        <p:spPr>
          <a:xfrm>
            <a:off x="457200" y="3429000"/>
            <a:ext cx="5486400" cy="457200"/>
          </a:xfrm>
          <a:prstGeom prst="rect">
            <a:avLst/>
          </a:prstGeom>
        </p:spPr>
      </p:pic>
      <p:pic>
        <p:nvPicPr>
          <p:cNvPr id="9" name="Image 7" descr="preencoded.png"/>
          <p:cNvPicPr>
            <a:picLocks noChangeAspect="1"/>
          </p:cNvPicPr>
          <p:nvPr/>
        </p:nvPicPr>
        <p:blipFill>
          <a:blip r:embed="rId9"/>
          <a:stretch>
            <a:fillRect/>
          </a:stretch>
        </p:blipFill>
        <p:spPr>
          <a:xfrm>
            <a:off x="571500" y="3581400"/>
            <a:ext cx="152400" cy="152400"/>
          </a:xfrm>
          <a:prstGeom prst="rect">
            <a:avLst/>
          </a:prstGeom>
        </p:spPr>
      </p:pic>
      <p:pic>
        <p:nvPicPr>
          <p:cNvPr id="10" name="Image 8" descr="preencoded.png"/>
          <p:cNvPicPr>
            <a:picLocks noChangeAspect="1"/>
          </p:cNvPicPr>
          <p:nvPr/>
        </p:nvPicPr>
        <p:blipFill>
          <a:blip r:embed="rId10"/>
          <a:stretch>
            <a:fillRect/>
          </a:stretch>
        </p:blipFill>
        <p:spPr>
          <a:xfrm>
            <a:off x="457200" y="4000500"/>
            <a:ext cx="5486400" cy="457200"/>
          </a:xfrm>
          <a:prstGeom prst="rect">
            <a:avLst/>
          </a:prstGeom>
        </p:spPr>
      </p:pic>
      <p:pic>
        <p:nvPicPr>
          <p:cNvPr id="11" name="Image 9" descr="preencoded.png"/>
          <p:cNvPicPr>
            <a:picLocks noChangeAspect="1"/>
          </p:cNvPicPr>
          <p:nvPr/>
        </p:nvPicPr>
        <p:blipFill>
          <a:blip r:embed="rId11"/>
          <a:stretch>
            <a:fillRect/>
          </a:stretch>
        </p:blipFill>
        <p:spPr>
          <a:xfrm>
            <a:off x="571500" y="4152900"/>
            <a:ext cx="190500" cy="152400"/>
          </a:xfrm>
          <a:prstGeom prst="rect">
            <a:avLst/>
          </a:prstGeom>
        </p:spPr>
      </p:pic>
      <p:pic>
        <p:nvPicPr>
          <p:cNvPr id="12" name="Image 10" descr="preencoded.png"/>
          <p:cNvPicPr>
            <a:picLocks noChangeAspect="1"/>
          </p:cNvPicPr>
          <p:nvPr/>
        </p:nvPicPr>
        <p:blipFill>
          <a:blip r:embed="rId7"/>
          <a:stretch>
            <a:fillRect/>
          </a:stretch>
        </p:blipFill>
        <p:spPr>
          <a:xfrm>
            <a:off x="457200" y="4572000"/>
            <a:ext cx="5486400" cy="457200"/>
          </a:xfrm>
          <a:prstGeom prst="rect">
            <a:avLst/>
          </a:prstGeom>
        </p:spPr>
      </p:pic>
      <p:pic>
        <p:nvPicPr>
          <p:cNvPr id="13" name="Image 11" descr="preencoded.png"/>
          <p:cNvPicPr>
            <a:picLocks noChangeAspect="1"/>
          </p:cNvPicPr>
          <p:nvPr/>
        </p:nvPicPr>
        <p:blipFill>
          <a:blip r:embed="rId12"/>
          <a:stretch>
            <a:fillRect/>
          </a:stretch>
        </p:blipFill>
        <p:spPr>
          <a:xfrm>
            <a:off x="571500" y="4724400"/>
            <a:ext cx="114300" cy="152400"/>
          </a:xfrm>
          <a:prstGeom prst="rect">
            <a:avLst/>
          </a:prstGeom>
        </p:spPr>
      </p:pic>
      <p:pic>
        <p:nvPicPr>
          <p:cNvPr id="14" name="Image 12" descr="preencoded.png"/>
          <p:cNvPicPr>
            <a:picLocks noChangeAspect="1"/>
          </p:cNvPicPr>
          <p:nvPr/>
        </p:nvPicPr>
        <p:blipFill>
          <a:blip r:embed="rId13"/>
          <a:stretch>
            <a:fillRect/>
          </a:stretch>
        </p:blipFill>
        <p:spPr>
          <a:xfrm>
            <a:off x="6248400" y="1257300"/>
            <a:ext cx="457200" cy="457200"/>
          </a:xfrm>
          <a:prstGeom prst="rect">
            <a:avLst/>
          </a:prstGeom>
        </p:spPr>
      </p:pic>
      <p:pic>
        <p:nvPicPr>
          <p:cNvPr id="15" name="Image 13" descr="preencoded.png"/>
          <p:cNvPicPr>
            <a:picLocks noChangeAspect="1"/>
          </p:cNvPicPr>
          <p:nvPr/>
        </p:nvPicPr>
        <p:blipFill>
          <a:blip r:embed="rId14"/>
          <a:stretch>
            <a:fillRect/>
          </a:stretch>
        </p:blipFill>
        <p:spPr>
          <a:xfrm>
            <a:off x="6362700" y="1333500"/>
            <a:ext cx="228600" cy="304800"/>
          </a:xfrm>
          <a:prstGeom prst="rect">
            <a:avLst/>
          </a:prstGeom>
        </p:spPr>
      </p:pic>
      <p:pic>
        <p:nvPicPr>
          <p:cNvPr id="16" name="Image 14" descr="preencoded.png"/>
          <p:cNvPicPr>
            <a:picLocks noChangeAspect="1"/>
          </p:cNvPicPr>
          <p:nvPr/>
        </p:nvPicPr>
        <p:blipFill>
          <a:blip r:embed="rId15"/>
          <a:stretch>
            <a:fillRect/>
          </a:stretch>
        </p:blipFill>
        <p:spPr>
          <a:xfrm>
            <a:off x="6248400" y="2857500"/>
            <a:ext cx="5486400" cy="457200"/>
          </a:xfrm>
          <a:prstGeom prst="rect">
            <a:avLst/>
          </a:prstGeom>
        </p:spPr>
      </p:pic>
      <p:pic>
        <p:nvPicPr>
          <p:cNvPr id="17" name="Image 15" descr="preencoded.png"/>
          <p:cNvPicPr>
            <a:picLocks noChangeAspect="1"/>
          </p:cNvPicPr>
          <p:nvPr/>
        </p:nvPicPr>
        <p:blipFill>
          <a:blip r:embed="rId16"/>
          <a:stretch>
            <a:fillRect/>
          </a:stretch>
        </p:blipFill>
        <p:spPr>
          <a:xfrm>
            <a:off x="6362700" y="3009900"/>
            <a:ext cx="152400" cy="152400"/>
          </a:xfrm>
          <a:prstGeom prst="rect">
            <a:avLst/>
          </a:prstGeom>
        </p:spPr>
      </p:pic>
      <p:pic>
        <p:nvPicPr>
          <p:cNvPr id="18" name="Image 16" descr="preencoded.png"/>
          <p:cNvPicPr>
            <a:picLocks noChangeAspect="1"/>
          </p:cNvPicPr>
          <p:nvPr/>
        </p:nvPicPr>
        <p:blipFill>
          <a:blip r:embed="rId15"/>
          <a:stretch>
            <a:fillRect/>
          </a:stretch>
        </p:blipFill>
        <p:spPr>
          <a:xfrm>
            <a:off x="6248400" y="3429000"/>
            <a:ext cx="5486400" cy="457200"/>
          </a:xfrm>
          <a:prstGeom prst="rect">
            <a:avLst/>
          </a:prstGeom>
        </p:spPr>
      </p:pic>
      <p:pic>
        <p:nvPicPr>
          <p:cNvPr id="19" name="Image 17" descr="preencoded.png"/>
          <p:cNvPicPr>
            <a:picLocks noChangeAspect="1"/>
          </p:cNvPicPr>
          <p:nvPr/>
        </p:nvPicPr>
        <p:blipFill>
          <a:blip r:embed="rId17"/>
          <a:stretch>
            <a:fillRect/>
          </a:stretch>
        </p:blipFill>
        <p:spPr>
          <a:xfrm>
            <a:off x="6248400" y="4000500"/>
            <a:ext cx="5486400" cy="457200"/>
          </a:xfrm>
          <a:prstGeom prst="rect">
            <a:avLst/>
          </a:prstGeom>
        </p:spPr>
      </p:pic>
      <p:pic>
        <p:nvPicPr>
          <p:cNvPr id="20" name="Image 18" descr="preencoded.png"/>
          <p:cNvPicPr>
            <a:picLocks noChangeAspect="1"/>
          </p:cNvPicPr>
          <p:nvPr/>
        </p:nvPicPr>
        <p:blipFill>
          <a:blip r:embed="rId18"/>
          <a:stretch>
            <a:fillRect/>
          </a:stretch>
        </p:blipFill>
        <p:spPr>
          <a:xfrm>
            <a:off x="6362700" y="4152900"/>
            <a:ext cx="190500" cy="152400"/>
          </a:xfrm>
          <a:prstGeom prst="rect">
            <a:avLst/>
          </a:prstGeom>
        </p:spPr>
      </p:pic>
      <p:pic>
        <p:nvPicPr>
          <p:cNvPr id="21" name="Image 19" descr="preencoded.png"/>
          <p:cNvPicPr>
            <a:picLocks noChangeAspect="1"/>
          </p:cNvPicPr>
          <p:nvPr/>
        </p:nvPicPr>
        <p:blipFill>
          <a:blip r:embed="rId15"/>
          <a:stretch>
            <a:fillRect/>
          </a:stretch>
        </p:blipFill>
        <p:spPr>
          <a:xfrm>
            <a:off x="6248400" y="4572000"/>
            <a:ext cx="5486400" cy="457200"/>
          </a:xfrm>
          <a:prstGeom prst="rect">
            <a:avLst/>
          </a:prstGeom>
        </p:spPr>
      </p:pic>
      <p:pic>
        <p:nvPicPr>
          <p:cNvPr id="22" name="Image 20" descr="preencoded.png"/>
          <p:cNvPicPr>
            <a:picLocks noChangeAspect="1"/>
          </p:cNvPicPr>
          <p:nvPr/>
        </p:nvPicPr>
        <p:blipFill>
          <a:blip r:embed="rId19"/>
          <a:stretch>
            <a:fillRect/>
          </a:stretch>
        </p:blipFill>
        <p:spPr>
          <a:xfrm>
            <a:off x="6362700" y="4724400"/>
            <a:ext cx="190500" cy="152400"/>
          </a:xfrm>
          <a:prstGeom prst="rect">
            <a:avLst/>
          </a:prstGeom>
        </p:spPr>
      </p:pic>
      <p:sp>
        <p:nvSpPr>
          <p:cNvPr id="23" name="Text 0"/>
          <p:cNvSpPr/>
          <p:nvPr/>
        </p:nvSpPr>
        <p:spPr>
          <a:xfrm>
            <a:off x="457200" y="457200"/>
            <a:ext cx="1353312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Montserrat" pitchFamily="34" charset="0"/>
                <a:ea typeface="Montserrat" pitchFamily="34" charset="-122"/>
                <a:cs typeface="Montserrat" pitchFamily="34" charset="-120"/>
              </a:rPr>
              <a:t>Mantenibilidad y Portabilidad</a:t>
            </a:r>
            <a:endParaRPr lang="en-US" sz="2700" dirty="0"/>
          </a:p>
        </p:txBody>
      </p:sp>
      <p:sp>
        <p:nvSpPr>
          <p:cNvPr id="24" name="Text 1"/>
          <p:cNvSpPr/>
          <p:nvPr/>
        </p:nvSpPr>
        <p:spPr>
          <a:xfrm>
            <a:off x="1028700" y="1333500"/>
            <a:ext cx="1920240" cy="304800"/>
          </a:xfrm>
          <a:prstGeom prst="rect">
            <a:avLst/>
          </a:prstGeom>
          <a:noFill/>
          <a:ln/>
        </p:spPr>
        <p:txBody>
          <a:bodyPr vert="horz" wrap="square" lIns="0" tIns="0" rIns="0" bIns="0" rtlCol="0" anchor="t"/>
          <a:lstStyle/>
          <a:p>
            <a:pPr marL="0" indent="0">
              <a:lnSpc>
                <a:spcPts val="2400"/>
              </a:lnSpc>
              <a:buNone/>
            </a:pPr>
            <a:r>
              <a:rPr lang="en-US" sz="1800" b="1" dirty="0">
                <a:solidFill>
                  <a:srgbClr val="FF6600"/>
                </a:solidFill>
                <a:latin typeface="Montserrat" pitchFamily="34" charset="0"/>
                <a:ea typeface="Montserrat" pitchFamily="34" charset="-122"/>
                <a:cs typeface="Montserrat" pitchFamily="34" charset="-120"/>
              </a:rPr>
              <a:t>Mantenibilidad</a:t>
            </a:r>
            <a:endParaRPr lang="en-US" sz="1800" dirty="0"/>
          </a:p>
        </p:txBody>
      </p:sp>
      <p:sp>
        <p:nvSpPr>
          <p:cNvPr id="25" name="Text 2"/>
          <p:cNvSpPr/>
          <p:nvPr/>
        </p:nvSpPr>
        <p:spPr>
          <a:xfrm>
            <a:off x="457200" y="1866900"/>
            <a:ext cx="5486400" cy="4572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Open Sans" pitchFamily="34" charset="0"/>
                <a:ea typeface="Open Sans" pitchFamily="34" charset="-122"/>
                <a:cs typeface="Open Sans" pitchFamily="34" charset="-120"/>
              </a:rPr>
              <a:t>Facilidad con la que el software puede ser modificado para corregir fallos o mejorar su functionality.</a:t>
            </a:r>
            <a:endParaRPr lang="en-US" sz="1200" dirty="0"/>
          </a:p>
        </p:txBody>
      </p:sp>
      <p:sp>
        <p:nvSpPr>
          <p:cNvPr id="26" name="Text 3"/>
          <p:cNvSpPr/>
          <p:nvPr/>
        </p:nvSpPr>
        <p:spPr>
          <a:xfrm>
            <a:off x="457200" y="2476500"/>
            <a:ext cx="54864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FDBA74"/>
                </a:solidFill>
                <a:latin typeface="Montserrat" pitchFamily="34" charset="0"/>
                <a:ea typeface="Montserrat" pitchFamily="34" charset="-122"/>
                <a:cs typeface="Montserrat" pitchFamily="34" charset="-120"/>
              </a:rPr>
              <a:t>Subcaracterísticas:</a:t>
            </a:r>
            <a:endParaRPr lang="en-US" sz="1350" dirty="0"/>
          </a:p>
        </p:txBody>
      </p:sp>
      <p:sp>
        <p:nvSpPr>
          <p:cNvPr id="27" name="Text 4"/>
          <p:cNvSpPr/>
          <p:nvPr/>
        </p:nvSpPr>
        <p:spPr>
          <a:xfrm>
            <a:off x="838200" y="2971800"/>
            <a:ext cx="1229618" cy="2286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Open Sans" pitchFamily="34" charset="0"/>
                <a:ea typeface="Open Sans" pitchFamily="34" charset="-122"/>
                <a:cs typeface="Open Sans" pitchFamily="34" charset="-120"/>
              </a:rPr>
              <a:t>Analizabilidad</a:t>
            </a:r>
            <a:endParaRPr lang="en-US" sz="1200" dirty="0"/>
          </a:p>
        </p:txBody>
      </p:sp>
      <p:sp>
        <p:nvSpPr>
          <p:cNvPr id="28" name="Text 5"/>
          <p:cNvSpPr/>
          <p:nvPr/>
        </p:nvSpPr>
        <p:spPr>
          <a:xfrm>
            <a:off x="838200" y="3543300"/>
            <a:ext cx="1249978" cy="2286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Open Sans" pitchFamily="34" charset="0"/>
                <a:ea typeface="Open Sans" pitchFamily="34" charset="-122"/>
                <a:cs typeface="Open Sans" pitchFamily="34" charset="-120"/>
              </a:rPr>
              <a:t>Cambiabilidad</a:t>
            </a:r>
            <a:endParaRPr lang="en-US" sz="1200" dirty="0"/>
          </a:p>
        </p:txBody>
      </p:sp>
      <p:sp>
        <p:nvSpPr>
          <p:cNvPr id="29" name="Text 6"/>
          <p:cNvSpPr/>
          <p:nvPr/>
        </p:nvSpPr>
        <p:spPr>
          <a:xfrm>
            <a:off x="876300" y="4114800"/>
            <a:ext cx="975658" cy="2286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Open Sans" pitchFamily="34" charset="0"/>
                <a:ea typeface="Open Sans" pitchFamily="34" charset="-122"/>
                <a:cs typeface="Open Sans" pitchFamily="34" charset="-120"/>
              </a:rPr>
              <a:t>Estabilidad</a:t>
            </a:r>
            <a:endParaRPr lang="en-US" sz="1200" dirty="0"/>
          </a:p>
        </p:txBody>
      </p:sp>
      <p:sp>
        <p:nvSpPr>
          <p:cNvPr id="30" name="Text 7"/>
          <p:cNvSpPr/>
          <p:nvPr/>
        </p:nvSpPr>
        <p:spPr>
          <a:xfrm>
            <a:off x="800100" y="4686300"/>
            <a:ext cx="1341596" cy="2286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Open Sans" pitchFamily="34" charset="0"/>
                <a:ea typeface="Open Sans" pitchFamily="34" charset="-122"/>
                <a:cs typeface="Open Sans" pitchFamily="34" charset="-120"/>
              </a:rPr>
              <a:t>Examinabilidad</a:t>
            </a:r>
            <a:endParaRPr lang="en-US" sz="1200" dirty="0"/>
          </a:p>
        </p:txBody>
      </p:sp>
      <p:sp>
        <p:nvSpPr>
          <p:cNvPr id="31" name="Text 8"/>
          <p:cNvSpPr/>
          <p:nvPr/>
        </p:nvSpPr>
        <p:spPr>
          <a:xfrm>
            <a:off x="6819900" y="1333500"/>
            <a:ext cx="1585198" cy="304800"/>
          </a:xfrm>
          <a:prstGeom prst="rect">
            <a:avLst/>
          </a:prstGeom>
          <a:noFill/>
          <a:ln/>
        </p:spPr>
        <p:txBody>
          <a:bodyPr vert="horz" wrap="square" lIns="0" tIns="0" rIns="0" bIns="0" rtlCol="0" anchor="t"/>
          <a:lstStyle/>
          <a:p>
            <a:pPr marL="0" indent="0">
              <a:lnSpc>
                <a:spcPts val="2400"/>
              </a:lnSpc>
              <a:buNone/>
            </a:pPr>
            <a:r>
              <a:rPr lang="en-US" sz="1800" b="1" dirty="0">
                <a:solidFill>
                  <a:srgbClr val="00CC99"/>
                </a:solidFill>
                <a:latin typeface="Montserrat" pitchFamily="34" charset="0"/>
                <a:ea typeface="Montserrat" pitchFamily="34" charset="-122"/>
                <a:cs typeface="Montserrat" pitchFamily="34" charset="-120"/>
              </a:rPr>
              <a:t>Portabilidad</a:t>
            </a:r>
            <a:endParaRPr lang="en-US" sz="1800" dirty="0"/>
          </a:p>
        </p:txBody>
      </p:sp>
      <p:sp>
        <p:nvSpPr>
          <p:cNvPr id="32" name="Text 9"/>
          <p:cNvSpPr/>
          <p:nvPr/>
        </p:nvSpPr>
        <p:spPr>
          <a:xfrm>
            <a:off x="6248400" y="1866900"/>
            <a:ext cx="5486400" cy="4572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Open Sans" pitchFamily="34" charset="0"/>
                <a:ea typeface="Open Sans" pitchFamily="34" charset="-122"/>
                <a:cs typeface="Open Sans" pitchFamily="34" charset="-120"/>
              </a:rPr>
              <a:t>Capacidad del software para ser transferido de un entorno a otro sin pérdidas de functionality.</a:t>
            </a:r>
            <a:endParaRPr lang="en-US" sz="1200" dirty="0"/>
          </a:p>
        </p:txBody>
      </p:sp>
      <p:sp>
        <p:nvSpPr>
          <p:cNvPr id="33" name="Text 10"/>
          <p:cNvSpPr/>
          <p:nvPr/>
        </p:nvSpPr>
        <p:spPr>
          <a:xfrm>
            <a:off x="6248400" y="2476500"/>
            <a:ext cx="54864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86EFAC"/>
                </a:solidFill>
                <a:latin typeface="Montserrat" pitchFamily="34" charset="0"/>
                <a:ea typeface="Montserrat" pitchFamily="34" charset="-122"/>
                <a:cs typeface="Montserrat" pitchFamily="34" charset="-120"/>
              </a:rPr>
              <a:t>Subcaracterísticas:</a:t>
            </a:r>
            <a:endParaRPr lang="en-US" sz="1350" dirty="0"/>
          </a:p>
        </p:txBody>
      </p:sp>
      <p:sp>
        <p:nvSpPr>
          <p:cNvPr id="34" name="Text 11"/>
          <p:cNvSpPr/>
          <p:nvPr/>
        </p:nvSpPr>
        <p:spPr>
          <a:xfrm>
            <a:off x="6629400" y="2971800"/>
            <a:ext cx="1209080" cy="2286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Open Sans" pitchFamily="34" charset="0"/>
                <a:ea typeface="Open Sans" pitchFamily="34" charset="-122"/>
                <a:cs typeface="Open Sans" pitchFamily="34" charset="-120"/>
              </a:rPr>
              <a:t>Adaptabilidad</a:t>
            </a:r>
            <a:endParaRPr lang="en-US" sz="1200" dirty="0"/>
          </a:p>
        </p:txBody>
      </p:sp>
      <p:sp>
        <p:nvSpPr>
          <p:cNvPr id="35" name="Text 12"/>
          <p:cNvSpPr/>
          <p:nvPr/>
        </p:nvSpPr>
        <p:spPr>
          <a:xfrm>
            <a:off x="6477000" y="3543300"/>
            <a:ext cx="1168718" cy="2286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Open Sans" pitchFamily="34" charset="0"/>
                <a:ea typeface="Open Sans" pitchFamily="34" charset="-122"/>
                <a:cs typeface="Open Sans" pitchFamily="34" charset="-120"/>
              </a:rPr>
              <a:t>Instalabilidad</a:t>
            </a:r>
            <a:endParaRPr lang="en-US" sz="1200" dirty="0"/>
          </a:p>
        </p:txBody>
      </p:sp>
      <p:sp>
        <p:nvSpPr>
          <p:cNvPr id="36" name="Text 13"/>
          <p:cNvSpPr/>
          <p:nvPr/>
        </p:nvSpPr>
        <p:spPr>
          <a:xfrm>
            <a:off x="6667500" y="4114800"/>
            <a:ext cx="1128355" cy="2286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Open Sans" pitchFamily="34" charset="0"/>
                <a:ea typeface="Open Sans" pitchFamily="34" charset="-122"/>
                <a:cs typeface="Open Sans" pitchFamily="34" charset="-120"/>
              </a:rPr>
              <a:t>Coexistencia</a:t>
            </a:r>
            <a:endParaRPr lang="en-US" sz="1200" dirty="0"/>
          </a:p>
        </p:txBody>
      </p:sp>
      <p:sp>
        <p:nvSpPr>
          <p:cNvPr id="37" name="Text 14"/>
          <p:cNvSpPr/>
          <p:nvPr/>
        </p:nvSpPr>
        <p:spPr>
          <a:xfrm>
            <a:off x="6667500" y="4686300"/>
            <a:ext cx="1443038" cy="2286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Open Sans" pitchFamily="34" charset="0"/>
                <a:ea typeface="Open Sans" pitchFamily="34" charset="-122"/>
                <a:cs typeface="Open Sans" pitchFamily="34" charset="-120"/>
              </a:rPr>
              <a:t>Remplazabilidad</a:t>
            </a:r>
            <a:endParaRPr lang="en-US" sz="1200" dirty="0"/>
          </a:p>
        </p:txBody>
      </p:sp>
      <p:sp>
        <p:nvSpPr>
          <p:cNvPr id="38" name="Text 15"/>
          <p:cNvSpPr/>
          <p:nvPr/>
        </p:nvSpPr>
        <p:spPr>
          <a:xfrm>
            <a:off x="457200" y="6210300"/>
            <a:ext cx="3006269"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Open Sans" pitchFamily="34" charset="0"/>
                <a:ea typeface="Open Sans" pitchFamily="34" charset="-122"/>
                <a:cs typeface="Open Sans" pitchFamily="34" charset="-120"/>
              </a:rPr>
              <a:t>ISO/IEC 9126 - Características de Calidad</a:t>
            </a:r>
            <a:endParaRPr lang="en-US" sz="1050" dirty="0"/>
          </a:p>
        </p:txBody>
      </p:sp>
      <p:sp>
        <p:nvSpPr>
          <p:cNvPr id="39" name="Text 16"/>
          <p:cNvSpPr/>
          <p:nvPr/>
        </p:nvSpPr>
        <p:spPr>
          <a:xfrm>
            <a:off x="10837515" y="6210300"/>
            <a:ext cx="1076742"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Open Sans" pitchFamily="34" charset="0"/>
                <a:ea typeface="Open Sans" pitchFamily="34" charset="-122"/>
                <a:cs typeface="Open Sans" pitchFamily="34" charset="-120"/>
              </a:rPr>
              <a:t>Página 8 de 25</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914400"/>
            <a:ext cx="914400" cy="38100"/>
          </a:xfrm>
          <a:prstGeom prst="rect">
            <a:avLst/>
          </a:prstGeom>
        </p:spPr>
      </p:pic>
      <p:pic>
        <p:nvPicPr>
          <p:cNvPr id="4" name="Image 2" descr="preencoded.png"/>
          <p:cNvPicPr>
            <a:picLocks noChangeAspect="1"/>
          </p:cNvPicPr>
          <p:nvPr/>
        </p:nvPicPr>
        <p:blipFill>
          <a:blip r:embed="rId5"/>
          <a:stretch>
            <a:fillRect/>
          </a:stretch>
        </p:blipFill>
        <p:spPr>
          <a:xfrm>
            <a:off x="457200" y="1181100"/>
            <a:ext cx="3606850" cy="4000500"/>
          </a:xfrm>
          <a:prstGeom prst="rect">
            <a:avLst/>
          </a:prstGeom>
        </p:spPr>
      </p:pic>
      <p:pic>
        <p:nvPicPr>
          <p:cNvPr id="5" name="Image 3" descr="preencoded.png"/>
          <p:cNvPicPr>
            <a:picLocks noChangeAspect="1"/>
          </p:cNvPicPr>
          <p:nvPr/>
        </p:nvPicPr>
        <p:blipFill>
          <a:blip r:embed="rId6"/>
          <a:stretch>
            <a:fillRect/>
          </a:stretch>
        </p:blipFill>
        <p:spPr>
          <a:xfrm>
            <a:off x="685800" y="1409700"/>
            <a:ext cx="457200" cy="457200"/>
          </a:xfrm>
          <a:prstGeom prst="rect">
            <a:avLst/>
          </a:prstGeom>
        </p:spPr>
      </p:pic>
      <p:pic>
        <p:nvPicPr>
          <p:cNvPr id="6" name="Image 4" descr="preencoded.png"/>
          <p:cNvPicPr>
            <a:picLocks noChangeAspect="1"/>
          </p:cNvPicPr>
          <p:nvPr/>
        </p:nvPicPr>
        <p:blipFill>
          <a:blip r:embed="rId7"/>
          <a:stretch>
            <a:fillRect/>
          </a:stretch>
        </p:blipFill>
        <p:spPr>
          <a:xfrm>
            <a:off x="771525" y="1485900"/>
            <a:ext cx="285750" cy="304800"/>
          </a:xfrm>
          <a:prstGeom prst="rect">
            <a:avLst/>
          </a:prstGeom>
        </p:spPr>
      </p:pic>
      <p:pic>
        <p:nvPicPr>
          <p:cNvPr id="7" name="Image 5" descr="preencoded.png"/>
          <p:cNvPicPr>
            <a:picLocks noChangeAspect="1"/>
          </p:cNvPicPr>
          <p:nvPr/>
        </p:nvPicPr>
        <p:blipFill>
          <a:blip r:embed="rId8"/>
          <a:stretch>
            <a:fillRect/>
          </a:stretch>
        </p:blipFill>
        <p:spPr>
          <a:xfrm>
            <a:off x="685800" y="2057400"/>
            <a:ext cx="152400" cy="152400"/>
          </a:xfrm>
          <a:prstGeom prst="rect">
            <a:avLst/>
          </a:prstGeom>
        </p:spPr>
      </p:pic>
      <p:pic>
        <p:nvPicPr>
          <p:cNvPr id="8" name="Image 6" descr="preencoded.png"/>
          <p:cNvPicPr>
            <a:picLocks noChangeAspect="1"/>
          </p:cNvPicPr>
          <p:nvPr/>
        </p:nvPicPr>
        <p:blipFill>
          <a:blip r:embed="rId8"/>
          <a:stretch>
            <a:fillRect/>
          </a:stretch>
        </p:blipFill>
        <p:spPr>
          <a:xfrm>
            <a:off x="685800" y="2362200"/>
            <a:ext cx="152400" cy="152400"/>
          </a:xfrm>
          <a:prstGeom prst="rect">
            <a:avLst/>
          </a:prstGeom>
        </p:spPr>
      </p:pic>
      <p:pic>
        <p:nvPicPr>
          <p:cNvPr id="9" name="Image 7" descr="preencoded.png"/>
          <p:cNvPicPr>
            <a:picLocks noChangeAspect="1"/>
          </p:cNvPicPr>
          <p:nvPr/>
        </p:nvPicPr>
        <p:blipFill>
          <a:blip r:embed="rId8"/>
          <a:stretch>
            <a:fillRect/>
          </a:stretch>
        </p:blipFill>
        <p:spPr>
          <a:xfrm>
            <a:off x="685800" y="2667000"/>
            <a:ext cx="152400" cy="152400"/>
          </a:xfrm>
          <a:prstGeom prst="rect">
            <a:avLst/>
          </a:prstGeom>
        </p:spPr>
      </p:pic>
      <p:pic>
        <p:nvPicPr>
          <p:cNvPr id="10" name="Image 8" descr="preencoded.png"/>
          <p:cNvPicPr>
            <a:picLocks noChangeAspect="1"/>
          </p:cNvPicPr>
          <p:nvPr/>
        </p:nvPicPr>
        <p:blipFill>
          <a:blip r:embed="rId8"/>
          <a:stretch>
            <a:fillRect/>
          </a:stretch>
        </p:blipFill>
        <p:spPr>
          <a:xfrm>
            <a:off x="685800" y="3200400"/>
            <a:ext cx="152400" cy="152400"/>
          </a:xfrm>
          <a:prstGeom prst="rect">
            <a:avLst/>
          </a:prstGeom>
        </p:spPr>
      </p:pic>
      <p:pic>
        <p:nvPicPr>
          <p:cNvPr id="11" name="Image 9" descr="preencoded.png"/>
          <p:cNvPicPr>
            <a:picLocks noChangeAspect="1"/>
          </p:cNvPicPr>
          <p:nvPr/>
        </p:nvPicPr>
        <p:blipFill>
          <a:blip r:embed="rId9"/>
          <a:stretch>
            <a:fillRect/>
          </a:stretch>
        </p:blipFill>
        <p:spPr>
          <a:xfrm>
            <a:off x="4292650" y="1181100"/>
            <a:ext cx="3606850" cy="4000500"/>
          </a:xfrm>
          <a:prstGeom prst="rect">
            <a:avLst/>
          </a:prstGeom>
        </p:spPr>
      </p:pic>
      <p:pic>
        <p:nvPicPr>
          <p:cNvPr id="12" name="Image 10" descr="preencoded.png"/>
          <p:cNvPicPr>
            <a:picLocks noChangeAspect="1"/>
          </p:cNvPicPr>
          <p:nvPr/>
        </p:nvPicPr>
        <p:blipFill>
          <a:blip r:embed="rId10"/>
          <a:stretch>
            <a:fillRect/>
          </a:stretch>
        </p:blipFill>
        <p:spPr>
          <a:xfrm>
            <a:off x="4521250" y="1409700"/>
            <a:ext cx="457200" cy="457200"/>
          </a:xfrm>
          <a:prstGeom prst="rect">
            <a:avLst/>
          </a:prstGeom>
        </p:spPr>
      </p:pic>
      <p:pic>
        <p:nvPicPr>
          <p:cNvPr id="13" name="Image 11" descr="preencoded.png"/>
          <p:cNvPicPr>
            <a:picLocks noChangeAspect="1"/>
          </p:cNvPicPr>
          <p:nvPr/>
        </p:nvPicPr>
        <p:blipFill>
          <a:blip r:embed="rId11"/>
          <a:stretch>
            <a:fillRect/>
          </a:stretch>
        </p:blipFill>
        <p:spPr>
          <a:xfrm>
            <a:off x="4621262" y="1485900"/>
            <a:ext cx="257175" cy="304800"/>
          </a:xfrm>
          <a:prstGeom prst="rect">
            <a:avLst/>
          </a:prstGeom>
        </p:spPr>
      </p:pic>
      <p:pic>
        <p:nvPicPr>
          <p:cNvPr id="14" name="Image 12" descr="preencoded.png"/>
          <p:cNvPicPr>
            <a:picLocks noChangeAspect="1"/>
          </p:cNvPicPr>
          <p:nvPr/>
        </p:nvPicPr>
        <p:blipFill>
          <a:blip r:embed="rId12"/>
          <a:stretch>
            <a:fillRect/>
          </a:stretch>
        </p:blipFill>
        <p:spPr>
          <a:xfrm>
            <a:off x="4521250" y="2057400"/>
            <a:ext cx="152400" cy="152400"/>
          </a:xfrm>
          <a:prstGeom prst="rect">
            <a:avLst/>
          </a:prstGeom>
        </p:spPr>
      </p:pic>
      <p:pic>
        <p:nvPicPr>
          <p:cNvPr id="15" name="Image 13" descr="preencoded.png"/>
          <p:cNvPicPr>
            <a:picLocks noChangeAspect="1"/>
          </p:cNvPicPr>
          <p:nvPr/>
        </p:nvPicPr>
        <p:blipFill>
          <a:blip r:embed="rId12"/>
          <a:stretch>
            <a:fillRect/>
          </a:stretch>
        </p:blipFill>
        <p:spPr>
          <a:xfrm>
            <a:off x="4521250" y="2362200"/>
            <a:ext cx="152400" cy="152400"/>
          </a:xfrm>
          <a:prstGeom prst="rect">
            <a:avLst/>
          </a:prstGeom>
        </p:spPr>
      </p:pic>
      <p:pic>
        <p:nvPicPr>
          <p:cNvPr id="16" name="Image 14" descr="preencoded.png"/>
          <p:cNvPicPr>
            <a:picLocks noChangeAspect="1"/>
          </p:cNvPicPr>
          <p:nvPr/>
        </p:nvPicPr>
        <p:blipFill>
          <a:blip r:embed="rId12"/>
          <a:stretch>
            <a:fillRect/>
          </a:stretch>
        </p:blipFill>
        <p:spPr>
          <a:xfrm>
            <a:off x="4521250" y="2895600"/>
            <a:ext cx="152400" cy="152400"/>
          </a:xfrm>
          <a:prstGeom prst="rect">
            <a:avLst/>
          </a:prstGeom>
        </p:spPr>
      </p:pic>
      <p:pic>
        <p:nvPicPr>
          <p:cNvPr id="17" name="Image 15" descr="preencoded.png"/>
          <p:cNvPicPr>
            <a:picLocks noChangeAspect="1"/>
          </p:cNvPicPr>
          <p:nvPr/>
        </p:nvPicPr>
        <p:blipFill>
          <a:blip r:embed="rId12"/>
          <a:stretch>
            <a:fillRect/>
          </a:stretch>
        </p:blipFill>
        <p:spPr>
          <a:xfrm>
            <a:off x="4521250" y="3200400"/>
            <a:ext cx="152400" cy="152400"/>
          </a:xfrm>
          <a:prstGeom prst="rect">
            <a:avLst/>
          </a:prstGeom>
        </p:spPr>
      </p:pic>
      <p:pic>
        <p:nvPicPr>
          <p:cNvPr id="18" name="Image 16" descr="preencoded.png"/>
          <p:cNvPicPr>
            <a:picLocks noChangeAspect="1"/>
          </p:cNvPicPr>
          <p:nvPr/>
        </p:nvPicPr>
        <p:blipFill>
          <a:blip r:embed="rId13"/>
          <a:stretch>
            <a:fillRect/>
          </a:stretch>
        </p:blipFill>
        <p:spPr>
          <a:xfrm>
            <a:off x="8128099" y="1181100"/>
            <a:ext cx="3606850" cy="4000500"/>
          </a:xfrm>
          <a:prstGeom prst="rect">
            <a:avLst/>
          </a:prstGeom>
        </p:spPr>
      </p:pic>
      <p:pic>
        <p:nvPicPr>
          <p:cNvPr id="19" name="Image 17" descr="preencoded.png"/>
          <p:cNvPicPr>
            <a:picLocks noChangeAspect="1"/>
          </p:cNvPicPr>
          <p:nvPr/>
        </p:nvPicPr>
        <p:blipFill>
          <a:blip r:embed="rId14"/>
          <a:stretch>
            <a:fillRect/>
          </a:stretch>
        </p:blipFill>
        <p:spPr>
          <a:xfrm>
            <a:off x="8356699" y="1409700"/>
            <a:ext cx="457200" cy="457200"/>
          </a:xfrm>
          <a:prstGeom prst="rect">
            <a:avLst/>
          </a:prstGeom>
        </p:spPr>
      </p:pic>
      <p:pic>
        <p:nvPicPr>
          <p:cNvPr id="20" name="Image 18" descr="preencoded.png"/>
          <p:cNvPicPr>
            <a:picLocks noChangeAspect="1"/>
          </p:cNvPicPr>
          <p:nvPr/>
        </p:nvPicPr>
        <p:blipFill>
          <a:blip r:embed="rId15"/>
          <a:stretch>
            <a:fillRect/>
          </a:stretch>
        </p:blipFill>
        <p:spPr>
          <a:xfrm>
            <a:off x="8442424" y="1485900"/>
            <a:ext cx="285750" cy="304800"/>
          </a:xfrm>
          <a:prstGeom prst="rect">
            <a:avLst/>
          </a:prstGeom>
        </p:spPr>
      </p:pic>
      <p:pic>
        <p:nvPicPr>
          <p:cNvPr id="21" name="Image 19" descr="preencoded.png"/>
          <p:cNvPicPr>
            <a:picLocks noChangeAspect="1"/>
          </p:cNvPicPr>
          <p:nvPr/>
        </p:nvPicPr>
        <p:blipFill>
          <a:blip r:embed="rId16"/>
          <a:stretch>
            <a:fillRect/>
          </a:stretch>
        </p:blipFill>
        <p:spPr>
          <a:xfrm>
            <a:off x="8356699" y="2057400"/>
            <a:ext cx="152400" cy="152400"/>
          </a:xfrm>
          <a:prstGeom prst="rect">
            <a:avLst/>
          </a:prstGeom>
        </p:spPr>
      </p:pic>
      <p:pic>
        <p:nvPicPr>
          <p:cNvPr id="22" name="Image 20" descr="preencoded.png"/>
          <p:cNvPicPr>
            <a:picLocks noChangeAspect="1"/>
          </p:cNvPicPr>
          <p:nvPr/>
        </p:nvPicPr>
        <p:blipFill>
          <a:blip r:embed="rId16"/>
          <a:stretch>
            <a:fillRect/>
          </a:stretch>
        </p:blipFill>
        <p:spPr>
          <a:xfrm>
            <a:off x="8356699" y="2362200"/>
            <a:ext cx="152400" cy="152400"/>
          </a:xfrm>
          <a:prstGeom prst="rect">
            <a:avLst/>
          </a:prstGeom>
        </p:spPr>
      </p:pic>
      <p:pic>
        <p:nvPicPr>
          <p:cNvPr id="23" name="Image 21" descr="preencoded.png"/>
          <p:cNvPicPr>
            <a:picLocks noChangeAspect="1"/>
          </p:cNvPicPr>
          <p:nvPr/>
        </p:nvPicPr>
        <p:blipFill>
          <a:blip r:embed="rId16"/>
          <a:stretch>
            <a:fillRect/>
          </a:stretch>
        </p:blipFill>
        <p:spPr>
          <a:xfrm>
            <a:off x="8356699" y="2667000"/>
            <a:ext cx="152400" cy="152400"/>
          </a:xfrm>
          <a:prstGeom prst="rect">
            <a:avLst/>
          </a:prstGeom>
        </p:spPr>
      </p:pic>
      <p:pic>
        <p:nvPicPr>
          <p:cNvPr id="24" name="Image 22" descr="preencoded.png"/>
          <p:cNvPicPr>
            <a:picLocks noChangeAspect="1"/>
          </p:cNvPicPr>
          <p:nvPr/>
        </p:nvPicPr>
        <p:blipFill>
          <a:blip r:embed="rId16"/>
          <a:stretch>
            <a:fillRect/>
          </a:stretch>
        </p:blipFill>
        <p:spPr>
          <a:xfrm>
            <a:off x="8356699" y="2971800"/>
            <a:ext cx="152400" cy="152400"/>
          </a:xfrm>
          <a:prstGeom prst="rect">
            <a:avLst/>
          </a:prstGeom>
        </p:spPr>
      </p:pic>
      <p:pic>
        <p:nvPicPr>
          <p:cNvPr id="25" name="Image 23" descr="preencoded.png"/>
          <p:cNvPicPr>
            <a:picLocks noChangeAspect="1"/>
          </p:cNvPicPr>
          <p:nvPr/>
        </p:nvPicPr>
        <p:blipFill>
          <a:blip r:embed="rId17"/>
          <a:stretch>
            <a:fillRect/>
          </a:stretch>
        </p:blipFill>
        <p:spPr>
          <a:xfrm>
            <a:off x="3163491" y="5486400"/>
            <a:ext cx="5864870" cy="495300"/>
          </a:xfrm>
          <a:prstGeom prst="rect">
            <a:avLst/>
          </a:prstGeom>
        </p:spPr>
      </p:pic>
      <p:pic>
        <p:nvPicPr>
          <p:cNvPr id="26" name="Image 24" descr="preencoded.png"/>
          <p:cNvPicPr>
            <a:picLocks noChangeAspect="1"/>
          </p:cNvPicPr>
          <p:nvPr/>
        </p:nvPicPr>
        <p:blipFill>
          <a:blip r:embed="rId18"/>
          <a:stretch>
            <a:fillRect/>
          </a:stretch>
        </p:blipFill>
        <p:spPr>
          <a:xfrm>
            <a:off x="5041255" y="5648325"/>
            <a:ext cx="152400" cy="152400"/>
          </a:xfrm>
          <a:prstGeom prst="rect">
            <a:avLst/>
          </a:prstGeom>
        </p:spPr>
      </p:pic>
      <p:pic>
        <p:nvPicPr>
          <p:cNvPr id="27" name="Image 25" descr="preencoded.png"/>
          <p:cNvPicPr>
            <a:picLocks noChangeAspect="1"/>
          </p:cNvPicPr>
          <p:nvPr/>
        </p:nvPicPr>
        <p:blipFill>
          <a:blip r:embed="rId18"/>
          <a:stretch>
            <a:fillRect/>
          </a:stretch>
        </p:blipFill>
        <p:spPr>
          <a:xfrm>
            <a:off x="7047458" y="5648325"/>
            <a:ext cx="152400" cy="152400"/>
          </a:xfrm>
          <a:prstGeom prst="rect">
            <a:avLst/>
          </a:prstGeom>
        </p:spPr>
      </p:pic>
      <p:sp>
        <p:nvSpPr>
          <p:cNvPr id="28" name="Text 0"/>
          <p:cNvSpPr/>
          <p:nvPr/>
        </p:nvSpPr>
        <p:spPr>
          <a:xfrm>
            <a:off x="457200" y="457200"/>
            <a:ext cx="112776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97316"/>
                </a:solidFill>
                <a:latin typeface="ui-sans-serif" pitchFamily="34" charset="0"/>
                <a:ea typeface="ui-sans-serif" pitchFamily="34" charset="-122"/>
                <a:cs typeface="ui-sans-serif" pitchFamily="34" charset="-120"/>
              </a:rPr>
              <a:t>Calidad Interna vs Externa</a:t>
            </a:r>
            <a:endParaRPr lang="en-US" sz="2700" dirty="0"/>
          </a:p>
        </p:txBody>
      </p:sp>
      <p:sp>
        <p:nvSpPr>
          <p:cNvPr id="29" name="Text 1"/>
          <p:cNvSpPr/>
          <p:nvPr/>
        </p:nvSpPr>
        <p:spPr>
          <a:xfrm>
            <a:off x="1295400" y="1485900"/>
            <a:ext cx="2378154" cy="304800"/>
          </a:xfrm>
          <a:prstGeom prst="rect">
            <a:avLst/>
          </a:prstGeom>
          <a:noFill/>
          <a:ln/>
        </p:spPr>
        <p:txBody>
          <a:bodyPr vert="horz" wrap="square" lIns="0" tIns="0" rIns="0" bIns="0" rtlCol="0" anchor="t"/>
          <a:lstStyle/>
          <a:p>
            <a:pPr marL="0" indent="0">
              <a:lnSpc>
                <a:spcPts val="2400"/>
              </a:lnSpc>
              <a:buNone/>
            </a:pPr>
            <a:r>
              <a:rPr lang="en-US" sz="1800" b="1" dirty="0">
                <a:solidFill>
                  <a:srgbClr val="FB923C"/>
                </a:solidFill>
                <a:latin typeface="ui-sans-serif" pitchFamily="34" charset="0"/>
                <a:ea typeface="ui-sans-serif" pitchFamily="34" charset="-122"/>
                <a:cs typeface="ui-sans-serif" pitchFamily="34" charset="-120"/>
              </a:rPr>
              <a:t>Calidad Interna</a:t>
            </a:r>
            <a:endParaRPr lang="en-US" sz="1800" dirty="0"/>
          </a:p>
        </p:txBody>
      </p:sp>
      <p:sp>
        <p:nvSpPr>
          <p:cNvPr id="30" name="Text 2"/>
          <p:cNvSpPr/>
          <p:nvPr/>
        </p:nvSpPr>
        <p:spPr>
          <a:xfrm>
            <a:off x="914400" y="2019300"/>
            <a:ext cx="3182719"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D1D5DB"/>
                </a:solidFill>
                <a:latin typeface="ui-sans-serif" pitchFamily="34" charset="0"/>
                <a:ea typeface="ui-sans-serif" pitchFamily="34" charset="-122"/>
                <a:cs typeface="ui-sans-serif" pitchFamily="34" charset="-120"/>
              </a:rPr>
              <a:t>Propiedades estáticas del software</a:t>
            </a:r>
            <a:endParaRPr lang="en-US" sz="1200" dirty="0"/>
          </a:p>
        </p:txBody>
      </p:sp>
      <p:sp>
        <p:nvSpPr>
          <p:cNvPr id="31" name="Text 3"/>
          <p:cNvSpPr/>
          <p:nvPr/>
        </p:nvSpPr>
        <p:spPr>
          <a:xfrm>
            <a:off x="914400" y="2324100"/>
            <a:ext cx="3271302"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D1D5DB"/>
                </a:solidFill>
                <a:latin typeface="ui-sans-serif" pitchFamily="34" charset="0"/>
                <a:ea typeface="ui-sans-serif" pitchFamily="34" charset="-122"/>
                <a:cs typeface="ui-sans-serif" pitchFamily="34" charset="-120"/>
              </a:rPr>
              <a:t>No requiere ejecución para medirse</a:t>
            </a:r>
            <a:endParaRPr lang="en-US" sz="1200" dirty="0"/>
          </a:p>
        </p:txBody>
      </p:sp>
      <p:sp>
        <p:nvSpPr>
          <p:cNvPr id="32" name="Text 4"/>
          <p:cNvSpPr/>
          <p:nvPr/>
        </p:nvSpPr>
        <p:spPr>
          <a:xfrm>
            <a:off x="914400" y="2628900"/>
            <a:ext cx="29210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D1D5DB"/>
                </a:solidFill>
                <a:latin typeface="ui-sans-serif" pitchFamily="34" charset="0"/>
                <a:ea typeface="ui-sans-serif" pitchFamily="34" charset="-122"/>
                <a:cs typeface="ui-sans-serif" pitchFamily="34" charset="-120"/>
              </a:rPr>
              <a:t>Enfoque en aspectos técnicos del código</a:t>
            </a:r>
            <a:endParaRPr lang="en-US" sz="1200" dirty="0"/>
          </a:p>
        </p:txBody>
      </p:sp>
      <p:sp>
        <p:nvSpPr>
          <p:cNvPr id="33" name="Text 5"/>
          <p:cNvSpPr/>
          <p:nvPr/>
        </p:nvSpPr>
        <p:spPr>
          <a:xfrm>
            <a:off x="914400" y="3162300"/>
            <a:ext cx="3440073"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D1D5DB"/>
                </a:solidFill>
                <a:latin typeface="ui-sans-serif" pitchFamily="34" charset="0"/>
                <a:ea typeface="ui-sans-serif" pitchFamily="34" charset="-122"/>
                <a:cs typeface="ui-sans-serif" pitchFamily="34" charset="-120"/>
              </a:rPr>
              <a:t>Métricas aplicadas durante desarrollo</a:t>
            </a:r>
            <a:endParaRPr lang="en-US" sz="1200" dirty="0"/>
          </a:p>
        </p:txBody>
      </p:sp>
      <p:sp>
        <p:nvSpPr>
          <p:cNvPr id="34" name="Text 6"/>
          <p:cNvSpPr/>
          <p:nvPr/>
        </p:nvSpPr>
        <p:spPr>
          <a:xfrm>
            <a:off x="5130850" y="1485900"/>
            <a:ext cx="2445127" cy="304800"/>
          </a:xfrm>
          <a:prstGeom prst="rect">
            <a:avLst/>
          </a:prstGeom>
          <a:noFill/>
          <a:ln/>
        </p:spPr>
        <p:txBody>
          <a:bodyPr vert="horz" wrap="square" lIns="0" tIns="0" rIns="0" bIns="0" rtlCol="0" anchor="t"/>
          <a:lstStyle/>
          <a:p>
            <a:pPr marL="0" indent="0">
              <a:lnSpc>
                <a:spcPts val="2400"/>
              </a:lnSpc>
              <a:buNone/>
            </a:pPr>
            <a:r>
              <a:rPr lang="en-US" sz="1800" b="1" dirty="0">
                <a:solidFill>
                  <a:srgbClr val="4ADE80"/>
                </a:solidFill>
                <a:latin typeface="ui-sans-serif" pitchFamily="34" charset="0"/>
                <a:ea typeface="ui-sans-serif" pitchFamily="34" charset="-122"/>
                <a:cs typeface="ui-sans-serif" pitchFamily="34" charset="-120"/>
              </a:rPr>
              <a:t>Calidad Externa</a:t>
            </a:r>
            <a:endParaRPr lang="en-US" sz="1800" dirty="0"/>
          </a:p>
        </p:txBody>
      </p:sp>
      <p:sp>
        <p:nvSpPr>
          <p:cNvPr id="35" name="Text 7"/>
          <p:cNvSpPr/>
          <p:nvPr/>
        </p:nvSpPr>
        <p:spPr>
          <a:xfrm>
            <a:off x="4749850" y="2019300"/>
            <a:ext cx="2836069"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D1D5DB"/>
                </a:solidFill>
                <a:latin typeface="ui-sans-serif" pitchFamily="34" charset="0"/>
                <a:ea typeface="ui-sans-serif" pitchFamily="34" charset="-122"/>
                <a:cs typeface="ui-sans-serif" pitchFamily="34" charset="-120"/>
              </a:rPr>
              <a:t>Aplica al software en ejecución</a:t>
            </a:r>
            <a:endParaRPr lang="en-US" sz="1200" dirty="0"/>
          </a:p>
        </p:txBody>
      </p:sp>
      <p:sp>
        <p:nvSpPr>
          <p:cNvPr id="36" name="Text 8"/>
          <p:cNvSpPr/>
          <p:nvPr/>
        </p:nvSpPr>
        <p:spPr>
          <a:xfrm>
            <a:off x="4749850" y="2324100"/>
            <a:ext cx="29210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D1D5DB"/>
                </a:solidFill>
                <a:latin typeface="ui-sans-serif" pitchFamily="34" charset="0"/>
                <a:ea typeface="ui-sans-serif" pitchFamily="34" charset="-122"/>
                <a:cs typeface="ui-sans-serif" pitchFamily="34" charset="-120"/>
              </a:rPr>
              <a:t>Evalúa el comportamiento del software</a:t>
            </a:r>
            <a:endParaRPr lang="en-US" sz="1200" dirty="0"/>
          </a:p>
        </p:txBody>
      </p:sp>
      <p:sp>
        <p:nvSpPr>
          <p:cNvPr id="37" name="Text 9"/>
          <p:cNvSpPr/>
          <p:nvPr/>
        </p:nvSpPr>
        <p:spPr>
          <a:xfrm>
            <a:off x="4749850" y="2857500"/>
            <a:ext cx="3418463"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D1D5DB"/>
                </a:solidFill>
                <a:latin typeface="ui-sans-serif" pitchFamily="34" charset="0"/>
                <a:ea typeface="ui-sans-serif" pitchFamily="34" charset="-122"/>
                <a:cs typeface="ui-sans-serif" pitchFamily="34" charset="-120"/>
              </a:rPr>
              <a:t>Enfoque en efectividad y satisfacción</a:t>
            </a:r>
            <a:endParaRPr lang="en-US" sz="1200" dirty="0"/>
          </a:p>
        </p:txBody>
      </p:sp>
      <p:sp>
        <p:nvSpPr>
          <p:cNvPr id="38" name="Text 10"/>
          <p:cNvSpPr/>
          <p:nvPr/>
        </p:nvSpPr>
        <p:spPr>
          <a:xfrm>
            <a:off x="4749850" y="3162300"/>
            <a:ext cx="29210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D1D5DB"/>
                </a:solidFill>
                <a:latin typeface="ui-sans-serif" pitchFamily="34" charset="0"/>
                <a:ea typeface="ui-sans-serif" pitchFamily="34" charset="-122"/>
                <a:cs typeface="ui-sans-serif" pitchFamily="34" charset="-120"/>
              </a:rPr>
              <a:t>Métricas por pruebas y user interaction</a:t>
            </a:r>
            <a:endParaRPr lang="en-US" sz="1200" dirty="0"/>
          </a:p>
        </p:txBody>
      </p:sp>
      <p:sp>
        <p:nvSpPr>
          <p:cNvPr id="39" name="Text 11"/>
          <p:cNvSpPr/>
          <p:nvPr/>
        </p:nvSpPr>
        <p:spPr>
          <a:xfrm>
            <a:off x="8966299" y="1485900"/>
            <a:ext cx="2299216" cy="304800"/>
          </a:xfrm>
          <a:prstGeom prst="rect">
            <a:avLst/>
          </a:prstGeom>
          <a:noFill/>
          <a:ln/>
        </p:spPr>
        <p:txBody>
          <a:bodyPr vert="horz" wrap="square" lIns="0" tIns="0" rIns="0" bIns="0" rtlCol="0" anchor="t"/>
          <a:lstStyle/>
          <a:p>
            <a:pPr marL="0" indent="0">
              <a:lnSpc>
                <a:spcPts val="2400"/>
              </a:lnSpc>
              <a:buNone/>
            </a:pPr>
            <a:r>
              <a:rPr lang="en-US" sz="1800" b="1" dirty="0">
                <a:solidFill>
                  <a:srgbClr val="C084FC"/>
                </a:solidFill>
                <a:latin typeface="ui-sans-serif" pitchFamily="34" charset="0"/>
                <a:ea typeface="ui-sans-serif" pitchFamily="34" charset="-122"/>
                <a:cs typeface="ui-sans-serif" pitchFamily="34" charset="-120"/>
              </a:rPr>
              <a:t>Calidad en Uso</a:t>
            </a:r>
            <a:endParaRPr lang="en-US" sz="1800" dirty="0"/>
          </a:p>
        </p:txBody>
      </p:sp>
      <p:sp>
        <p:nvSpPr>
          <p:cNvPr id="40" name="Text 12"/>
          <p:cNvSpPr/>
          <p:nvPr/>
        </p:nvSpPr>
        <p:spPr>
          <a:xfrm>
            <a:off x="8585299" y="2019300"/>
            <a:ext cx="2855714"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D1D5DB"/>
                </a:solidFill>
                <a:latin typeface="ui-sans-serif" pitchFamily="34" charset="0"/>
                <a:ea typeface="ui-sans-serif" pitchFamily="34" charset="-122"/>
                <a:cs typeface="ui-sans-serif" pitchFamily="34" charset="-120"/>
              </a:rPr>
              <a:t>Medición en condiciones reales</a:t>
            </a:r>
            <a:endParaRPr lang="en-US" sz="1200" dirty="0"/>
          </a:p>
        </p:txBody>
      </p:sp>
      <p:sp>
        <p:nvSpPr>
          <p:cNvPr id="41" name="Text 13"/>
          <p:cNvSpPr/>
          <p:nvPr/>
        </p:nvSpPr>
        <p:spPr>
          <a:xfrm>
            <a:off x="8585299" y="2324100"/>
            <a:ext cx="2595146"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D1D5DB"/>
                </a:solidFill>
                <a:latin typeface="ui-sans-serif" pitchFamily="34" charset="0"/>
                <a:ea typeface="ui-sans-serif" pitchFamily="34" charset="-122"/>
                <a:cs typeface="ui-sans-serif" pitchFamily="34" charset="-120"/>
              </a:rPr>
              <a:t>Experiencia del usuario final</a:t>
            </a:r>
            <a:endParaRPr lang="en-US" sz="1200" dirty="0"/>
          </a:p>
        </p:txBody>
      </p:sp>
      <p:sp>
        <p:nvSpPr>
          <p:cNvPr id="42" name="Text 14"/>
          <p:cNvSpPr/>
          <p:nvPr/>
        </p:nvSpPr>
        <p:spPr>
          <a:xfrm>
            <a:off x="8585299" y="2628900"/>
            <a:ext cx="2636401"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D1D5DB"/>
                </a:solidFill>
                <a:latin typeface="ui-sans-serif" pitchFamily="34" charset="0"/>
                <a:ea typeface="ui-sans-serif" pitchFamily="34" charset="-122"/>
                <a:cs typeface="ui-sans-serif" pitchFamily="34" charset="-120"/>
              </a:rPr>
              <a:t>Relación con calidad externa</a:t>
            </a:r>
            <a:endParaRPr lang="en-US" sz="1200" dirty="0"/>
          </a:p>
        </p:txBody>
      </p:sp>
      <p:sp>
        <p:nvSpPr>
          <p:cNvPr id="43" name="Text 15"/>
          <p:cNvSpPr/>
          <p:nvPr/>
        </p:nvSpPr>
        <p:spPr>
          <a:xfrm>
            <a:off x="8585299" y="2933700"/>
            <a:ext cx="2764631"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D1D5DB"/>
                </a:solidFill>
                <a:latin typeface="ui-sans-serif" pitchFamily="34" charset="0"/>
                <a:ea typeface="ui-sans-serif" pitchFamily="34" charset="-122"/>
                <a:cs typeface="ui-sans-serif" pitchFamily="34" charset="-120"/>
              </a:rPr>
              <a:t>Indicador de éxito del negocio</a:t>
            </a:r>
            <a:endParaRPr lang="en-US" sz="1200" dirty="0"/>
          </a:p>
        </p:txBody>
      </p:sp>
      <p:sp>
        <p:nvSpPr>
          <p:cNvPr id="44" name="Text 16"/>
          <p:cNvSpPr/>
          <p:nvPr/>
        </p:nvSpPr>
        <p:spPr>
          <a:xfrm>
            <a:off x="3243456" y="5629275"/>
            <a:ext cx="1783616" cy="200025"/>
          </a:xfrm>
          <a:prstGeom prst="rect">
            <a:avLst/>
          </a:prstGeom>
          <a:noFill/>
          <a:ln/>
        </p:spPr>
        <p:txBody>
          <a:bodyPr vert="horz" wrap="square" lIns="0" tIns="0" rIns="0" bIns="0" rtlCol="0" anchor="t"/>
          <a:lstStyle/>
          <a:p>
            <a:pPr marL="0" indent="0" algn="ctr">
              <a:lnSpc>
                <a:spcPts val="2100"/>
              </a:lnSpc>
              <a:buNone/>
            </a:pPr>
            <a:r>
              <a:rPr lang="en-US" sz="1350" b="1" dirty="0">
                <a:solidFill>
                  <a:srgbClr val="FB923C"/>
                </a:solidFill>
                <a:latin typeface="ui-sans-serif" pitchFamily="34" charset="0"/>
                <a:ea typeface="ui-sans-serif" pitchFamily="34" charset="-122"/>
                <a:cs typeface="ui-sans-serif" pitchFamily="34" charset="-120"/>
              </a:rPr>
              <a:t>Calidad Interna</a:t>
            </a:r>
            <a:endParaRPr lang="en-US" sz="1350" dirty="0"/>
          </a:p>
        </p:txBody>
      </p:sp>
      <p:sp>
        <p:nvSpPr>
          <p:cNvPr id="45" name="Text 17"/>
          <p:cNvSpPr/>
          <p:nvPr/>
        </p:nvSpPr>
        <p:spPr>
          <a:xfrm>
            <a:off x="5203656" y="5629275"/>
            <a:ext cx="1833801" cy="200025"/>
          </a:xfrm>
          <a:prstGeom prst="rect">
            <a:avLst/>
          </a:prstGeom>
          <a:noFill/>
          <a:ln/>
        </p:spPr>
        <p:txBody>
          <a:bodyPr vert="horz" wrap="square" lIns="0" tIns="0" rIns="0" bIns="0" rtlCol="0" anchor="t"/>
          <a:lstStyle/>
          <a:p>
            <a:pPr marL="0" indent="0" algn="ctr">
              <a:lnSpc>
                <a:spcPts val="2100"/>
              </a:lnSpc>
              <a:buNone/>
            </a:pPr>
            <a:r>
              <a:rPr lang="en-US" sz="1350" b="1" dirty="0">
                <a:solidFill>
                  <a:srgbClr val="4ADE80"/>
                </a:solidFill>
                <a:latin typeface="ui-sans-serif" pitchFamily="34" charset="0"/>
                <a:ea typeface="ui-sans-serif" pitchFamily="34" charset="-122"/>
                <a:cs typeface="ui-sans-serif" pitchFamily="34" charset="-120"/>
              </a:rPr>
              <a:t>Calidad Externa</a:t>
            </a:r>
            <a:endParaRPr lang="en-US" sz="1350" dirty="0"/>
          </a:p>
        </p:txBody>
      </p:sp>
      <p:sp>
        <p:nvSpPr>
          <p:cNvPr id="46" name="Text 18"/>
          <p:cNvSpPr/>
          <p:nvPr/>
        </p:nvSpPr>
        <p:spPr>
          <a:xfrm>
            <a:off x="7218968" y="5629275"/>
            <a:ext cx="1724501" cy="200025"/>
          </a:xfrm>
          <a:prstGeom prst="rect">
            <a:avLst/>
          </a:prstGeom>
          <a:noFill/>
          <a:ln/>
        </p:spPr>
        <p:txBody>
          <a:bodyPr vert="horz" wrap="square" lIns="0" tIns="0" rIns="0" bIns="0" rtlCol="0" anchor="t"/>
          <a:lstStyle/>
          <a:p>
            <a:pPr marL="0" indent="0" algn="ctr">
              <a:lnSpc>
                <a:spcPts val="2100"/>
              </a:lnSpc>
              <a:buNone/>
            </a:pPr>
            <a:r>
              <a:rPr lang="en-US" sz="1350" b="1" dirty="0">
                <a:solidFill>
                  <a:srgbClr val="C084FC"/>
                </a:solidFill>
                <a:latin typeface="ui-sans-serif" pitchFamily="34" charset="0"/>
                <a:ea typeface="ui-sans-serif" pitchFamily="34" charset="-122"/>
                <a:cs typeface="ui-sans-serif" pitchFamily="34" charset="-120"/>
              </a:rPr>
              <a:t>Calidad en Uso</a:t>
            </a:r>
            <a:endParaRPr lang="en-US" sz="1350" dirty="0"/>
          </a:p>
        </p:txBody>
      </p:sp>
      <p:sp>
        <p:nvSpPr>
          <p:cNvPr id="47" name="Text 19"/>
          <p:cNvSpPr/>
          <p:nvPr/>
        </p:nvSpPr>
        <p:spPr>
          <a:xfrm>
            <a:off x="457200" y="6210300"/>
            <a:ext cx="2087761"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24 de Noviembre de 2025</a:t>
            </a:r>
            <a:endParaRPr lang="en-US" sz="1050" dirty="0"/>
          </a:p>
        </p:txBody>
      </p:sp>
      <p:sp>
        <p:nvSpPr>
          <p:cNvPr id="48" name="Text 20"/>
          <p:cNvSpPr/>
          <p:nvPr/>
        </p:nvSpPr>
        <p:spPr>
          <a:xfrm>
            <a:off x="10742265" y="6210300"/>
            <a:ext cx="1191042"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Página 9 de 25</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914400"/>
            <a:ext cx="914400" cy="38100"/>
          </a:xfrm>
          <a:prstGeom prst="rect">
            <a:avLst/>
          </a:prstGeom>
        </p:spPr>
      </p:pic>
      <p:pic>
        <p:nvPicPr>
          <p:cNvPr id="4" name="Image 2" descr="preencoded.png"/>
          <p:cNvPicPr>
            <a:picLocks noChangeAspect="1"/>
          </p:cNvPicPr>
          <p:nvPr/>
        </p:nvPicPr>
        <p:blipFill>
          <a:blip r:embed="rId5"/>
          <a:stretch>
            <a:fillRect/>
          </a:stretch>
        </p:blipFill>
        <p:spPr>
          <a:xfrm>
            <a:off x="457200" y="1790700"/>
            <a:ext cx="381000" cy="381000"/>
          </a:xfrm>
          <a:prstGeom prst="rect">
            <a:avLst/>
          </a:prstGeom>
        </p:spPr>
      </p:pic>
      <p:pic>
        <p:nvPicPr>
          <p:cNvPr id="5" name="Image 3" descr="preencoded.png"/>
          <p:cNvPicPr>
            <a:picLocks noChangeAspect="1"/>
          </p:cNvPicPr>
          <p:nvPr/>
        </p:nvPicPr>
        <p:blipFill>
          <a:blip r:embed="rId6"/>
          <a:stretch>
            <a:fillRect/>
          </a:stretch>
        </p:blipFill>
        <p:spPr>
          <a:xfrm>
            <a:off x="528638" y="1847850"/>
            <a:ext cx="238125" cy="266700"/>
          </a:xfrm>
          <a:prstGeom prst="rect">
            <a:avLst/>
          </a:prstGeom>
        </p:spPr>
      </p:pic>
      <p:pic>
        <p:nvPicPr>
          <p:cNvPr id="6" name="Image 4" descr="preencoded.png"/>
          <p:cNvPicPr>
            <a:picLocks noChangeAspect="1"/>
          </p:cNvPicPr>
          <p:nvPr/>
        </p:nvPicPr>
        <p:blipFill>
          <a:blip r:embed="rId7"/>
          <a:stretch>
            <a:fillRect/>
          </a:stretch>
        </p:blipFill>
        <p:spPr>
          <a:xfrm>
            <a:off x="457200" y="2857500"/>
            <a:ext cx="5486400" cy="990600"/>
          </a:xfrm>
          <a:prstGeom prst="rect">
            <a:avLst/>
          </a:prstGeom>
        </p:spPr>
      </p:pic>
      <p:pic>
        <p:nvPicPr>
          <p:cNvPr id="7" name="Image 5" descr="preencoded.png"/>
          <p:cNvPicPr>
            <a:picLocks noChangeAspect="1"/>
          </p:cNvPicPr>
          <p:nvPr/>
        </p:nvPicPr>
        <p:blipFill>
          <a:blip r:embed="rId8"/>
          <a:stretch>
            <a:fillRect/>
          </a:stretch>
        </p:blipFill>
        <p:spPr>
          <a:xfrm>
            <a:off x="571500" y="3019425"/>
            <a:ext cx="171450" cy="171450"/>
          </a:xfrm>
          <a:prstGeom prst="rect">
            <a:avLst/>
          </a:prstGeom>
        </p:spPr>
      </p:pic>
      <p:pic>
        <p:nvPicPr>
          <p:cNvPr id="8" name="Image 6" descr="preencoded.png"/>
          <p:cNvPicPr>
            <a:picLocks noChangeAspect="1"/>
          </p:cNvPicPr>
          <p:nvPr/>
        </p:nvPicPr>
        <p:blipFill>
          <a:blip r:embed="rId9"/>
          <a:stretch>
            <a:fillRect/>
          </a:stretch>
        </p:blipFill>
        <p:spPr>
          <a:xfrm>
            <a:off x="457200" y="3962400"/>
            <a:ext cx="5486400" cy="762000"/>
          </a:xfrm>
          <a:prstGeom prst="rect">
            <a:avLst/>
          </a:prstGeom>
        </p:spPr>
      </p:pic>
      <p:pic>
        <p:nvPicPr>
          <p:cNvPr id="9" name="Image 7" descr="preencoded.png"/>
          <p:cNvPicPr>
            <a:picLocks noChangeAspect="1"/>
          </p:cNvPicPr>
          <p:nvPr/>
        </p:nvPicPr>
        <p:blipFill>
          <a:blip r:embed="rId10"/>
          <a:stretch>
            <a:fillRect/>
          </a:stretch>
        </p:blipFill>
        <p:spPr>
          <a:xfrm>
            <a:off x="571500" y="4124325"/>
            <a:ext cx="171450" cy="171450"/>
          </a:xfrm>
          <a:prstGeom prst="rect">
            <a:avLst/>
          </a:prstGeom>
        </p:spPr>
      </p:pic>
      <p:pic>
        <p:nvPicPr>
          <p:cNvPr id="10" name="Image 8" descr="preencoded.png"/>
          <p:cNvPicPr>
            <a:picLocks noChangeAspect="1"/>
          </p:cNvPicPr>
          <p:nvPr/>
        </p:nvPicPr>
        <p:blipFill>
          <a:blip r:embed="rId11"/>
          <a:stretch>
            <a:fillRect/>
          </a:stretch>
        </p:blipFill>
        <p:spPr>
          <a:xfrm>
            <a:off x="457200" y="4838700"/>
            <a:ext cx="5486400" cy="762000"/>
          </a:xfrm>
          <a:prstGeom prst="rect">
            <a:avLst/>
          </a:prstGeom>
        </p:spPr>
      </p:pic>
      <p:pic>
        <p:nvPicPr>
          <p:cNvPr id="11" name="Image 9" descr="preencoded.png"/>
          <p:cNvPicPr>
            <a:picLocks noChangeAspect="1"/>
          </p:cNvPicPr>
          <p:nvPr/>
        </p:nvPicPr>
        <p:blipFill>
          <a:blip r:embed="rId12"/>
          <a:stretch>
            <a:fillRect/>
          </a:stretch>
        </p:blipFill>
        <p:spPr>
          <a:xfrm>
            <a:off x="571500" y="5000625"/>
            <a:ext cx="171450" cy="171450"/>
          </a:xfrm>
          <a:prstGeom prst="rect">
            <a:avLst/>
          </a:prstGeom>
        </p:spPr>
      </p:pic>
      <p:pic>
        <p:nvPicPr>
          <p:cNvPr id="12" name="Image 10" descr="preencoded.png"/>
          <p:cNvPicPr>
            <a:picLocks noChangeAspect="1"/>
          </p:cNvPicPr>
          <p:nvPr/>
        </p:nvPicPr>
        <p:blipFill>
          <a:blip r:embed="rId13"/>
          <a:stretch>
            <a:fillRect/>
          </a:stretch>
        </p:blipFill>
        <p:spPr>
          <a:xfrm>
            <a:off x="6248400" y="1790700"/>
            <a:ext cx="381000" cy="381000"/>
          </a:xfrm>
          <a:prstGeom prst="rect">
            <a:avLst/>
          </a:prstGeom>
        </p:spPr>
      </p:pic>
      <p:pic>
        <p:nvPicPr>
          <p:cNvPr id="13" name="Image 11" descr="preencoded.png"/>
          <p:cNvPicPr>
            <a:picLocks noChangeAspect="1"/>
          </p:cNvPicPr>
          <p:nvPr/>
        </p:nvPicPr>
        <p:blipFill>
          <a:blip r:embed="rId14"/>
          <a:stretch>
            <a:fillRect/>
          </a:stretch>
        </p:blipFill>
        <p:spPr>
          <a:xfrm>
            <a:off x="6329363" y="1847850"/>
            <a:ext cx="219075" cy="266700"/>
          </a:xfrm>
          <a:prstGeom prst="rect">
            <a:avLst/>
          </a:prstGeom>
        </p:spPr>
      </p:pic>
      <p:pic>
        <p:nvPicPr>
          <p:cNvPr id="14" name="Image 12" descr="preencoded.png"/>
          <p:cNvPicPr>
            <a:picLocks noChangeAspect="1"/>
          </p:cNvPicPr>
          <p:nvPr/>
        </p:nvPicPr>
        <p:blipFill>
          <a:blip r:embed="rId15"/>
          <a:stretch>
            <a:fillRect/>
          </a:stretch>
        </p:blipFill>
        <p:spPr>
          <a:xfrm>
            <a:off x="6248400" y="2857500"/>
            <a:ext cx="5486400" cy="762000"/>
          </a:xfrm>
          <a:prstGeom prst="rect">
            <a:avLst/>
          </a:prstGeom>
        </p:spPr>
      </p:pic>
      <p:pic>
        <p:nvPicPr>
          <p:cNvPr id="15" name="Image 13" descr="preencoded.png"/>
          <p:cNvPicPr>
            <a:picLocks noChangeAspect="1"/>
          </p:cNvPicPr>
          <p:nvPr/>
        </p:nvPicPr>
        <p:blipFill>
          <a:blip r:embed="rId16"/>
          <a:stretch>
            <a:fillRect/>
          </a:stretch>
        </p:blipFill>
        <p:spPr>
          <a:xfrm>
            <a:off x="6362700" y="3019425"/>
            <a:ext cx="219075" cy="171450"/>
          </a:xfrm>
          <a:prstGeom prst="rect">
            <a:avLst/>
          </a:prstGeom>
        </p:spPr>
      </p:pic>
      <p:pic>
        <p:nvPicPr>
          <p:cNvPr id="16" name="Image 14" descr="preencoded.png"/>
          <p:cNvPicPr>
            <a:picLocks noChangeAspect="1"/>
          </p:cNvPicPr>
          <p:nvPr/>
        </p:nvPicPr>
        <p:blipFill>
          <a:blip r:embed="rId15"/>
          <a:stretch>
            <a:fillRect/>
          </a:stretch>
        </p:blipFill>
        <p:spPr>
          <a:xfrm>
            <a:off x="6248400" y="3733800"/>
            <a:ext cx="5486400" cy="762000"/>
          </a:xfrm>
          <a:prstGeom prst="rect">
            <a:avLst/>
          </a:prstGeom>
        </p:spPr>
      </p:pic>
      <p:pic>
        <p:nvPicPr>
          <p:cNvPr id="17" name="Image 15" descr="preencoded.png"/>
          <p:cNvPicPr>
            <a:picLocks noChangeAspect="1"/>
          </p:cNvPicPr>
          <p:nvPr/>
        </p:nvPicPr>
        <p:blipFill>
          <a:blip r:embed="rId17"/>
          <a:stretch>
            <a:fillRect/>
          </a:stretch>
        </p:blipFill>
        <p:spPr>
          <a:xfrm>
            <a:off x="6362700" y="3895725"/>
            <a:ext cx="171450" cy="171450"/>
          </a:xfrm>
          <a:prstGeom prst="rect">
            <a:avLst/>
          </a:prstGeom>
        </p:spPr>
      </p:pic>
      <p:pic>
        <p:nvPicPr>
          <p:cNvPr id="18" name="Image 16" descr="preencoded.png"/>
          <p:cNvPicPr>
            <a:picLocks noChangeAspect="1"/>
          </p:cNvPicPr>
          <p:nvPr/>
        </p:nvPicPr>
        <p:blipFill>
          <a:blip r:embed="rId15"/>
          <a:stretch>
            <a:fillRect/>
          </a:stretch>
        </p:blipFill>
        <p:spPr>
          <a:xfrm>
            <a:off x="6248400" y="4610100"/>
            <a:ext cx="5486400" cy="762000"/>
          </a:xfrm>
          <a:prstGeom prst="rect">
            <a:avLst/>
          </a:prstGeom>
        </p:spPr>
      </p:pic>
      <p:pic>
        <p:nvPicPr>
          <p:cNvPr id="19" name="Image 17" descr="preencoded.png"/>
          <p:cNvPicPr>
            <a:picLocks noChangeAspect="1"/>
          </p:cNvPicPr>
          <p:nvPr/>
        </p:nvPicPr>
        <p:blipFill>
          <a:blip r:embed="rId18"/>
          <a:stretch>
            <a:fillRect/>
          </a:stretch>
        </p:blipFill>
        <p:spPr>
          <a:xfrm>
            <a:off x="6362700" y="4772025"/>
            <a:ext cx="190500" cy="171450"/>
          </a:xfrm>
          <a:prstGeom prst="rect">
            <a:avLst/>
          </a:prstGeom>
        </p:spPr>
      </p:pic>
      <p:sp>
        <p:nvSpPr>
          <p:cNvPr id="20" name="Text 0"/>
          <p:cNvSpPr/>
          <p:nvPr/>
        </p:nvSpPr>
        <p:spPr>
          <a:xfrm>
            <a:off x="457200" y="457200"/>
            <a:ext cx="1353312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97316"/>
                </a:solidFill>
                <a:latin typeface="ui-sans-serif" pitchFamily="34" charset="0"/>
                <a:ea typeface="ui-sans-serif" pitchFamily="34" charset="-122"/>
                <a:cs typeface="ui-sans-serif" pitchFamily="34" charset="-120"/>
              </a:rPr>
              <a:t>Métricas del Estándar ISO/IEC 9126</a:t>
            </a:r>
            <a:endParaRPr lang="en-US" sz="2700" dirty="0"/>
          </a:p>
        </p:txBody>
      </p:sp>
      <p:sp>
        <p:nvSpPr>
          <p:cNvPr id="21" name="Text 1"/>
          <p:cNvSpPr/>
          <p:nvPr/>
        </p:nvSpPr>
        <p:spPr>
          <a:xfrm>
            <a:off x="457200" y="1104900"/>
            <a:ext cx="11277600" cy="533400"/>
          </a:xfrm>
          <a:prstGeom prst="rect">
            <a:avLst/>
          </a:prstGeom>
          <a:noFill/>
          <a:ln/>
        </p:spPr>
        <p:txBody>
          <a:bodyPr vert="horz" wrap="square" lIns="0" tIns="0" rIns="0" bIns="0" rtlCol="0" anchor="t"/>
          <a:lstStyle/>
          <a:p>
            <a:pPr marL="0" indent="0">
              <a:lnSpc>
                <a:spcPts val="2100"/>
              </a:lnSpc>
              <a:buNone/>
            </a:pPr>
            <a:r>
              <a:rPr lang="en-US" sz="1350" dirty="0">
                <a:solidFill>
                  <a:srgbClr val="D1D5DB"/>
                </a:solidFill>
                <a:latin typeface="ui-sans-serif" pitchFamily="34" charset="0"/>
                <a:ea typeface="ui-sans-serif" pitchFamily="34" charset="-122"/>
                <a:cs typeface="ui-sans-serif" pitchFamily="34" charset="-120"/>
              </a:rPr>
              <a:t>Las métricas son medidas cuantitativas de un atributo del software. ISO/IEC 9126 proporciona un marco para definir métricas que evalúan el grado de presencia de los atributos de calidad.</a:t>
            </a:r>
            <a:endParaRPr lang="en-US" sz="1350" dirty="0"/>
          </a:p>
        </p:txBody>
      </p:sp>
      <p:sp>
        <p:nvSpPr>
          <p:cNvPr id="22" name="Text 2"/>
          <p:cNvSpPr/>
          <p:nvPr/>
        </p:nvSpPr>
        <p:spPr>
          <a:xfrm>
            <a:off x="952500" y="1828800"/>
            <a:ext cx="2719626" cy="304800"/>
          </a:xfrm>
          <a:prstGeom prst="rect">
            <a:avLst/>
          </a:prstGeom>
          <a:noFill/>
          <a:ln/>
        </p:spPr>
        <p:txBody>
          <a:bodyPr vert="horz" wrap="square" lIns="0" tIns="0" rIns="0" bIns="0" rtlCol="0" anchor="t"/>
          <a:lstStyle/>
          <a:p>
            <a:pPr marL="0" indent="0">
              <a:lnSpc>
                <a:spcPts val="2400"/>
              </a:lnSpc>
              <a:buNone/>
            </a:pPr>
            <a:r>
              <a:rPr lang="en-US" sz="1800" b="1" dirty="0">
                <a:solidFill>
                  <a:srgbClr val="FB923C"/>
                </a:solidFill>
                <a:latin typeface="ui-sans-serif" pitchFamily="34" charset="0"/>
                <a:ea typeface="ui-sans-serif" pitchFamily="34" charset="-122"/>
                <a:cs typeface="ui-sans-serif" pitchFamily="34" charset="-120"/>
              </a:rPr>
              <a:t>Métricas Internas</a:t>
            </a:r>
            <a:endParaRPr lang="en-US" sz="1800" dirty="0"/>
          </a:p>
        </p:txBody>
      </p:sp>
      <p:sp>
        <p:nvSpPr>
          <p:cNvPr id="23" name="Text 3"/>
          <p:cNvSpPr/>
          <p:nvPr/>
        </p:nvSpPr>
        <p:spPr>
          <a:xfrm>
            <a:off x="457200" y="2286000"/>
            <a:ext cx="5486400" cy="4572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No dependen de la ejecución del software (medidas estáticas). Se aplican durante el desarrollo.</a:t>
            </a:r>
            <a:endParaRPr lang="en-US" sz="1200" dirty="0"/>
          </a:p>
        </p:txBody>
      </p:sp>
      <p:sp>
        <p:nvSpPr>
          <p:cNvPr id="24" name="Text 4"/>
          <p:cNvSpPr/>
          <p:nvPr/>
        </p:nvSpPr>
        <p:spPr>
          <a:xfrm>
            <a:off x="819150" y="2971800"/>
            <a:ext cx="52578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FFFFFF"/>
                </a:solidFill>
                <a:latin typeface="ui-sans-serif" pitchFamily="34" charset="0"/>
                <a:ea typeface="ui-sans-serif" pitchFamily="34" charset="-122"/>
                <a:cs typeface="ui-sans-serif" pitchFamily="34" charset="-120"/>
              </a:rPr>
              <a:t>Propósito</a:t>
            </a:r>
            <a:endParaRPr lang="en-US" sz="1350" dirty="0"/>
          </a:p>
        </p:txBody>
      </p:sp>
      <p:sp>
        <p:nvSpPr>
          <p:cNvPr id="25" name="Text 5"/>
          <p:cNvSpPr/>
          <p:nvPr/>
        </p:nvSpPr>
        <p:spPr>
          <a:xfrm>
            <a:off x="571500" y="3276600"/>
            <a:ext cx="5257800" cy="4572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Medir calidad de entregables intermedios y predecir calidad del producto final.</a:t>
            </a:r>
            <a:endParaRPr lang="en-US" sz="1200" dirty="0"/>
          </a:p>
        </p:txBody>
      </p:sp>
      <p:sp>
        <p:nvSpPr>
          <p:cNvPr id="26" name="Text 6"/>
          <p:cNvSpPr/>
          <p:nvPr/>
        </p:nvSpPr>
        <p:spPr>
          <a:xfrm>
            <a:off x="819150" y="4076700"/>
            <a:ext cx="52578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FFFFFF"/>
                </a:solidFill>
                <a:latin typeface="ui-sans-serif" pitchFamily="34" charset="0"/>
                <a:ea typeface="ui-sans-serif" pitchFamily="34" charset="-122"/>
                <a:cs typeface="ui-sans-serif" pitchFamily="34" charset="-120"/>
              </a:rPr>
              <a:t>Aplicación</a:t>
            </a:r>
            <a:endParaRPr lang="en-US" sz="1350" dirty="0"/>
          </a:p>
        </p:txBody>
      </p:sp>
      <p:sp>
        <p:nvSpPr>
          <p:cNvPr id="27" name="Text 7"/>
          <p:cNvSpPr/>
          <p:nvPr/>
        </p:nvSpPr>
        <p:spPr>
          <a:xfrm>
            <a:off x="571500" y="4381500"/>
            <a:ext cx="6309360" cy="2286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A partir del análisis de código fuente y documentación.</a:t>
            </a:r>
            <a:endParaRPr lang="en-US" sz="1200" dirty="0"/>
          </a:p>
        </p:txBody>
      </p:sp>
      <p:sp>
        <p:nvSpPr>
          <p:cNvPr id="28" name="Text 8"/>
          <p:cNvSpPr/>
          <p:nvPr/>
        </p:nvSpPr>
        <p:spPr>
          <a:xfrm>
            <a:off x="819150" y="4953000"/>
            <a:ext cx="52578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FFFFFF"/>
                </a:solidFill>
                <a:latin typeface="ui-sans-serif" pitchFamily="34" charset="0"/>
                <a:ea typeface="ui-sans-serif" pitchFamily="34" charset="-122"/>
                <a:cs typeface="ui-sans-serif" pitchFamily="34" charset="-120"/>
              </a:rPr>
              <a:t>Ejemplo</a:t>
            </a:r>
            <a:endParaRPr lang="en-US" sz="1350" dirty="0"/>
          </a:p>
        </p:txBody>
      </p:sp>
      <p:sp>
        <p:nvSpPr>
          <p:cNvPr id="29" name="Text 9"/>
          <p:cNvSpPr/>
          <p:nvPr/>
        </p:nvSpPr>
        <p:spPr>
          <a:xfrm>
            <a:off x="571500" y="5257800"/>
            <a:ext cx="6309360" cy="2286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Complexidad ciclomática, líneas de código, densidad de defectos.</a:t>
            </a:r>
            <a:endParaRPr lang="en-US" sz="1200" dirty="0"/>
          </a:p>
        </p:txBody>
      </p:sp>
      <p:sp>
        <p:nvSpPr>
          <p:cNvPr id="30" name="Text 10"/>
          <p:cNvSpPr/>
          <p:nvPr/>
        </p:nvSpPr>
        <p:spPr>
          <a:xfrm>
            <a:off x="6743700" y="1828800"/>
            <a:ext cx="2786598" cy="304800"/>
          </a:xfrm>
          <a:prstGeom prst="rect">
            <a:avLst/>
          </a:prstGeom>
          <a:noFill/>
          <a:ln/>
        </p:spPr>
        <p:txBody>
          <a:bodyPr vert="horz" wrap="square" lIns="0" tIns="0" rIns="0" bIns="0" rtlCol="0" anchor="t"/>
          <a:lstStyle/>
          <a:p>
            <a:pPr marL="0" indent="0">
              <a:lnSpc>
                <a:spcPts val="2400"/>
              </a:lnSpc>
              <a:buNone/>
            </a:pPr>
            <a:r>
              <a:rPr lang="en-US" sz="1800" b="1" dirty="0">
                <a:solidFill>
                  <a:srgbClr val="4ADE80"/>
                </a:solidFill>
                <a:latin typeface="ui-sans-serif" pitchFamily="34" charset="0"/>
                <a:ea typeface="ui-sans-serif" pitchFamily="34" charset="-122"/>
                <a:cs typeface="ui-sans-serif" pitchFamily="34" charset="-120"/>
              </a:rPr>
              <a:t>Métricas Externas</a:t>
            </a:r>
            <a:endParaRPr lang="en-US" sz="1800" dirty="0"/>
          </a:p>
        </p:txBody>
      </p:sp>
      <p:sp>
        <p:nvSpPr>
          <p:cNvPr id="31" name="Text 11"/>
          <p:cNvSpPr/>
          <p:nvPr/>
        </p:nvSpPr>
        <p:spPr>
          <a:xfrm>
            <a:off x="6248400" y="2286000"/>
            <a:ext cx="5486400" cy="4572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Aplicables al software en ejecución. Evalúan el comportamiento desde la perspectiva del usuario.</a:t>
            </a:r>
            <a:endParaRPr lang="en-US" sz="1200" dirty="0"/>
          </a:p>
        </p:txBody>
      </p:sp>
      <p:sp>
        <p:nvSpPr>
          <p:cNvPr id="32" name="Text 12"/>
          <p:cNvSpPr/>
          <p:nvPr/>
        </p:nvSpPr>
        <p:spPr>
          <a:xfrm>
            <a:off x="6657975" y="2971800"/>
            <a:ext cx="52578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FFFFFF"/>
                </a:solidFill>
                <a:latin typeface="ui-sans-serif" pitchFamily="34" charset="0"/>
                <a:ea typeface="ui-sans-serif" pitchFamily="34" charset="-122"/>
                <a:cs typeface="ui-sans-serif" pitchFamily="34" charset="-120"/>
              </a:rPr>
              <a:t>Propósito</a:t>
            </a:r>
            <a:endParaRPr lang="en-US" sz="1350" dirty="0"/>
          </a:p>
        </p:txBody>
      </p:sp>
      <p:sp>
        <p:nvSpPr>
          <p:cNvPr id="33" name="Text 13"/>
          <p:cNvSpPr/>
          <p:nvPr/>
        </p:nvSpPr>
        <p:spPr>
          <a:xfrm>
            <a:off x="6362700" y="3276600"/>
            <a:ext cx="6309360" cy="2286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Evaluar efectividad, eficiencia y satisfacción del usuario final.</a:t>
            </a:r>
            <a:endParaRPr lang="en-US" sz="1200" dirty="0"/>
          </a:p>
        </p:txBody>
      </p:sp>
      <p:sp>
        <p:nvSpPr>
          <p:cNvPr id="34" name="Text 14"/>
          <p:cNvSpPr/>
          <p:nvPr/>
        </p:nvSpPr>
        <p:spPr>
          <a:xfrm>
            <a:off x="6610350" y="3848100"/>
            <a:ext cx="52578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FFFFFF"/>
                </a:solidFill>
                <a:latin typeface="ui-sans-serif" pitchFamily="34" charset="0"/>
                <a:ea typeface="ui-sans-serif" pitchFamily="34" charset="-122"/>
                <a:cs typeface="ui-sans-serif" pitchFamily="34" charset="-120"/>
              </a:rPr>
              <a:t>Aplicación</a:t>
            </a:r>
            <a:endParaRPr lang="en-US" sz="1350" dirty="0"/>
          </a:p>
        </p:txBody>
      </p:sp>
      <p:sp>
        <p:nvSpPr>
          <p:cNvPr id="35" name="Text 15"/>
          <p:cNvSpPr/>
          <p:nvPr/>
        </p:nvSpPr>
        <p:spPr>
          <a:xfrm>
            <a:off x="6362700" y="4152900"/>
            <a:ext cx="6309360" cy="2286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A partir de pruebas y interacción del usuario con el software.</a:t>
            </a:r>
            <a:endParaRPr lang="en-US" sz="1200" dirty="0"/>
          </a:p>
        </p:txBody>
      </p:sp>
      <p:sp>
        <p:nvSpPr>
          <p:cNvPr id="36" name="Text 16"/>
          <p:cNvSpPr/>
          <p:nvPr/>
        </p:nvSpPr>
        <p:spPr>
          <a:xfrm>
            <a:off x="6629400" y="4724400"/>
            <a:ext cx="52578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FFFFFF"/>
                </a:solidFill>
                <a:latin typeface="ui-sans-serif" pitchFamily="34" charset="0"/>
                <a:ea typeface="ui-sans-serif" pitchFamily="34" charset="-122"/>
                <a:cs typeface="ui-sans-serif" pitchFamily="34" charset="-120"/>
              </a:rPr>
              <a:t>Ejemplo</a:t>
            </a:r>
            <a:endParaRPr lang="en-US" sz="1350" dirty="0"/>
          </a:p>
        </p:txBody>
      </p:sp>
      <p:sp>
        <p:nvSpPr>
          <p:cNvPr id="37" name="Text 17"/>
          <p:cNvSpPr/>
          <p:nvPr/>
        </p:nvSpPr>
        <p:spPr>
          <a:xfrm>
            <a:off x="6362700" y="5029200"/>
            <a:ext cx="6309360" cy="2286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Tiempo de respuesta, tasa de éxito, tiempo para completar tareas.</a:t>
            </a:r>
            <a:endParaRPr lang="en-US" sz="1200" dirty="0"/>
          </a:p>
        </p:txBody>
      </p:sp>
      <p:sp>
        <p:nvSpPr>
          <p:cNvPr id="38" name="Text 18"/>
          <p:cNvSpPr/>
          <p:nvPr/>
        </p:nvSpPr>
        <p:spPr>
          <a:xfrm>
            <a:off x="457200" y="6210300"/>
            <a:ext cx="5276731"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ISO/IEC 9126:2001 - Ingeniería de software - Calidad del producto</a:t>
            </a:r>
            <a:endParaRPr lang="en-US" sz="1050" dirty="0"/>
          </a:p>
        </p:txBody>
      </p:sp>
      <p:sp>
        <p:nvSpPr>
          <p:cNvPr id="39" name="Text 19"/>
          <p:cNvSpPr/>
          <p:nvPr/>
        </p:nvSpPr>
        <p:spPr>
          <a:xfrm>
            <a:off x="10657433" y="6210300"/>
            <a:ext cx="1292840"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Página 10 de 25</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914400"/>
            <a:ext cx="914400" cy="38100"/>
          </a:xfrm>
          <a:prstGeom prst="rect">
            <a:avLst/>
          </a:prstGeom>
        </p:spPr>
      </p:pic>
      <p:pic>
        <p:nvPicPr>
          <p:cNvPr id="4" name="Image 2" descr="preencoded.png"/>
          <p:cNvPicPr>
            <a:picLocks noChangeAspect="1"/>
          </p:cNvPicPr>
          <p:nvPr/>
        </p:nvPicPr>
        <p:blipFill>
          <a:blip r:embed="rId5"/>
          <a:stretch>
            <a:fillRect/>
          </a:stretch>
        </p:blipFill>
        <p:spPr>
          <a:xfrm>
            <a:off x="457200" y="1676400"/>
            <a:ext cx="1500485" cy="609600"/>
          </a:xfrm>
          <a:prstGeom prst="rect">
            <a:avLst/>
          </a:prstGeom>
        </p:spPr>
      </p:pic>
      <p:pic>
        <p:nvPicPr>
          <p:cNvPr id="5" name="Image 3" descr="preencoded.png"/>
          <p:cNvPicPr>
            <a:picLocks noChangeAspect="1"/>
          </p:cNvPicPr>
          <p:nvPr/>
        </p:nvPicPr>
        <p:blipFill>
          <a:blip r:embed="rId6"/>
          <a:stretch>
            <a:fillRect/>
          </a:stretch>
        </p:blipFill>
        <p:spPr>
          <a:xfrm>
            <a:off x="1957685" y="1676400"/>
            <a:ext cx="2090886" cy="609600"/>
          </a:xfrm>
          <a:prstGeom prst="rect">
            <a:avLst/>
          </a:prstGeom>
        </p:spPr>
      </p:pic>
      <p:pic>
        <p:nvPicPr>
          <p:cNvPr id="6" name="Image 4" descr="preencoded.png"/>
          <p:cNvPicPr>
            <a:picLocks noChangeAspect="1"/>
          </p:cNvPicPr>
          <p:nvPr/>
        </p:nvPicPr>
        <p:blipFill>
          <a:blip r:embed="rId7"/>
          <a:stretch>
            <a:fillRect/>
          </a:stretch>
        </p:blipFill>
        <p:spPr>
          <a:xfrm>
            <a:off x="4048571" y="1676400"/>
            <a:ext cx="1200448" cy="609600"/>
          </a:xfrm>
          <a:prstGeom prst="rect">
            <a:avLst/>
          </a:prstGeom>
        </p:spPr>
      </p:pic>
      <p:pic>
        <p:nvPicPr>
          <p:cNvPr id="7" name="Image 5" descr="preencoded.png"/>
          <p:cNvPicPr>
            <a:picLocks noChangeAspect="1"/>
          </p:cNvPicPr>
          <p:nvPr/>
        </p:nvPicPr>
        <p:blipFill>
          <a:blip r:embed="rId8"/>
          <a:stretch>
            <a:fillRect/>
          </a:stretch>
        </p:blipFill>
        <p:spPr>
          <a:xfrm>
            <a:off x="5249019" y="1676400"/>
            <a:ext cx="2103983" cy="609600"/>
          </a:xfrm>
          <a:prstGeom prst="rect">
            <a:avLst/>
          </a:prstGeom>
        </p:spPr>
      </p:pic>
      <p:pic>
        <p:nvPicPr>
          <p:cNvPr id="8" name="Image 6" descr="preencoded.png"/>
          <p:cNvPicPr>
            <a:picLocks noChangeAspect="1"/>
          </p:cNvPicPr>
          <p:nvPr/>
        </p:nvPicPr>
        <p:blipFill>
          <a:blip r:embed="rId9"/>
          <a:stretch>
            <a:fillRect/>
          </a:stretch>
        </p:blipFill>
        <p:spPr>
          <a:xfrm>
            <a:off x="7353002" y="1676400"/>
            <a:ext cx="2609999" cy="609600"/>
          </a:xfrm>
          <a:prstGeom prst="rect">
            <a:avLst/>
          </a:prstGeom>
        </p:spPr>
      </p:pic>
      <p:pic>
        <p:nvPicPr>
          <p:cNvPr id="9" name="Image 7" descr="preencoded.png"/>
          <p:cNvPicPr>
            <a:picLocks noChangeAspect="1"/>
          </p:cNvPicPr>
          <p:nvPr/>
        </p:nvPicPr>
        <p:blipFill>
          <a:blip r:embed="rId10"/>
          <a:stretch>
            <a:fillRect/>
          </a:stretch>
        </p:blipFill>
        <p:spPr>
          <a:xfrm>
            <a:off x="9963001" y="1676400"/>
            <a:ext cx="1771799" cy="609600"/>
          </a:xfrm>
          <a:prstGeom prst="rect">
            <a:avLst/>
          </a:prstGeom>
        </p:spPr>
      </p:pic>
      <p:pic>
        <p:nvPicPr>
          <p:cNvPr id="10" name="Image 8" descr="preencoded.png"/>
          <p:cNvPicPr>
            <a:picLocks noChangeAspect="1"/>
          </p:cNvPicPr>
          <p:nvPr/>
        </p:nvPicPr>
        <p:blipFill>
          <a:blip r:embed="rId11"/>
          <a:stretch>
            <a:fillRect/>
          </a:stretch>
        </p:blipFill>
        <p:spPr>
          <a:xfrm>
            <a:off x="457200" y="2286000"/>
            <a:ext cx="1500485" cy="838200"/>
          </a:xfrm>
          <a:prstGeom prst="rect">
            <a:avLst/>
          </a:prstGeom>
        </p:spPr>
      </p:pic>
      <p:pic>
        <p:nvPicPr>
          <p:cNvPr id="11" name="Image 9" descr="preencoded.png"/>
          <p:cNvPicPr>
            <a:picLocks noChangeAspect="1"/>
          </p:cNvPicPr>
          <p:nvPr/>
        </p:nvPicPr>
        <p:blipFill>
          <a:blip r:embed="rId12"/>
          <a:stretch>
            <a:fillRect/>
          </a:stretch>
        </p:blipFill>
        <p:spPr>
          <a:xfrm>
            <a:off x="1957685" y="2286000"/>
            <a:ext cx="2090886" cy="838200"/>
          </a:xfrm>
          <a:prstGeom prst="rect">
            <a:avLst/>
          </a:prstGeom>
        </p:spPr>
      </p:pic>
      <p:pic>
        <p:nvPicPr>
          <p:cNvPr id="12" name="Image 10" descr="preencoded.png"/>
          <p:cNvPicPr>
            <a:picLocks noChangeAspect="1"/>
          </p:cNvPicPr>
          <p:nvPr/>
        </p:nvPicPr>
        <p:blipFill>
          <a:blip r:embed="rId13"/>
          <a:stretch>
            <a:fillRect/>
          </a:stretch>
        </p:blipFill>
        <p:spPr>
          <a:xfrm>
            <a:off x="4048571" y="2286000"/>
            <a:ext cx="1200448" cy="838200"/>
          </a:xfrm>
          <a:prstGeom prst="rect">
            <a:avLst/>
          </a:prstGeom>
        </p:spPr>
      </p:pic>
      <p:pic>
        <p:nvPicPr>
          <p:cNvPr id="13" name="Image 11" descr="preencoded.png"/>
          <p:cNvPicPr>
            <a:picLocks noChangeAspect="1"/>
          </p:cNvPicPr>
          <p:nvPr/>
        </p:nvPicPr>
        <p:blipFill>
          <a:blip r:embed="rId14"/>
          <a:stretch>
            <a:fillRect/>
          </a:stretch>
        </p:blipFill>
        <p:spPr>
          <a:xfrm>
            <a:off x="4200971" y="2619375"/>
            <a:ext cx="133350" cy="152400"/>
          </a:xfrm>
          <a:prstGeom prst="rect">
            <a:avLst/>
          </a:prstGeom>
        </p:spPr>
      </p:pic>
      <p:pic>
        <p:nvPicPr>
          <p:cNvPr id="14" name="Image 12" descr="preencoded.png"/>
          <p:cNvPicPr>
            <a:picLocks noChangeAspect="1"/>
          </p:cNvPicPr>
          <p:nvPr/>
        </p:nvPicPr>
        <p:blipFill>
          <a:blip r:embed="rId15"/>
          <a:stretch>
            <a:fillRect/>
          </a:stretch>
        </p:blipFill>
        <p:spPr>
          <a:xfrm>
            <a:off x="5249019" y="2286000"/>
            <a:ext cx="2103983" cy="838200"/>
          </a:xfrm>
          <a:prstGeom prst="rect">
            <a:avLst/>
          </a:prstGeom>
        </p:spPr>
      </p:pic>
      <p:pic>
        <p:nvPicPr>
          <p:cNvPr id="15" name="Image 13" descr="preencoded.png"/>
          <p:cNvPicPr>
            <a:picLocks noChangeAspect="1"/>
          </p:cNvPicPr>
          <p:nvPr/>
        </p:nvPicPr>
        <p:blipFill>
          <a:blip r:embed="rId16"/>
          <a:stretch>
            <a:fillRect/>
          </a:stretch>
        </p:blipFill>
        <p:spPr>
          <a:xfrm>
            <a:off x="7353002" y="2286000"/>
            <a:ext cx="2609999" cy="838200"/>
          </a:xfrm>
          <a:prstGeom prst="rect">
            <a:avLst/>
          </a:prstGeom>
        </p:spPr>
      </p:pic>
      <p:pic>
        <p:nvPicPr>
          <p:cNvPr id="16" name="Image 14" descr="preencoded.png"/>
          <p:cNvPicPr>
            <a:picLocks noChangeAspect="1"/>
          </p:cNvPicPr>
          <p:nvPr/>
        </p:nvPicPr>
        <p:blipFill>
          <a:blip r:embed="rId17"/>
          <a:stretch>
            <a:fillRect/>
          </a:stretch>
        </p:blipFill>
        <p:spPr>
          <a:xfrm>
            <a:off x="9963001" y="2286000"/>
            <a:ext cx="1771799" cy="838200"/>
          </a:xfrm>
          <a:prstGeom prst="rect">
            <a:avLst/>
          </a:prstGeom>
        </p:spPr>
      </p:pic>
      <p:pic>
        <p:nvPicPr>
          <p:cNvPr id="17" name="Image 15" descr="preencoded.png"/>
          <p:cNvPicPr>
            <a:picLocks noChangeAspect="1"/>
          </p:cNvPicPr>
          <p:nvPr/>
        </p:nvPicPr>
        <p:blipFill>
          <a:blip r:embed="rId18"/>
          <a:stretch>
            <a:fillRect/>
          </a:stretch>
        </p:blipFill>
        <p:spPr>
          <a:xfrm>
            <a:off x="457200" y="3124200"/>
            <a:ext cx="1500485" cy="609600"/>
          </a:xfrm>
          <a:prstGeom prst="rect">
            <a:avLst/>
          </a:prstGeom>
        </p:spPr>
      </p:pic>
      <p:pic>
        <p:nvPicPr>
          <p:cNvPr id="18" name="Image 16" descr="preencoded.png"/>
          <p:cNvPicPr>
            <a:picLocks noChangeAspect="1"/>
          </p:cNvPicPr>
          <p:nvPr/>
        </p:nvPicPr>
        <p:blipFill>
          <a:blip r:embed="rId19"/>
          <a:stretch>
            <a:fillRect/>
          </a:stretch>
        </p:blipFill>
        <p:spPr>
          <a:xfrm>
            <a:off x="1957685" y="3124200"/>
            <a:ext cx="2090886" cy="609600"/>
          </a:xfrm>
          <a:prstGeom prst="rect">
            <a:avLst/>
          </a:prstGeom>
        </p:spPr>
      </p:pic>
      <p:pic>
        <p:nvPicPr>
          <p:cNvPr id="19" name="Image 17" descr="preencoded.png"/>
          <p:cNvPicPr>
            <a:picLocks noChangeAspect="1"/>
          </p:cNvPicPr>
          <p:nvPr/>
        </p:nvPicPr>
        <p:blipFill>
          <a:blip r:embed="rId20"/>
          <a:stretch>
            <a:fillRect/>
          </a:stretch>
        </p:blipFill>
        <p:spPr>
          <a:xfrm>
            <a:off x="4048571" y="3124200"/>
            <a:ext cx="1200448" cy="609600"/>
          </a:xfrm>
          <a:prstGeom prst="rect">
            <a:avLst/>
          </a:prstGeom>
        </p:spPr>
      </p:pic>
      <p:pic>
        <p:nvPicPr>
          <p:cNvPr id="20" name="Image 18" descr="preencoded.png"/>
          <p:cNvPicPr>
            <a:picLocks noChangeAspect="1"/>
          </p:cNvPicPr>
          <p:nvPr/>
        </p:nvPicPr>
        <p:blipFill>
          <a:blip r:embed="rId21"/>
          <a:stretch>
            <a:fillRect/>
          </a:stretch>
        </p:blipFill>
        <p:spPr>
          <a:xfrm>
            <a:off x="4200971" y="3343275"/>
            <a:ext cx="152400" cy="152400"/>
          </a:xfrm>
          <a:prstGeom prst="rect">
            <a:avLst/>
          </a:prstGeom>
        </p:spPr>
      </p:pic>
      <p:pic>
        <p:nvPicPr>
          <p:cNvPr id="21" name="Image 19" descr="preencoded.png"/>
          <p:cNvPicPr>
            <a:picLocks noChangeAspect="1"/>
          </p:cNvPicPr>
          <p:nvPr/>
        </p:nvPicPr>
        <p:blipFill>
          <a:blip r:embed="rId22"/>
          <a:stretch>
            <a:fillRect/>
          </a:stretch>
        </p:blipFill>
        <p:spPr>
          <a:xfrm>
            <a:off x="5249019" y="3124200"/>
            <a:ext cx="2103983" cy="609600"/>
          </a:xfrm>
          <a:prstGeom prst="rect">
            <a:avLst/>
          </a:prstGeom>
        </p:spPr>
      </p:pic>
      <p:pic>
        <p:nvPicPr>
          <p:cNvPr id="22" name="Image 20" descr="preencoded.png"/>
          <p:cNvPicPr>
            <a:picLocks noChangeAspect="1"/>
          </p:cNvPicPr>
          <p:nvPr/>
        </p:nvPicPr>
        <p:blipFill>
          <a:blip r:embed="rId23"/>
          <a:stretch>
            <a:fillRect/>
          </a:stretch>
        </p:blipFill>
        <p:spPr>
          <a:xfrm>
            <a:off x="7353002" y="3124200"/>
            <a:ext cx="2609999" cy="609600"/>
          </a:xfrm>
          <a:prstGeom prst="rect">
            <a:avLst/>
          </a:prstGeom>
        </p:spPr>
      </p:pic>
      <p:pic>
        <p:nvPicPr>
          <p:cNvPr id="23" name="Image 21" descr="preencoded.png"/>
          <p:cNvPicPr>
            <a:picLocks noChangeAspect="1"/>
          </p:cNvPicPr>
          <p:nvPr/>
        </p:nvPicPr>
        <p:blipFill>
          <a:blip r:embed="rId24"/>
          <a:stretch>
            <a:fillRect/>
          </a:stretch>
        </p:blipFill>
        <p:spPr>
          <a:xfrm>
            <a:off x="9963001" y="3124200"/>
            <a:ext cx="1771799" cy="609600"/>
          </a:xfrm>
          <a:prstGeom prst="rect">
            <a:avLst/>
          </a:prstGeom>
        </p:spPr>
      </p:pic>
      <p:pic>
        <p:nvPicPr>
          <p:cNvPr id="24" name="Image 22" descr="preencoded.png"/>
          <p:cNvPicPr>
            <a:picLocks noChangeAspect="1"/>
          </p:cNvPicPr>
          <p:nvPr/>
        </p:nvPicPr>
        <p:blipFill>
          <a:blip r:embed="rId11"/>
          <a:stretch>
            <a:fillRect/>
          </a:stretch>
        </p:blipFill>
        <p:spPr>
          <a:xfrm>
            <a:off x="457200" y="3733800"/>
            <a:ext cx="1500485" cy="838200"/>
          </a:xfrm>
          <a:prstGeom prst="rect">
            <a:avLst/>
          </a:prstGeom>
        </p:spPr>
      </p:pic>
      <p:pic>
        <p:nvPicPr>
          <p:cNvPr id="25" name="Image 23" descr="preencoded.png"/>
          <p:cNvPicPr>
            <a:picLocks noChangeAspect="1"/>
          </p:cNvPicPr>
          <p:nvPr/>
        </p:nvPicPr>
        <p:blipFill>
          <a:blip r:embed="rId12"/>
          <a:stretch>
            <a:fillRect/>
          </a:stretch>
        </p:blipFill>
        <p:spPr>
          <a:xfrm>
            <a:off x="1957685" y="3733800"/>
            <a:ext cx="2090886" cy="838200"/>
          </a:xfrm>
          <a:prstGeom prst="rect">
            <a:avLst/>
          </a:prstGeom>
        </p:spPr>
      </p:pic>
      <p:pic>
        <p:nvPicPr>
          <p:cNvPr id="26" name="Image 24" descr="preencoded.png"/>
          <p:cNvPicPr>
            <a:picLocks noChangeAspect="1"/>
          </p:cNvPicPr>
          <p:nvPr/>
        </p:nvPicPr>
        <p:blipFill>
          <a:blip r:embed="rId13"/>
          <a:stretch>
            <a:fillRect/>
          </a:stretch>
        </p:blipFill>
        <p:spPr>
          <a:xfrm>
            <a:off x="4048571" y="3733800"/>
            <a:ext cx="1200448" cy="838200"/>
          </a:xfrm>
          <a:prstGeom prst="rect">
            <a:avLst/>
          </a:prstGeom>
        </p:spPr>
      </p:pic>
      <p:pic>
        <p:nvPicPr>
          <p:cNvPr id="27" name="Image 25" descr="preencoded.png"/>
          <p:cNvPicPr>
            <a:picLocks noChangeAspect="1"/>
          </p:cNvPicPr>
          <p:nvPr/>
        </p:nvPicPr>
        <p:blipFill>
          <a:blip r:embed="rId25"/>
          <a:stretch>
            <a:fillRect/>
          </a:stretch>
        </p:blipFill>
        <p:spPr>
          <a:xfrm>
            <a:off x="4200971" y="4067175"/>
            <a:ext cx="133350" cy="152400"/>
          </a:xfrm>
          <a:prstGeom prst="rect">
            <a:avLst/>
          </a:prstGeom>
        </p:spPr>
      </p:pic>
      <p:pic>
        <p:nvPicPr>
          <p:cNvPr id="28" name="Image 26" descr="preencoded.png"/>
          <p:cNvPicPr>
            <a:picLocks noChangeAspect="1"/>
          </p:cNvPicPr>
          <p:nvPr/>
        </p:nvPicPr>
        <p:blipFill>
          <a:blip r:embed="rId15"/>
          <a:stretch>
            <a:fillRect/>
          </a:stretch>
        </p:blipFill>
        <p:spPr>
          <a:xfrm>
            <a:off x="5249019" y="3733800"/>
            <a:ext cx="2103983" cy="838200"/>
          </a:xfrm>
          <a:prstGeom prst="rect">
            <a:avLst/>
          </a:prstGeom>
        </p:spPr>
      </p:pic>
      <p:pic>
        <p:nvPicPr>
          <p:cNvPr id="29" name="Image 27" descr="preencoded.png"/>
          <p:cNvPicPr>
            <a:picLocks noChangeAspect="1"/>
          </p:cNvPicPr>
          <p:nvPr/>
        </p:nvPicPr>
        <p:blipFill>
          <a:blip r:embed="rId16"/>
          <a:stretch>
            <a:fillRect/>
          </a:stretch>
        </p:blipFill>
        <p:spPr>
          <a:xfrm>
            <a:off x="7353002" y="3733800"/>
            <a:ext cx="2609999" cy="838200"/>
          </a:xfrm>
          <a:prstGeom prst="rect">
            <a:avLst/>
          </a:prstGeom>
        </p:spPr>
      </p:pic>
      <p:pic>
        <p:nvPicPr>
          <p:cNvPr id="30" name="Image 28" descr="preencoded.png"/>
          <p:cNvPicPr>
            <a:picLocks noChangeAspect="1"/>
          </p:cNvPicPr>
          <p:nvPr/>
        </p:nvPicPr>
        <p:blipFill>
          <a:blip r:embed="rId17"/>
          <a:stretch>
            <a:fillRect/>
          </a:stretch>
        </p:blipFill>
        <p:spPr>
          <a:xfrm>
            <a:off x="9963001" y="3733800"/>
            <a:ext cx="1771799" cy="838200"/>
          </a:xfrm>
          <a:prstGeom prst="rect">
            <a:avLst/>
          </a:prstGeom>
        </p:spPr>
      </p:pic>
      <p:pic>
        <p:nvPicPr>
          <p:cNvPr id="31" name="Image 29" descr="preencoded.png"/>
          <p:cNvPicPr>
            <a:picLocks noChangeAspect="1"/>
          </p:cNvPicPr>
          <p:nvPr/>
        </p:nvPicPr>
        <p:blipFill>
          <a:blip r:embed="rId18"/>
          <a:stretch>
            <a:fillRect/>
          </a:stretch>
        </p:blipFill>
        <p:spPr>
          <a:xfrm>
            <a:off x="457200" y="4572000"/>
            <a:ext cx="1500485" cy="609600"/>
          </a:xfrm>
          <a:prstGeom prst="rect">
            <a:avLst/>
          </a:prstGeom>
        </p:spPr>
      </p:pic>
      <p:pic>
        <p:nvPicPr>
          <p:cNvPr id="32" name="Image 30" descr="preencoded.png"/>
          <p:cNvPicPr>
            <a:picLocks noChangeAspect="1"/>
          </p:cNvPicPr>
          <p:nvPr/>
        </p:nvPicPr>
        <p:blipFill>
          <a:blip r:embed="rId19"/>
          <a:stretch>
            <a:fillRect/>
          </a:stretch>
        </p:blipFill>
        <p:spPr>
          <a:xfrm>
            <a:off x="1957685" y="4572000"/>
            <a:ext cx="2090886" cy="609600"/>
          </a:xfrm>
          <a:prstGeom prst="rect">
            <a:avLst/>
          </a:prstGeom>
        </p:spPr>
      </p:pic>
      <p:pic>
        <p:nvPicPr>
          <p:cNvPr id="33" name="Image 31" descr="preencoded.png"/>
          <p:cNvPicPr>
            <a:picLocks noChangeAspect="1"/>
          </p:cNvPicPr>
          <p:nvPr/>
        </p:nvPicPr>
        <p:blipFill>
          <a:blip r:embed="rId20"/>
          <a:stretch>
            <a:fillRect/>
          </a:stretch>
        </p:blipFill>
        <p:spPr>
          <a:xfrm>
            <a:off x="4048571" y="4572000"/>
            <a:ext cx="1200448" cy="609600"/>
          </a:xfrm>
          <a:prstGeom prst="rect">
            <a:avLst/>
          </a:prstGeom>
        </p:spPr>
      </p:pic>
      <p:pic>
        <p:nvPicPr>
          <p:cNvPr id="34" name="Image 32" descr="preencoded.png"/>
          <p:cNvPicPr>
            <a:picLocks noChangeAspect="1"/>
          </p:cNvPicPr>
          <p:nvPr/>
        </p:nvPicPr>
        <p:blipFill>
          <a:blip r:embed="rId26"/>
          <a:stretch>
            <a:fillRect/>
          </a:stretch>
        </p:blipFill>
        <p:spPr>
          <a:xfrm>
            <a:off x="4200971" y="4791075"/>
            <a:ext cx="152400" cy="152400"/>
          </a:xfrm>
          <a:prstGeom prst="rect">
            <a:avLst/>
          </a:prstGeom>
        </p:spPr>
      </p:pic>
      <p:pic>
        <p:nvPicPr>
          <p:cNvPr id="35" name="Image 33" descr="preencoded.png"/>
          <p:cNvPicPr>
            <a:picLocks noChangeAspect="1"/>
          </p:cNvPicPr>
          <p:nvPr/>
        </p:nvPicPr>
        <p:blipFill>
          <a:blip r:embed="rId22"/>
          <a:stretch>
            <a:fillRect/>
          </a:stretch>
        </p:blipFill>
        <p:spPr>
          <a:xfrm>
            <a:off x="5249019" y="4572000"/>
            <a:ext cx="2103983" cy="609600"/>
          </a:xfrm>
          <a:prstGeom prst="rect">
            <a:avLst/>
          </a:prstGeom>
        </p:spPr>
      </p:pic>
      <p:pic>
        <p:nvPicPr>
          <p:cNvPr id="36" name="Image 34" descr="preencoded.png"/>
          <p:cNvPicPr>
            <a:picLocks noChangeAspect="1"/>
          </p:cNvPicPr>
          <p:nvPr/>
        </p:nvPicPr>
        <p:blipFill>
          <a:blip r:embed="rId23"/>
          <a:stretch>
            <a:fillRect/>
          </a:stretch>
        </p:blipFill>
        <p:spPr>
          <a:xfrm>
            <a:off x="7353002" y="4572000"/>
            <a:ext cx="2609999" cy="609600"/>
          </a:xfrm>
          <a:prstGeom prst="rect">
            <a:avLst/>
          </a:prstGeom>
        </p:spPr>
      </p:pic>
      <p:pic>
        <p:nvPicPr>
          <p:cNvPr id="37" name="Image 35" descr="preencoded.png"/>
          <p:cNvPicPr>
            <a:picLocks noChangeAspect="1"/>
          </p:cNvPicPr>
          <p:nvPr/>
        </p:nvPicPr>
        <p:blipFill>
          <a:blip r:embed="rId24"/>
          <a:stretch>
            <a:fillRect/>
          </a:stretch>
        </p:blipFill>
        <p:spPr>
          <a:xfrm>
            <a:off x="9963001" y="4572000"/>
            <a:ext cx="1771799" cy="609600"/>
          </a:xfrm>
          <a:prstGeom prst="rect">
            <a:avLst/>
          </a:prstGeom>
        </p:spPr>
      </p:pic>
      <p:sp>
        <p:nvSpPr>
          <p:cNvPr id="38" name="Text 0"/>
          <p:cNvSpPr/>
          <p:nvPr/>
        </p:nvSpPr>
        <p:spPr>
          <a:xfrm>
            <a:off x="457200" y="457200"/>
            <a:ext cx="1353312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97316"/>
                </a:solidFill>
                <a:latin typeface="ui-sans-serif" pitchFamily="34" charset="0"/>
                <a:ea typeface="ui-sans-serif" pitchFamily="34" charset="-122"/>
                <a:cs typeface="ui-sans-serif" pitchFamily="34" charset="-120"/>
              </a:rPr>
              <a:t>Ejemplos Prácticos de Métricas</a:t>
            </a:r>
            <a:endParaRPr lang="en-US" sz="2700" dirty="0"/>
          </a:p>
        </p:txBody>
      </p:sp>
      <p:sp>
        <p:nvSpPr>
          <p:cNvPr id="39" name="Text 1"/>
          <p:cNvSpPr/>
          <p:nvPr/>
        </p:nvSpPr>
        <p:spPr>
          <a:xfrm>
            <a:off x="457200" y="1104900"/>
            <a:ext cx="11277600" cy="4572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Ejemplos de métricas del estándar ISO/IEC 9126 organizadas por característica, subcaracterística, tipo de métrica, propósito y método de aplicación:</a:t>
            </a:r>
            <a:endParaRPr lang="en-US" sz="1200" dirty="0"/>
          </a:p>
        </p:txBody>
      </p:sp>
      <p:sp>
        <p:nvSpPr>
          <p:cNvPr id="40" name="Text 2"/>
          <p:cNvSpPr/>
          <p:nvPr/>
        </p:nvSpPr>
        <p:spPr>
          <a:xfrm>
            <a:off x="609600" y="1676400"/>
            <a:ext cx="1800582" cy="609600"/>
          </a:xfrm>
          <a:prstGeom prst="rect">
            <a:avLst/>
          </a:prstGeom>
          <a:noFill/>
          <a:ln/>
        </p:spPr>
        <p:txBody>
          <a:bodyPr vert="horz" wrap="square" lIns="0" tIns="0" rIns="0" bIns="0" rtlCol="0" anchor="t"/>
          <a:lstStyle/>
          <a:p>
            <a:pPr marL="0" indent="0" algn="l">
              <a:lnSpc>
                <a:spcPts val="1800"/>
              </a:lnSpc>
              <a:buNone/>
            </a:pPr>
            <a:r>
              <a:rPr lang="en-US" sz="1200" b="1" dirty="0">
                <a:solidFill>
                  <a:srgbClr val="FB923C"/>
                </a:solidFill>
                <a:latin typeface="ui-sans-serif" pitchFamily="34" charset="0"/>
                <a:ea typeface="ui-sans-serif" pitchFamily="34" charset="-122"/>
                <a:cs typeface="ui-sans-serif" pitchFamily="34" charset="-120"/>
              </a:rPr>
              <a:t>Característica</a:t>
            </a:r>
            <a:endParaRPr lang="en-US" sz="1200" dirty="0"/>
          </a:p>
        </p:txBody>
      </p:sp>
      <p:sp>
        <p:nvSpPr>
          <p:cNvPr id="41" name="Text 3"/>
          <p:cNvSpPr/>
          <p:nvPr/>
        </p:nvSpPr>
        <p:spPr>
          <a:xfrm>
            <a:off x="2110085" y="1676400"/>
            <a:ext cx="2509064" cy="609600"/>
          </a:xfrm>
          <a:prstGeom prst="rect">
            <a:avLst/>
          </a:prstGeom>
          <a:noFill/>
          <a:ln/>
        </p:spPr>
        <p:txBody>
          <a:bodyPr vert="horz" wrap="square" lIns="0" tIns="0" rIns="0" bIns="0" rtlCol="0" anchor="t"/>
          <a:lstStyle/>
          <a:p>
            <a:pPr marL="0" indent="0" algn="l">
              <a:lnSpc>
                <a:spcPts val="1800"/>
              </a:lnSpc>
              <a:buNone/>
            </a:pPr>
            <a:r>
              <a:rPr lang="en-US" sz="1200" b="1" dirty="0">
                <a:solidFill>
                  <a:srgbClr val="FB923C"/>
                </a:solidFill>
                <a:latin typeface="ui-sans-serif" pitchFamily="34" charset="0"/>
                <a:ea typeface="ui-sans-serif" pitchFamily="34" charset="-122"/>
                <a:cs typeface="ui-sans-serif" pitchFamily="34" charset="-120"/>
              </a:rPr>
              <a:t>Subcaracterística</a:t>
            </a:r>
            <a:endParaRPr lang="en-US" sz="1200" dirty="0"/>
          </a:p>
        </p:txBody>
      </p:sp>
      <p:sp>
        <p:nvSpPr>
          <p:cNvPr id="42" name="Text 4"/>
          <p:cNvSpPr/>
          <p:nvPr/>
        </p:nvSpPr>
        <p:spPr>
          <a:xfrm>
            <a:off x="4200971" y="1676400"/>
            <a:ext cx="1200448" cy="609600"/>
          </a:xfrm>
          <a:prstGeom prst="rect">
            <a:avLst/>
          </a:prstGeom>
          <a:noFill/>
          <a:ln/>
        </p:spPr>
        <p:txBody>
          <a:bodyPr vert="horz" wrap="square" lIns="0" tIns="0" rIns="0" bIns="0" rtlCol="0" anchor="t"/>
          <a:lstStyle/>
          <a:p>
            <a:pPr marL="0" indent="0" algn="l">
              <a:lnSpc>
                <a:spcPts val="1800"/>
              </a:lnSpc>
              <a:buNone/>
            </a:pPr>
            <a:r>
              <a:rPr lang="en-US" sz="1200" b="1" dirty="0">
                <a:solidFill>
                  <a:srgbClr val="FB923C"/>
                </a:solidFill>
                <a:latin typeface="ui-sans-serif" pitchFamily="34" charset="0"/>
                <a:ea typeface="ui-sans-serif" pitchFamily="34" charset="-122"/>
                <a:cs typeface="ui-sans-serif" pitchFamily="34" charset="-120"/>
              </a:rPr>
              <a:t>Tipo de Métrica</a:t>
            </a:r>
            <a:endParaRPr lang="en-US" sz="1200" dirty="0"/>
          </a:p>
        </p:txBody>
      </p:sp>
      <p:sp>
        <p:nvSpPr>
          <p:cNvPr id="43" name="Text 5"/>
          <p:cNvSpPr/>
          <p:nvPr/>
        </p:nvSpPr>
        <p:spPr>
          <a:xfrm>
            <a:off x="5401419" y="1676400"/>
            <a:ext cx="2524780" cy="609600"/>
          </a:xfrm>
          <a:prstGeom prst="rect">
            <a:avLst/>
          </a:prstGeom>
          <a:noFill/>
          <a:ln/>
        </p:spPr>
        <p:txBody>
          <a:bodyPr vert="horz" wrap="square" lIns="0" tIns="0" rIns="0" bIns="0" rtlCol="0" anchor="t"/>
          <a:lstStyle/>
          <a:p>
            <a:pPr marL="0" indent="0" algn="l">
              <a:lnSpc>
                <a:spcPts val="1800"/>
              </a:lnSpc>
              <a:buNone/>
            </a:pPr>
            <a:r>
              <a:rPr lang="en-US" sz="1200" b="1" dirty="0">
                <a:solidFill>
                  <a:srgbClr val="FB923C"/>
                </a:solidFill>
                <a:latin typeface="ui-sans-serif" pitchFamily="34" charset="0"/>
                <a:ea typeface="ui-sans-serif" pitchFamily="34" charset="-122"/>
                <a:cs typeface="ui-sans-serif" pitchFamily="34" charset="-120"/>
              </a:rPr>
              <a:t>Métrica de Ejemplo</a:t>
            </a:r>
            <a:endParaRPr lang="en-US" sz="1200" dirty="0"/>
          </a:p>
        </p:txBody>
      </p:sp>
      <p:sp>
        <p:nvSpPr>
          <p:cNvPr id="44" name="Text 6"/>
          <p:cNvSpPr/>
          <p:nvPr/>
        </p:nvSpPr>
        <p:spPr>
          <a:xfrm>
            <a:off x="7505402" y="1676400"/>
            <a:ext cx="2609999" cy="609600"/>
          </a:xfrm>
          <a:prstGeom prst="rect">
            <a:avLst/>
          </a:prstGeom>
          <a:noFill/>
          <a:ln/>
        </p:spPr>
        <p:txBody>
          <a:bodyPr vert="horz" wrap="square" lIns="0" tIns="0" rIns="0" bIns="0" rtlCol="0" anchor="t"/>
          <a:lstStyle/>
          <a:p>
            <a:pPr marL="0" indent="0" algn="l">
              <a:lnSpc>
                <a:spcPts val="1800"/>
              </a:lnSpc>
              <a:buNone/>
            </a:pPr>
            <a:r>
              <a:rPr lang="en-US" sz="1200" b="1" dirty="0">
                <a:solidFill>
                  <a:srgbClr val="FB923C"/>
                </a:solidFill>
                <a:latin typeface="ui-sans-serif" pitchFamily="34" charset="0"/>
                <a:ea typeface="ui-sans-serif" pitchFamily="34" charset="-122"/>
                <a:cs typeface="ui-sans-serif" pitchFamily="34" charset="-120"/>
              </a:rPr>
              <a:t>Propósito</a:t>
            </a:r>
            <a:endParaRPr lang="en-US" sz="1200" dirty="0"/>
          </a:p>
        </p:txBody>
      </p:sp>
      <p:sp>
        <p:nvSpPr>
          <p:cNvPr id="45" name="Text 7"/>
          <p:cNvSpPr/>
          <p:nvPr/>
        </p:nvSpPr>
        <p:spPr>
          <a:xfrm>
            <a:off x="10115401" y="1676400"/>
            <a:ext cx="1771799" cy="609600"/>
          </a:xfrm>
          <a:prstGeom prst="rect">
            <a:avLst/>
          </a:prstGeom>
          <a:noFill/>
          <a:ln/>
        </p:spPr>
        <p:txBody>
          <a:bodyPr vert="horz" wrap="square" lIns="0" tIns="0" rIns="0" bIns="0" rtlCol="0" anchor="t"/>
          <a:lstStyle/>
          <a:p>
            <a:pPr marL="0" indent="0" algn="l">
              <a:lnSpc>
                <a:spcPts val="1800"/>
              </a:lnSpc>
              <a:buNone/>
            </a:pPr>
            <a:r>
              <a:rPr lang="en-US" sz="1200" b="1" dirty="0">
                <a:solidFill>
                  <a:srgbClr val="FB923C"/>
                </a:solidFill>
                <a:latin typeface="ui-sans-serif" pitchFamily="34" charset="0"/>
                <a:ea typeface="ui-sans-serif" pitchFamily="34" charset="-122"/>
                <a:cs typeface="ui-sans-serif" pitchFamily="34" charset="-120"/>
              </a:rPr>
              <a:t>Método de Aplicación</a:t>
            </a:r>
            <a:endParaRPr lang="en-US" sz="1200" dirty="0"/>
          </a:p>
        </p:txBody>
      </p:sp>
      <p:sp>
        <p:nvSpPr>
          <p:cNvPr id="46" name="Text 8"/>
          <p:cNvSpPr/>
          <p:nvPr/>
        </p:nvSpPr>
        <p:spPr>
          <a:xfrm>
            <a:off x="609600" y="2286000"/>
            <a:ext cx="1800582" cy="8382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ui-sans-serif" pitchFamily="34" charset="0"/>
                <a:ea typeface="ui-sans-serif" pitchFamily="34" charset="-122"/>
                <a:cs typeface="ui-sans-serif" pitchFamily="34" charset="-120"/>
              </a:rPr>
              <a:t>Funcionalidad</a:t>
            </a:r>
            <a:endParaRPr lang="en-US" sz="1200" dirty="0"/>
          </a:p>
        </p:txBody>
      </p:sp>
      <p:sp>
        <p:nvSpPr>
          <p:cNvPr id="47" name="Text 9"/>
          <p:cNvSpPr/>
          <p:nvPr/>
        </p:nvSpPr>
        <p:spPr>
          <a:xfrm>
            <a:off x="2110085" y="2286000"/>
            <a:ext cx="2090886" cy="8382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ui-sans-serif" pitchFamily="34" charset="0"/>
                <a:ea typeface="ui-sans-serif" pitchFamily="34" charset="-122"/>
                <a:cs typeface="ui-sans-serif" pitchFamily="34" charset="-120"/>
              </a:rPr>
              <a:t>Adecuación</a:t>
            </a:r>
            <a:endParaRPr lang="en-US" sz="1200" dirty="0"/>
          </a:p>
        </p:txBody>
      </p:sp>
      <p:sp>
        <p:nvSpPr>
          <p:cNvPr id="48" name="Text 10"/>
          <p:cNvSpPr/>
          <p:nvPr/>
        </p:nvSpPr>
        <p:spPr>
          <a:xfrm>
            <a:off x="4410521" y="2286000"/>
            <a:ext cx="1440537" cy="8382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ui-sans-serif" pitchFamily="34" charset="0"/>
                <a:ea typeface="ui-sans-serif" pitchFamily="34" charset="-122"/>
                <a:cs typeface="ui-sans-serif" pitchFamily="34" charset="-120"/>
              </a:rPr>
              <a:t>Externa</a:t>
            </a:r>
            <a:endParaRPr lang="en-US" sz="1200" dirty="0"/>
          </a:p>
        </p:txBody>
      </p:sp>
      <p:sp>
        <p:nvSpPr>
          <p:cNvPr id="49" name="Text 11"/>
          <p:cNvSpPr/>
          <p:nvPr/>
        </p:nvSpPr>
        <p:spPr>
          <a:xfrm>
            <a:off x="5401419" y="2286000"/>
            <a:ext cx="2103983" cy="8382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ui-sans-serif" pitchFamily="34" charset="0"/>
                <a:ea typeface="ui-sans-serif" pitchFamily="34" charset="-122"/>
                <a:cs typeface="ui-sans-serif" pitchFamily="34" charset="-120"/>
              </a:rPr>
              <a:t>Porcentaje de funciones básicas disponibles</a:t>
            </a:r>
            <a:endParaRPr lang="en-US" sz="1200" dirty="0"/>
          </a:p>
        </p:txBody>
      </p:sp>
      <p:sp>
        <p:nvSpPr>
          <p:cNvPr id="50" name="Text 12"/>
          <p:cNvSpPr/>
          <p:nvPr/>
        </p:nvSpPr>
        <p:spPr>
          <a:xfrm>
            <a:off x="7505402" y="2286000"/>
            <a:ext cx="2609999" cy="8382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ui-sans-serif" pitchFamily="34" charset="0"/>
                <a:ea typeface="ui-sans-serif" pitchFamily="34" charset="-122"/>
                <a:cs typeface="ui-sans-serif" pitchFamily="34" charset="-120"/>
              </a:rPr>
              <a:t>Evaluar si el software cumple con las funciones esperadas</a:t>
            </a:r>
            <a:endParaRPr lang="en-US" sz="1200" dirty="0"/>
          </a:p>
        </p:txBody>
      </p:sp>
      <p:sp>
        <p:nvSpPr>
          <p:cNvPr id="51" name="Text 13"/>
          <p:cNvSpPr/>
          <p:nvPr/>
        </p:nvSpPr>
        <p:spPr>
          <a:xfrm>
            <a:off x="10115401" y="2286000"/>
            <a:ext cx="2126159" cy="8382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ui-sans-serif" pitchFamily="34" charset="0"/>
                <a:ea typeface="ui-sans-serif" pitchFamily="34" charset="-122"/>
                <a:cs typeface="ui-sans-serif" pitchFamily="34" charset="-120"/>
              </a:rPr>
              <a:t>Análisis heurístico</a:t>
            </a:r>
            <a:endParaRPr lang="en-US" sz="1200" dirty="0"/>
          </a:p>
        </p:txBody>
      </p:sp>
      <p:sp>
        <p:nvSpPr>
          <p:cNvPr id="52" name="Text 14"/>
          <p:cNvSpPr/>
          <p:nvPr/>
        </p:nvSpPr>
        <p:spPr>
          <a:xfrm>
            <a:off x="609600" y="3124200"/>
            <a:ext cx="1800582" cy="6096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ui-sans-serif" pitchFamily="34" charset="0"/>
                <a:ea typeface="ui-sans-serif" pitchFamily="34" charset="-122"/>
                <a:cs typeface="ui-sans-serif" pitchFamily="34" charset="-120"/>
              </a:rPr>
              <a:t>Usabilidad</a:t>
            </a:r>
            <a:endParaRPr lang="en-US" sz="1200" dirty="0"/>
          </a:p>
        </p:txBody>
      </p:sp>
      <p:sp>
        <p:nvSpPr>
          <p:cNvPr id="53" name="Text 15"/>
          <p:cNvSpPr/>
          <p:nvPr/>
        </p:nvSpPr>
        <p:spPr>
          <a:xfrm>
            <a:off x="2110085" y="3124200"/>
            <a:ext cx="2509064" cy="6096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ui-sans-serif" pitchFamily="34" charset="0"/>
                <a:ea typeface="ui-sans-serif" pitchFamily="34" charset="-122"/>
                <a:cs typeface="ui-sans-serif" pitchFamily="34" charset="-120"/>
              </a:rPr>
              <a:t>Entendibilidad</a:t>
            </a:r>
            <a:endParaRPr lang="en-US" sz="1200" dirty="0"/>
          </a:p>
        </p:txBody>
      </p:sp>
      <p:sp>
        <p:nvSpPr>
          <p:cNvPr id="54" name="Text 16"/>
          <p:cNvSpPr/>
          <p:nvPr/>
        </p:nvSpPr>
        <p:spPr>
          <a:xfrm>
            <a:off x="4429571" y="3124200"/>
            <a:ext cx="1440537" cy="6096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ui-sans-serif" pitchFamily="34" charset="0"/>
                <a:ea typeface="ui-sans-serif" pitchFamily="34" charset="-122"/>
                <a:cs typeface="ui-sans-serif" pitchFamily="34" charset="-120"/>
              </a:rPr>
              <a:t>Interna</a:t>
            </a:r>
            <a:endParaRPr lang="en-US" sz="1200" dirty="0"/>
          </a:p>
        </p:txBody>
      </p:sp>
      <p:sp>
        <p:nvSpPr>
          <p:cNvPr id="55" name="Text 17"/>
          <p:cNvSpPr/>
          <p:nvPr/>
        </p:nvSpPr>
        <p:spPr>
          <a:xfrm>
            <a:off x="5401419" y="3124200"/>
            <a:ext cx="2103983" cy="6096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ui-sans-serif" pitchFamily="34" charset="0"/>
                <a:ea typeface="ui-sans-serif" pitchFamily="34" charset="-122"/>
                <a:cs typeface="ui-sans-serif" pitchFamily="34" charset="-120"/>
              </a:rPr>
              <a:t>Nivel de complejidad cicломática</a:t>
            </a:r>
            <a:endParaRPr lang="en-US" sz="1200" dirty="0"/>
          </a:p>
        </p:txBody>
      </p:sp>
      <p:sp>
        <p:nvSpPr>
          <p:cNvPr id="56" name="Text 18"/>
          <p:cNvSpPr/>
          <p:nvPr/>
        </p:nvSpPr>
        <p:spPr>
          <a:xfrm>
            <a:off x="7505402" y="3124200"/>
            <a:ext cx="2609999" cy="6096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ui-sans-serif" pitchFamily="34" charset="0"/>
                <a:ea typeface="ui-sans-serif" pitchFamily="34" charset="-122"/>
                <a:cs typeface="ui-sans-serif" pitchFamily="34" charset="-120"/>
              </a:rPr>
              <a:t>Evaluar la facilidad de comprensión del software</a:t>
            </a:r>
            <a:endParaRPr lang="en-US" sz="1200" dirty="0"/>
          </a:p>
        </p:txBody>
      </p:sp>
      <p:sp>
        <p:nvSpPr>
          <p:cNvPr id="57" name="Text 19"/>
          <p:cNvSpPr/>
          <p:nvPr/>
        </p:nvSpPr>
        <p:spPr>
          <a:xfrm>
            <a:off x="10115401" y="3124200"/>
            <a:ext cx="1771799" cy="6096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ui-sans-serif" pitchFamily="34" charset="0"/>
                <a:ea typeface="ui-sans-serif" pitchFamily="34" charset="-122"/>
                <a:cs typeface="ui-sans-serif" pitchFamily="34" charset="-120"/>
              </a:rPr>
              <a:t>Análisis del código fuente</a:t>
            </a:r>
            <a:endParaRPr lang="en-US" sz="1200" dirty="0"/>
          </a:p>
        </p:txBody>
      </p:sp>
      <p:sp>
        <p:nvSpPr>
          <p:cNvPr id="58" name="Text 20"/>
          <p:cNvSpPr/>
          <p:nvPr/>
        </p:nvSpPr>
        <p:spPr>
          <a:xfrm>
            <a:off x="609600" y="3733800"/>
            <a:ext cx="1800582" cy="8382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ui-sans-serif" pitchFamily="34" charset="0"/>
                <a:ea typeface="ui-sans-serif" pitchFamily="34" charset="-122"/>
                <a:cs typeface="ui-sans-serif" pitchFamily="34" charset="-120"/>
              </a:rPr>
              <a:t>Eficiencia</a:t>
            </a:r>
            <a:endParaRPr lang="en-US" sz="1200" dirty="0"/>
          </a:p>
        </p:txBody>
      </p:sp>
      <p:sp>
        <p:nvSpPr>
          <p:cNvPr id="59" name="Text 21"/>
          <p:cNvSpPr/>
          <p:nvPr/>
        </p:nvSpPr>
        <p:spPr>
          <a:xfrm>
            <a:off x="2110085" y="3733800"/>
            <a:ext cx="2090886" cy="8382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ui-sans-serif" pitchFamily="34" charset="0"/>
                <a:ea typeface="ui-sans-serif" pitchFamily="34" charset="-122"/>
                <a:cs typeface="ui-sans-serif" pitchFamily="34" charset="-120"/>
              </a:rPr>
              <a:t>Comportamiento en el tiempo</a:t>
            </a:r>
            <a:endParaRPr lang="en-US" sz="1200" dirty="0"/>
          </a:p>
        </p:txBody>
      </p:sp>
      <p:sp>
        <p:nvSpPr>
          <p:cNvPr id="60" name="Text 22"/>
          <p:cNvSpPr/>
          <p:nvPr/>
        </p:nvSpPr>
        <p:spPr>
          <a:xfrm>
            <a:off x="4410521" y="3733800"/>
            <a:ext cx="1440537" cy="8382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ui-sans-serif" pitchFamily="34" charset="0"/>
                <a:ea typeface="ui-sans-serif" pitchFamily="34" charset="-122"/>
                <a:cs typeface="ui-sans-serif" pitchFamily="34" charset="-120"/>
              </a:rPr>
              <a:t>Externa</a:t>
            </a:r>
            <a:endParaRPr lang="en-US" sz="1200" dirty="0"/>
          </a:p>
        </p:txBody>
      </p:sp>
      <p:sp>
        <p:nvSpPr>
          <p:cNvPr id="61" name="Text 23"/>
          <p:cNvSpPr/>
          <p:nvPr/>
        </p:nvSpPr>
        <p:spPr>
          <a:xfrm>
            <a:off x="5401419" y="3733800"/>
            <a:ext cx="2103983" cy="8382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ui-sans-serif" pitchFamily="34" charset="0"/>
                <a:ea typeface="ui-sans-serif" pitchFamily="34" charset="-122"/>
                <a:cs typeface="ui-sans-serif" pitchFamily="34" charset="-120"/>
              </a:rPr>
              <a:t>Tiempo de respuesta promedio</a:t>
            </a:r>
            <a:endParaRPr lang="en-US" sz="1200" dirty="0"/>
          </a:p>
        </p:txBody>
      </p:sp>
      <p:sp>
        <p:nvSpPr>
          <p:cNvPr id="62" name="Text 24"/>
          <p:cNvSpPr/>
          <p:nvPr/>
        </p:nvSpPr>
        <p:spPr>
          <a:xfrm>
            <a:off x="7505402" y="3733800"/>
            <a:ext cx="2609999" cy="8382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ui-sans-serif" pitchFamily="34" charset="0"/>
                <a:ea typeface="ui-sans-serif" pitchFamily="34" charset="-122"/>
                <a:cs typeface="ui-sans-serif" pitchFamily="34" charset="-120"/>
              </a:rPr>
              <a:t>Medir el uso adecuado de los recursos por parte del software</a:t>
            </a:r>
            <a:endParaRPr lang="en-US" sz="1200" dirty="0"/>
          </a:p>
        </p:txBody>
      </p:sp>
      <p:sp>
        <p:nvSpPr>
          <p:cNvPr id="63" name="Text 25"/>
          <p:cNvSpPr/>
          <p:nvPr/>
        </p:nvSpPr>
        <p:spPr>
          <a:xfrm>
            <a:off x="10115401" y="3733800"/>
            <a:ext cx="1771799" cy="8382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ui-sans-serif" pitchFamily="34" charset="0"/>
                <a:ea typeface="ui-sans-serif" pitchFamily="34" charset="-122"/>
                <a:cs typeface="ui-sans-serif" pitchFamily="34" charset="-120"/>
              </a:rPr>
              <a:t>Perímetros de carga y estrés</a:t>
            </a:r>
            <a:endParaRPr lang="en-US" sz="1200" dirty="0"/>
          </a:p>
        </p:txBody>
      </p:sp>
      <p:sp>
        <p:nvSpPr>
          <p:cNvPr id="64" name="Text 26"/>
          <p:cNvSpPr/>
          <p:nvPr/>
        </p:nvSpPr>
        <p:spPr>
          <a:xfrm>
            <a:off x="609600" y="4572000"/>
            <a:ext cx="1800582" cy="6096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ui-sans-serif" pitchFamily="34" charset="0"/>
                <a:ea typeface="ui-sans-serif" pitchFamily="34" charset="-122"/>
                <a:cs typeface="ui-sans-serif" pitchFamily="34" charset="-120"/>
              </a:rPr>
              <a:t>Mantenibilidad</a:t>
            </a:r>
            <a:endParaRPr lang="en-US" sz="1200" dirty="0"/>
          </a:p>
        </p:txBody>
      </p:sp>
      <p:sp>
        <p:nvSpPr>
          <p:cNvPr id="65" name="Text 27"/>
          <p:cNvSpPr/>
          <p:nvPr/>
        </p:nvSpPr>
        <p:spPr>
          <a:xfrm>
            <a:off x="2110085" y="4572000"/>
            <a:ext cx="2509064" cy="6096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ui-sans-serif" pitchFamily="34" charset="0"/>
                <a:ea typeface="ui-sans-serif" pitchFamily="34" charset="-122"/>
                <a:cs typeface="ui-sans-serif" pitchFamily="34" charset="-120"/>
              </a:rPr>
              <a:t>Analizabilidad</a:t>
            </a:r>
            <a:endParaRPr lang="en-US" sz="1200" dirty="0"/>
          </a:p>
        </p:txBody>
      </p:sp>
      <p:sp>
        <p:nvSpPr>
          <p:cNvPr id="66" name="Text 28"/>
          <p:cNvSpPr/>
          <p:nvPr/>
        </p:nvSpPr>
        <p:spPr>
          <a:xfrm>
            <a:off x="4429571" y="4572000"/>
            <a:ext cx="1440537" cy="6096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ui-sans-serif" pitchFamily="34" charset="0"/>
                <a:ea typeface="ui-sans-serif" pitchFamily="34" charset="-122"/>
                <a:cs typeface="ui-sans-serif" pitchFamily="34" charset="-120"/>
              </a:rPr>
              <a:t>Interna</a:t>
            </a:r>
            <a:endParaRPr lang="en-US" sz="1200" dirty="0"/>
          </a:p>
        </p:txBody>
      </p:sp>
      <p:sp>
        <p:nvSpPr>
          <p:cNvPr id="67" name="Text 29"/>
          <p:cNvSpPr/>
          <p:nvPr/>
        </p:nvSpPr>
        <p:spPr>
          <a:xfrm>
            <a:off x="5401419" y="4572000"/>
            <a:ext cx="2103983" cy="6096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ui-sans-serif" pitchFamily="34" charset="0"/>
                <a:ea typeface="ui-sans-serif" pitchFamily="34" charset="-122"/>
                <a:cs typeface="ui-sans-serif" pitchFamily="34" charset="-120"/>
              </a:rPr>
              <a:t>Número de módulos afectados por cambios</a:t>
            </a:r>
            <a:endParaRPr lang="en-US" sz="1200" dirty="0"/>
          </a:p>
        </p:txBody>
      </p:sp>
      <p:sp>
        <p:nvSpPr>
          <p:cNvPr id="68" name="Text 30"/>
          <p:cNvSpPr/>
          <p:nvPr/>
        </p:nvSpPr>
        <p:spPr>
          <a:xfrm>
            <a:off x="7505402" y="4572000"/>
            <a:ext cx="2609999" cy="6096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ui-sans-serif" pitchFamily="34" charset="0"/>
                <a:ea typeface="ui-sans-serif" pitchFamily="34" charset="-122"/>
                <a:cs typeface="ui-sans-serif" pitchFamily="34" charset="-120"/>
              </a:rPr>
              <a:t>Facilitar la comprensión y localización de fallos</a:t>
            </a:r>
            <a:endParaRPr lang="en-US" sz="1200" dirty="0"/>
          </a:p>
        </p:txBody>
      </p:sp>
      <p:sp>
        <p:nvSpPr>
          <p:cNvPr id="69" name="Text 31"/>
          <p:cNvSpPr/>
          <p:nvPr/>
        </p:nvSpPr>
        <p:spPr>
          <a:xfrm>
            <a:off x="10115401" y="4572000"/>
            <a:ext cx="1771799" cy="6096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ui-sans-serif" pitchFamily="34" charset="0"/>
                <a:ea typeface="ui-sans-serif" pitchFamily="34" charset="-122"/>
                <a:cs typeface="ui-sans-serif" pitchFamily="34" charset="-120"/>
              </a:rPr>
              <a:t>Análisis de dependencias</a:t>
            </a:r>
            <a:endParaRPr lang="en-US" sz="1200" dirty="0"/>
          </a:p>
        </p:txBody>
      </p:sp>
      <p:sp>
        <p:nvSpPr>
          <p:cNvPr id="70" name="Text 32"/>
          <p:cNvSpPr/>
          <p:nvPr/>
        </p:nvSpPr>
        <p:spPr>
          <a:xfrm>
            <a:off x="457200" y="6210300"/>
            <a:ext cx="3838515"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ISO/IEC 9126 - Métricas de Calidad del Software</a:t>
            </a:r>
            <a:endParaRPr lang="en-US" sz="1050" dirty="0"/>
          </a:p>
        </p:txBody>
      </p:sp>
      <p:sp>
        <p:nvSpPr>
          <p:cNvPr id="71" name="Text 33"/>
          <p:cNvSpPr/>
          <p:nvPr/>
        </p:nvSpPr>
        <p:spPr>
          <a:xfrm>
            <a:off x="10657433" y="6210300"/>
            <a:ext cx="1292840"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Página 11 de 25</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914400"/>
            <a:ext cx="914400" cy="38100"/>
          </a:xfrm>
          <a:prstGeom prst="rect">
            <a:avLst/>
          </a:prstGeom>
        </p:spPr>
      </p:pic>
      <p:pic>
        <p:nvPicPr>
          <p:cNvPr id="4" name="Image 2" descr="preencoded.png"/>
          <p:cNvPicPr>
            <a:picLocks noChangeAspect="1"/>
          </p:cNvPicPr>
          <p:nvPr/>
        </p:nvPicPr>
        <p:blipFill>
          <a:blip r:embed="rId5"/>
          <a:stretch>
            <a:fillRect/>
          </a:stretch>
        </p:blipFill>
        <p:spPr>
          <a:xfrm>
            <a:off x="457200" y="1285875"/>
            <a:ext cx="171450" cy="228600"/>
          </a:xfrm>
          <a:prstGeom prst="rect">
            <a:avLst/>
          </a:prstGeom>
        </p:spPr>
      </p:pic>
      <p:pic>
        <p:nvPicPr>
          <p:cNvPr id="5" name="Image 3" descr="preencoded.png"/>
          <p:cNvPicPr>
            <a:picLocks noChangeAspect="1"/>
          </p:cNvPicPr>
          <p:nvPr/>
        </p:nvPicPr>
        <p:blipFill>
          <a:blip r:embed="rId6"/>
          <a:stretch>
            <a:fillRect/>
          </a:stretch>
        </p:blipFill>
        <p:spPr>
          <a:xfrm>
            <a:off x="457200" y="2857500"/>
            <a:ext cx="5334000" cy="2514600"/>
          </a:xfrm>
          <a:prstGeom prst="rect">
            <a:avLst/>
          </a:prstGeom>
        </p:spPr>
      </p:pic>
      <p:pic>
        <p:nvPicPr>
          <p:cNvPr id="6" name="Image 4" descr="preencoded.png"/>
          <p:cNvPicPr>
            <a:picLocks noChangeAspect="1"/>
          </p:cNvPicPr>
          <p:nvPr/>
        </p:nvPicPr>
        <p:blipFill>
          <a:blip r:embed="rId7"/>
          <a:stretch>
            <a:fillRect/>
          </a:stretch>
        </p:blipFill>
        <p:spPr>
          <a:xfrm>
            <a:off x="685800" y="4343400"/>
            <a:ext cx="152400" cy="152400"/>
          </a:xfrm>
          <a:prstGeom prst="rect">
            <a:avLst/>
          </a:prstGeom>
        </p:spPr>
      </p:pic>
      <p:pic>
        <p:nvPicPr>
          <p:cNvPr id="7" name="Image 5" descr="preencoded.png"/>
          <p:cNvPicPr>
            <a:picLocks noChangeAspect="1"/>
          </p:cNvPicPr>
          <p:nvPr/>
        </p:nvPicPr>
        <p:blipFill>
          <a:blip r:embed="rId8"/>
          <a:stretch>
            <a:fillRect/>
          </a:stretch>
        </p:blipFill>
        <p:spPr>
          <a:xfrm>
            <a:off x="685800" y="4648200"/>
            <a:ext cx="152400" cy="152400"/>
          </a:xfrm>
          <a:prstGeom prst="rect">
            <a:avLst/>
          </a:prstGeom>
        </p:spPr>
      </p:pic>
      <p:pic>
        <p:nvPicPr>
          <p:cNvPr id="8" name="Image 6" descr="preencoded.png"/>
          <p:cNvPicPr>
            <a:picLocks noChangeAspect="1"/>
          </p:cNvPicPr>
          <p:nvPr/>
        </p:nvPicPr>
        <p:blipFill>
          <a:blip r:embed="rId9"/>
          <a:stretch>
            <a:fillRect/>
          </a:stretch>
        </p:blipFill>
        <p:spPr>
          <a:xfrm>
            <a:off x="685800" y="4953000"/>
            <a:ext cx="133350" cy="152400"/>
          </a:xfrm>
          <a:prstGeom prst="rect">
            <a:avLst/>
          </a:prstGeom>
        </p:spPr>
      </p:pic>
      <p:pic>
        <p:nvPicPr>
          <p:cNvPr id="9" name="Image 7" descr="preencoded.png"/>
          <p:cNvPicPr>
            <a:picLocks noChangeAspect="1"/>
          </p:cNvPicPr>
          <p:nvPr/>
        </p:nvPicPr>
        <p:blipFill>
          <a:blip r:embed="rId10"/>
          <a:stretch>
            <a:fillRect/>
          </a:stretch>
        </p:blipFill>
        <p:spPr>
          <a:xfrm>
            <a:off x="6096000" y="1257300"/>
            <a:ext cx="5638800" cy="4648200"/>
          </a:xfrm>
          <a:prstGeom prst="rect">
            <a:avLst/>
          </a:prstGeom>
        </p:spPr>
      </p:pic>
      <p:pic>
        <p:nvPicPr>
          <p:cNvPr id="10" name="Image 8" descr="preencoded.png"/>
          <p:cNvPicPr>
            <a:picLocks noChangeAspect="1"/>
          </p:cNvPicPr>
          <p:nvPr/>
        </p:nvPicPr>
        <p:blipFill>
          <a:blip r:embed="rId11"/>
          <a:stretch>
            <a:fillRect/>
          </a:stretch>
        </p:blipFill>
        <p:spPr>
          <a:xfrm>
            <a:off x="6400800" y="1285875"/>
            <a:ext cx="228600" cy="228600"/>
          </a:xfrm>
          <a:prstGeom prst="rect">
            <a:avLst/>
          </a:prstGeom>
        </p:spPr>
      </p:pic>
      <p:pic>
        <p:nvPicPr>
          <p:cNvPr id="11" name="Image 9" descr="preencoded.png"/>
          <p:cNvPicPr>
            <a:picLocks noChangeAspect="1"/>
          </p:cNvPicPr>
          <p:nvPr/>
        </p:nvPicPr>
        <p:blipFill>
          <a:blip r:embed="rId12"/>
          <a:stretch>
            <a:fillRect/>
          </a:stretch>
        </p:blipFill>
        <p:spPr>
          <a:xfrm>
            <a:off x="6400800" y="1790700"/>
            <a:ext cx="5334000" cy="1028700"/>
          </a:xfrm>
          <a:prstGeom prst="rect">
            <a:avLst/>
          </a:prstGeom>
        </p:spPr>
      </p:pic>
      <p:pic>
        <p:nvPicPr>
          <p:cNvPr id="12" name="Image 10" descr="preencoded.png"/>
          <p:cNvPicPr>
            <a:picLocks noChangeAspect="1"/>
          </p:cNvPicPr>
          <p:nvPr/>
        </p:nvPicPr>
        <p:blipFill>
          <a:blip r:embed="rId13"/>
          <a:stretch>
            <a:fillRect/>
          </a:stretch>
        </p:blipFill>
        <p:spPr>
          <a:xfrm>
            <a:off x="6553200" y="1943100"/>
            <a:ext cx="457200" cy="457200"/>
          </a:xfrm>
          <a:prstGeom prst="rect">
            <a:avLst/>
          </a:prstGeom>
        </p:spPr>
      </p:pic>
      <p:pic>
        <p:nvPicPr>
          <p:cNvPr id="13" name="Image 11" descr="preencoded.png"/>
          <p:cNvPicPr>
            <a:picLocks noChangeAspect="1"/>
          </p:cNvPicPr>
          <p:nvPr/>
        </p:nvPicPr>
        <p:blipFill>
          <a:blip r:embed="rId14"/>
          <a:stretch>
            <a:fillRect/>
          </a:stretch>
        </p:blipFill>
        <p:spPr>
          <a:xfrm>
            <a:off x="6662738" y="2038350"/>
            <a:ext cx="238125" cy="266700"/>
          </a:xfrm>
          <a:prstGeom prst="rect">
            <a:avLst/>
          </a:prstGeom>
        </p:spPr>
      </p:pic>
      <p:pic>
        <p:nvPicPr>
          <p:cNvPr id="14" name="Image 12" descr="preencoded.png"/>
          <p:cNvPicPr>
            <a:picLocks noChangeAspect="1"/>
          </p:cNvPicPr>
          <p:nvPr/>
        </p:nvPicPr>
        <p:blipFill>
          <a:blip r:embed="rId15"/>
          <a:stretch>
            <a:fillRect/>
          </a:stretch>
        </p:blipFill>
        <p:spPr>
          <a:xfrm>
            <a:off x="6400800" y="3048000"/>
            <a:ext cx="5334000" cy="1028700"/>
          </a:xfrm>
          <a:prstGeom prst="rect">
            <a:avLst/>
          </a:prstGeom>
        </p:spPr>
      </p:pic>
      <p:pic>
        <p:nvPicPr>
          <p:cNvPr id="15" name="Image 13" descr="preencoded.png"/>
          <p:cNvPicPr>
            <a:picLocks noChangeAspect="1"/>
          </p:cNvPicPr>
          <p:nvPr/>
        </p:nvPicPr>
        <p:blipFill>
          <a:blip r:embed="rId16"/>
          <a:stretch>
            <a:fillRect/>
          </a:stretch>
        </p:blipFill>
        <p:spPr>
          <a:xfrm>
            <a:off x="6553200" y="3200400"/>
            <a:ext cx="457200" cy="457200"/>
          </a:xfrm>
          <a:prstGeom prst="rect">
            <a:avLst/>
          </a:prstGeom>
        </p:spPr>
      </p:pic>
      <p:pic>
        <p:nvPicPr>
          <p:cNvPr id="16" name="Image 14" descr="preencoded.png"/>
          <p:cNvPicPr>
            <a:picLocks noChangeAspect="1"/>
          </p:cNvPicPr>
          <p:nvPr/>
        </p:nvPicPr>
        <p:blipFill>
          <a:blip r:embed="rId17"/>
          <a:stretch>
            <a:fillRect/>
          </a:stretch>
        </p:blipFill>
        <p:spPr>
          <a:xfrm>
            <a:off x="6686550" y="3295650"/>
            <a:ext cx="190500" cy="266700"/>
          </a:xfrm>
          <a:prstGeom prst="rect">
            <a:avLst/>
          </a:prstGeom>
        </p:spPr>
      </p:pic>
      <p:pic>
        <p:nvPicPr>
          <p:cNvPr id="17" name="Image 15" descr="preencoded.png"/>
          <p:cNvPicPr>
            <a:picLocks noChangeAspect="1"/>
          </p:cNvPicPr>
          <p:nvPr/>
        </p:nvPicPr>
        <p:blipFill>
          <a:blip r:embed="rId12"/>
          <a:stretch>
            <a:fillRect/>
          </a:stretch>
        </p:blipFill>
        <p:spPr>
          <a:xfrm>
            <a:off x="6400800" y="4305300"/>
            <a:ext cx="5334000" cy="1028700"/>
          </a:xfrm>
          <a:prstGeom prst="rect">
            <a:avLst/>
          </a:prstGeom>
        </p:spPr>
      </p:pic>
      <p:pic>
        <p:nvPicPr>
          <p:cNvPr id="18" name="Image 16" descr="preencoded.png"/>
          <p:cNvPicPr>
            <a:picLocks noChangeAspect="1"/>
          </p:cNvPicPr>
          <p:nvPr/>
        </p:nvPicPr>
        <p:blipFill>
          <a:blip r:embed="rId18"/>
          <a:stretch>
            <a:fillRect/>
          </a:stretch>
        </p:blipFill>
        <p:spPr>
          <a:xfrm>
            <a:off x="6553200" y="4457700"/>
            <a:ext cx="457200" cy="457200"/>
          </a:xfrm>
          <a:prstGeom prst="rect">
            <a:avLst/>
          </a:prstGeom>
        </p:spPr>
      </p:pic>
      <p:pic>
        <p:nvPicPr>
          <p:cNvPr id="19" name="Image 17" descr="preencoded.png"/>
          <p:cNvPicPr>
            <a:picLocks noChangeAspect="1"/>
          </p:cNvPicPr>
          <p:nvPr/>
        </p:nvPicPr>
        <p:blipFill>
          <a:blip r:embed="rId19"/>
          <a:stretch>
            <a:fillRect/>
          </a:stretch>
        </p:blipFill>
        <p:spPr>
          <a:xfrm>
            <a:off x="6662738" y="4552950"/>
            <a:ext cx="238125" cy="266700"/>
          </a:xfrm>
          <a:prstGeom prst="rect">
            <a:avLst/>
          </a:prstGeom>
        </p:spPr>
      </p:pic>
      <p:sp>
        <p:nvSpPr>
          <p:cNvPr id="20" name="Text 0"/>
          <p:cNvSpPr/>
          <p:nvPr/>
        </p:nvSpPr>
        <p:spPr>
          <a:xfrm>
            <a:off x="457200" y="457200"/>
            <a:ext cx="13533120" cy="381000"/>
          </a:xfrm>
          <a:prstGeom prst="rect">
            <a:avLst/>
          </a:prstGeom>
          <a:noFill/>
          <a:ln/>
        </p:spPr>
        <p:txBody>
          <a:bodyPr vert="horz" wrap="square" lIns="0" tIns="0" rIns="0" bIns="0" rtlCol="0" anchor="t"/>
          <a:lstStyle/>
          <a:p>
            <a:pPr marL="0" indent="0">
              <a:lnSpc>
                <a:spcPts val="3000"/>
              </a:lnSpc>
              <a:buNone/>
            </a:pPr>
            <a:r>
              <a:rPr lang="en-US" sz="2700" b="1" dirty="0">
                <a:solidFill>
                  <a:srgbClr val="C084FC"/>
                </a:solidFill>
                <a:latin typeface="ui-sans-serif" pitchFamily="34" charset="0"/>
                <a:ea typeface="ui-sans-serif" pitchFamily="34" charset="-122"/>
                <a:cs typeface="ui-sans-serif" pitchFamily="34" charset="-120"/>
              </a:rPr>
              <a:t>Introducción a los Estándares CISQ</a:t>
            </a:r>
            <a:endParaRPr lang="en-US" sz="2700" dirty="0"/>
          </a:p>
        </p:txBody>
      </p:sp>
      <p:sp>
        <p:nvSpPr>
          <p:cNvPr id="21" name="Text 1"/>
          <p:cNvSpPr/>
          <p:nvPr/>
        </p:nvSpPr>
        <p:spPr>
          <a:xfrm>
            <a:off x="742950" y="1257300"/>
            <a:ext cx="5334000" cy="609600"/>
          </a:xfrm>
          <a:prstGeom prst="rect">
            <a:avLst/>
          </a:prstGeom>
          <a:noFill/>
          <a:ln/>
        </p:spPr>
        <p:txBody>
          <a:bodyPr vert="horz" wrap="square" lIns="0" tIns="0" rIns="0" bIns="0" rtlCol="0" anchor="t"/>
          <a:lstStyle/>
          <a:p>
            <a:pPr marL="0" indent="0">
              <a:lnSpc>
                <a:spcPts val="2400"/>
              </a:lnSpc>
              <a:buNone/>
            </a:pPr>
            <a:r>
              <a:rPr lang="en-US" sz="1800" b="1" dirty="0">
                <a:solidFill>
                  <a:srgbClr val="FB923C"/>
                </a:solidFill>
                <a:latin typeface="ui-sans-serif" pitchFamily="34" charset="0"/>
                <a:ea typeface="ui-sans-serif" pitchFamily="34" charset="-122"/>
                <a:cs typeface="ui-sans-serif" pitchFamily="34" charset="-120"/>
              </a:rPr>
              <a:t>Consortium for Information &amp; Software Quality</a:t>
            </a:r>
            <a:endParaRPr lang="en-US" sz="1800" dirty="0"/>
          </a:p>
        </p:txBody>
      </p:sp>
      <p:sp>
        <p:nvSpPr>
          <p:cNvPr id="22" name="Text 2"/>
          <p:cNvSpPr/>
          <p:nvPr/>
        </p:nvSpPr>
        <p:spPr>
          <a:xfrm>
            <a:off x="457200" y="2019300"/>
            <a:ext cx="5334000" cy="533400"/>
          </a:xfrm>
          <a:prstGeom prst="rect">
            <a:avLst/>
          </a:prstGeom>
          <a:noFill/>
          <a:ln/>
        </p:spPr>
        <p:txBody>
          <a:bodyPr vert="horz" wrap="square" lIns="0" tIns="0" rIns="0" bIns="0" rtlCol="0" anchor="t"/>
          <a:lstStyle/>
          <a:p>
            <a:pPr marL="0" indent="0">
              <a:lnSpc>
                <a:spcPts val="2100"/>
              </a:lnSpc>
              <a:buNone/>
            </a:pPr>
            <a:r>
              <a:rPr lang="en-US" sz="1350" dirty="0">
                <a:solidFill>
                  <a:srgbClr val="D1D5DB"/>
                </a:solidFill>
                <a:latin typeface="ui-sans-serif" pitchFamily="34" charset="0"/>
                <a:ea typeface="ui-sans-serif" pitchFamily="34" charset="-122"/>
                <a:cs typeface="ui-sans-serif" pitchFamily="34" charset="-120"/>
              </a:rPr>
              <a:t>Organización líder en el avance de estándares medibles para mejorar la calidad, fiabilidad y seguridad del software.</a:t>
            </a:r>
            <a:endParaRPr lang="en-US" sz="1350" dirty="0"/>
          </a:p>
        </p:txBody>
      </p:sp>
      <p:sp>
        <p:nvSpPr>
          <p:cNvPr id="23" name="Text 3"/>
          <p:cNvSpPr/>
          <p:nvPr/>
        </p:nvSpPr>
        <p:spPr>
          <a:xfrm>
            <a:off x="685800" y="3086100"/>
            <a:ext cx="48768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D8B4FE"/>
                </a:solidFill>
                <a:latin typeface="ui-sans-serif" pitchFamily="34" charset="0"/>
                <a:ea typeface="ui-sans-serif" pitchFamily="34" charset="-122"/>
                <a:cs typeface="ui-sans-serif" pitchFamily="34" charset="-120"/>
              </a:rPr>
              <a:t>Objetivo Principal</a:t>
            </a:r>
            <a:endParaRPr lang="en-US" sz="1500" dirty="0"/>
          </a:p>
        </p:txBody>
      </p:sp>
      <p:sp>
        <p:nvSpPr>
          <p:cNvPr id="24" name="Text 4"/>
          <p:cNvSpPr/>
          <p:nvPr/>
        </p:nvSpPr>
        <p:spPr>
          <a:xfrm>
            <a:off x="685800" y="3467100"/>
            <a:ext cx="4876800" cy="6858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Estandarizar la medición automatizada del software directamente desde el código fuente, abordando desafíos críticos como:</a:t>
            </a:r>
            <a:endParaRPr lang="en-US" sz="1200" dirty="0"/>
          </a:p>
        </p:txBody>
      </p:sp>
      <p:sp>
        <p:nvSpPr>
          <p:cNvPr id="25" name="Text 5"/>
          <p:cNvSpPr/>
          <p:nvPr/>
        </p:nvSpPr>
        <p:spPr>
          <a:xfrm>
            <a:off x="952500" y="4305300"/>
            <a:ext cx="2254925"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ui-sans-serif" pitchFamily="34" charset="0"/>
                <a:ea typeface="ui-sans-serif" pitchFamily="34" charset="-122"/>
                <a:cs typeface="ui-sans-serif" pitchFamily="34" charset="-120"/>
              </a:rPr>
              <a:t>Debilidades del software</a:t>
            </a:r>
            <a:endParaRPr lang="en-US" sz="1200" dirty="0"/>
          </a:p>
        </p:txBody>
      </p:sp>
      <p:sp>
        <p:nvSpPr>
          <p:cNvPr id="26" name="Text 6"/>
          <p:cNvSpPr/>
          <p:nvPr/>
        </p:nvSpPr>
        <p:spPr>
          <a:xfrm>
            <a:off x="952500" y="4610100"/>
            <a:ext cx="3225760"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ui-sans-serif" pitchFamily="34" charset="0"/>
                <a:ea typeface="ui-sans-serif" pitchFamily="34" charset="-122"/>
                <a:cs typeface="ui-sans-serif" pitchFamily="34" charset="-120"/>
              </a:rPr>
              <a:t>Vulnerabilidades de ciberseguridad</a:t>
            </a:r>
            <a:endParaRPr lang="en-US" sz="1200" dirty="0"/>
          </a:p>
        </p:txBody>
      </p:sp>
      <p:sp>
        <p:nvSpPr>
          <p:cNvPr id="27" name="Text 7"/>
          <p:cNvSpPr/>
          <p:nvPr/>
        </p:nvSpPr>
        <p:spPr>
          <a:xfrm>
            <a:off x="933450" y="4914900"/>
            <a:ext cx="1319629"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ui-sans-serif" pitchFamily="34" charset="0"/>
                <a:ea typeface="ui-sans-serif" pitchFamily="34" charset="-122"/>
                <a:cs typeface="ui-sans-serif" pitchFamily="34" charset="-120"/>
              </a:rPr>
              <a:t>Deuda técnica</a:t>
            </a:r>
            <a:endParaRPr lang="en-US" sz="1200" dirty="0"/>
          </a:p>
        </p:txBody>
      </p:sp>
      <p:sp>
        <p:nvSpPr>
          <p:cNvPr id="28" name="Text 8"/>
          <p:cNvSpPr/>
          <p:nvPr/>
        </p:nvSpPr>
        <p:spPr>
          <a:xfrm>
            <a:off x="6743700" y="1257300"/>
            <a:ext cx="53340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4ADE80"/>
                </a:solidFill>
                <a:latin typeface="ui-sans-serif" pitchFamily="34" charset="0"/>
                <a:ea typeface="ui-sans-serif" pitchFamily="34" charset="-122"/>
                <a:cs typeface="ui-sans-serif" pitchFamily="34" charset="-120"/>
              </a:rPr>
              <a:t>Enfoque de Medición</a:t>
            </a:r>
            <a:endParaRPr lang="en-US" sz="1800" dirty="0"/>
          </a:p>
        </p:txBody>
      </p:sp>
      <p:sp>
        <p:nvSpPr>
          <p:cNvPr id="29" name="Text 9"/>
          <p:cNvSpPr/>
          <p:nvPr/>
        </p:nvSpPr>
        <p:spPr>
          <a:xfrm>
            <a:off x="7162800" y="1943100"/>
            <a:ext cx="44196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D8B4FE"/>
                </a:solidFill>
                <a:latin typeface="ui-sans-serif" pitchFamily="34" charset="0"/>
                <a:ea typeface="ui-sans-serif" pitchFamily="34" charset="-122"/>
                <a:cs typeface="ui-sans-serif" pitchFamily="34" charset="-120"/>
              </a:rPr>
              <a:t>Automatizada</a:t>
            </a:r>
            <a:endParaRPr lang="en-US" sz="1350" dirty="0"/>
          </a:p>
        </p:txBody>
      </p:sp>
      <p:sp>
        <p:nvSpPr>
          <p:cNvPr id="30" name="Text 10"/>
          <p:cNvSpPr/>
          <p:nvPr/>
        </p:nvSpPr>
        <p:spPr>
          <a:xfrm>
            <a:off x="7162800" y="2209800"/>
            <a:ext cx="4419600" cy="4572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Medición directa desde el código fuente sin necesidad de ejecución.</a:t>
            </a:r>
            <a:endParaRPr lang="en-US" sz="1200" dirty="0"/>
          </a:p>
        </p:txBody>
      </p:sp>
      <p:sp>
        <p:nvSpPr>
          <p:cNvPr id="31" name="Text 11"/>
          <p:cNvSpPr/>
          <p:nvPr/>
        </p:nvSpPr>
        <p:spPr>
          <a:xfrm>
            <a:off x="7162800" y="3200400"/>
            <a:ext cx="44196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FDBA74"/>
                </a:solidFill>
                <a:latin typeface="ui-sans-serif" pitchFamily="34" charset="0"/>
                <a:ea typeface="ui-sans-serif" pitchFamily="34" charset="-122"/>
                <a:cs typeface="ui-sans-serif" pitchFamily="34" charset="-120"/>
              </a:rPr>
              <a:t>Temprana</a:t>
            </a:r>
            <a:endParaRPr lang="en-US" sz="1350" dirty="0"/>
          </a:p>
        </p:txBody>
      </p:sp>
      <p:sp>
        <p:nvSpPr>
          <p:cNvPr id="32" name="Text 12"/>
          <p:cNvSpPr/>
          <p:nvPr/>
        </p:nvSpPr>
        <p:spPr>
          <a:xfrm>
            <a:off x="7162800" y="3467100"/>
            <a:ext cx="4419600" cy="4572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Permite identificar problemas en las primeras etapas del desarrollo.</a:t>
            </a:r>
            <a:endParaRPr lang="en-US" sz="1200" dirty="0"/>
          </a:p>
        </p:txBody>
      </p:sp>
      <p:sp>
        <p:nvSpPr>
          <p:cNvPr id="33" name="Text 13"/>
          <p:cNvSpPr/>
          <p:nvPr/>
        </p:nvSpPr>
        <p:spPr>
          <a:xfrm>
            <a:off x="7162800" y="4457700"/>
            <a:ext cx="44196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86EFAC"/>
                </a:solidFill>
                <a:latin typeface="ui-sans-serif" pitchFamily="34" charset="0"/>
                <a:ea typeface="ui-sans-serif" pitchFamily="34" charset="-122"/>
                <a:cs typeface="ui-sans-serif" pitchFamily="34" charset="-120"/>
              </a:rPr>
              <a:t>Estandarizada</a:t>
            </a:r>
            <a:endParaRPr lang="en-US" sz="1350" dirty="0"/>
          </a:p>
        </p:txBody>
      </p:sp>
      <p:sp>
        <p:nvSpPr>
          <p:cNvPr id="34" name="Text 14"/>
          <p:cNvSpPr/>
          <p:nvPr/>
        </p:nvSpPr>
        <p:spPr>
          <a:xfrm>
            <a:off x="7162800" y="4724400"/>
            <a:ext cx="4419600" cy="4572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Facilita la comparación y evaluación objetiva de calidad entre proyectos.</a:t>
            </a:r>
            <a:endParaRPr lang="en-US" sz="1200" dirty="0"/>
          </a:p>
        </p:txBody>
      </p:sp>
      <p:sp>
        <p:nvSpPr>
          <p:cNvPr id="35" name="Text 15"/>
          <p:cNvSpPr/>
          <p:nvPr/>
        </p:nvSpPr>
        <p:spPr>
          <a:xfrm>
            <a:off x="457200" y="6210300"/>
            <a:ext cx="2087761"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24 de Noviembre de 2025</a:t>
            </a:r>
            <a:endParaRPr lang="en-US" sz="1050" dirty="0"/>
          </a:p>
        </p:txBody>
      </p:sp>
      <p:sp>
        <p:nvSpPr>
          <p:cNvPr id="36" name="Text 16"/>
          <p:cNvSpPr/>
          <p:nvPr/>
        </p:nvSpPr>
        <p:spPr>
          <a:xfrm>
            <a:off x="10657433" y="6210300"/>
            <a:ext cx="1292840"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Página 12 de 25</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914400"/>
            <a:ext cx="914400" cy="38100"/>
          </a:xfrm>
          <a:prstGeom prst="rect">
            <a:avLst/>
          </a:prstGeom>
        </p:spPr>
      </p:pic>
      <p:pic>
        <p:nvPicPr>
          <p:cNvPr id="4" name="Image 2" descr="preencoded.png"/>
          <p:cNvPicPr>
            <a:picLocks noChangeAspect="1"/>
          </p:cNvPicPr>
          <p:nvPr/>
        </p:nvPicPr>
        <p:blipFill>
          <a:blip r:embed="rId5"/>
          <a:stretch>
            <a:fillRect/>
          </a:stretch>
        </p:blipFill>
        <p:spPr>
          <a:xfrm>
            <a:off x="457200" y="2114550"/>
            <a:ext cx="2438400" cy="2933700"/>
          </a:xfrm>
          <a:prstGeom prst="rect">
            <a:avLst/>
          </a:prstGeom>
        </p:spPr>
      </p:pic>
      <p:pic>
        <p:nvPicPr>
          <p:cNvPr id="5" name="Image 3" descr="preencoded.png"/>
          <p:cNvPicPr>
            <a:picLocks noChangeAspect="1"/>
          </p:cNvPicPr>
          <p:nvPr/>
        </p:nvPicPr>
        <p:blipFill>
          <a:blip r:embed="rId6"/>
          <a:stretch>
            <a:fillRect/>
          </a:stretch>
        </p:blipFill>
        <p:spPr>
          <a:xfrm>
            <a:off x="1371600" y="2343150"/>
            <a:ext cx="609600" cy="609600"/>
          </a:xfrm>
          <a:prstGeom prst="rect">
            <a:avLst/>
          </a:prstGeom>
        </p:spPr>
      </p:pic>
      <p:pic>
        <p:nvPicPr>
          <p:cNvPr id="6" name="Image 4" descr="preencoded.png"/>
          <p:cNvPicPr>
            <a:picLocks noChangeAspect="1"/>
          </p:cNvPicPr>
          <p:nvPr/>
        </p:nvPicPr>
        <p:blipFill>
          <a:blip r:embed="rId7"/>
          <a:stretch>
            <a:fillRect/>
          </a:stretch>
        </p:blipFill>
        <p:spPr>
          <a:xfrm>
            <a:off x="1533525" y="2476500"/>
            <a:ext cx="285750" cy="342900"/>
          </a:xfrm>
          <a:prstGeom prst="rect">
            <a:avLst/>
          </a:prstGeom>
        </p:spPr>
      </p:pic>
      <p:pic>
        <p:nvPicPr>
          <p:cNvPr id="7" name="Image 5" descr="preencoded.png"/>
          <p:cNvPicPr>
            <a:picLocks noChangeAspect="1"/>
          </p:cNvPicPr>
          <p:nvPr/>
        </p:nvPicPr>
        <p:blipFill>
          <a:blip r:embed="rId8"/>
          <a:stretch>
            <a:fillRect/>
          </a:stretch>
        </p:blipFill>
        <p:spPr>
          <a:xfrm>
            <a:off x="3403550" y="2305050"/>
            <a:ext cx="2438400" cy="2552700"/>
          </a:xfrm>
          <a:prstGeom prst="rect">
            <a:avLst/>
          </a:prstGeom>
        </p:spPr>
      </p:pic>
      <p:pic>
        <p:nvPicPr>
          <p:cNvPr id="8" name="Image 6" descr="preencoded.png"/>
          <p:cNvPicPr>
            <a:picLocks noChangeAspect="1"/>
          </p:cNvPicPr>
          <p:nvPr/>
        </p:nvPicPr>
        <p:blipFill>
          <a:blip r:embed="rId9"/>
          <a:stretch>
            <a:fillRect/>
          </a:stretch>
        </p:blipFill>
        <p:spPr>
          <a:xfrm>
            <a:off x="4317950" y="2533650"/>
            <a:ext cx="609600" cy="609600"/>
          </a:xfrm>
          <a:prstGeom prst="rect">
            <a:avLst/>
          </a:prstGeom>
        </p:spPr>
      </p:pic>
      <p:pic>
        <p:nvPicPr>
          <p:cNvPr id="9" name="Image 7" descr="preencoded.png"/>
          <p:cNvPicPr>
            <a:picLocks noChangeAspect="1"/>
          </p:cNvPicPr>
          <p:nvPr/>
        </p:nvPicPr>
        <p:blipFill>
          <a:blip r:embed="rId10"/>
          <a:stretch>
            <a:fillRect/>
          </a:stretch>
        </p:blipFill>
        <p:spPr>
          <a:xfrm>
            <a:off x="4460825" y="2667000"/>
            <a:ext cx="323850" cy="342900"/>
          </a:xfrm>
          <a:prstGeom prst="rect">
            <a:avLst/>
          </a:prstGeom>
        </p:spPr>
      </p:pic>
      <p:pic>
        <p:nvPicPr>
          <p:cNvPr id="10" name="Image 8" descr="preencoded.png"/>
          <p:cNvPicPr>
            <a:picLocks noChangeAspect="1"/>
          </p:cNvPicPr>
          <p:nvPr/>
        </p:nvPicPr>
        <p:blipFill>
          <a:blip r:embed="rId11"/>
          <a:stretch>
            <a:fillRect/>
          </a:stretch>
        </p:blipFill>
        <p:spPr>
          <a:xfrm>
            <a:off x="6349901" y="2171700"/>
            <a:ext cx="2438400" cy="2819400"/>
          </a:xfrm>
          <a:prstGeom prst="rect">
            <a:avLst/>
          </a:prstGeom>
        </p:spPr>
      </p:pic>
      <p:pic>
        <p:nvPicPr>
          <p:cNvPr id="11" name="Image 9" descr="preencoded.png"/>
          <p:cNvPicPr>
            <a:picLocks noChangeAspect="1"/>
          </p:cNvPicPr>
          <p:nvPr/>
        </p:nvPicPr>
        <p:blipFill>
          <a:blip r:embed="rId12"/>
          <a:stretch>
            <a:fillRect/>
          </a:stretch>
        </p:blipFill>
        <p:spPr>
          <a:xfrm>
            <a:off x="7264301" y="2400300"/>
            <a:ext cx="609600" cy="609600"/>
          </a:xfrm>
          <a:prstGeom prst="rect">
            <a:avLst/>
          </a:prstGeom>
        </p:spPr>
      </p:pic>
      <p:pic>
        <p:nvPicPr>
          <p:cNvPr id="12" name="Image 10" descr="preencoded.png"/>
          <p:cNvPicPr>
            <a:picLocks noChangeAspect="1"/>
          </p:cNvPicPr>
          <p:nvPr/>
        </p:nvPicPr>
        <p:blipFill>
          <a:blip r:embed="rId13"/>
          <a:stretch>
            <a:fillRect/>
          </a:stretch>
        </p:blipFill>
        <p:spPr>
          <a:xfrm>
            <a:off x="7407176" y="2533650"/>
            <a:ext cx="323850" cy="342900"/>
          </a:xfrm>
          <a:prstGeom prst="rect">
            <a:avLst/>
          </a:prstGeom>
        </p:spPr>
      </p:pic>
      <p:pic>
        <p:nvPicPr>
          <p:cNvPr id="13" name="Image 11" descr="preencoded.png"/>
          <p:cNvPicPr>
            <a:picLocks noChangeAspect="1"/>
          </p:cNvPicPr>
          <p:nvPr/>
        </p:nvPicPr>
        <p:blipFill>
          <a:blip r:embed="rId14"/>
          <a:stretch>
            <a:fillRect/>
          </a:stretch>
        </p:blipFill>
        <p:spPr>
          <a:xfrm>
            <a:off x="9296251" y="2209800"/>
            <a:ext cx="2438400" cy="2743200"/>
          </a:xfrm>
          <a:prstGeom prst="rect">
            <a:avLst/>
          </a:prstGeom>
        </p:spPr>
      </p:pic>
      <p:pic>
        <p:nvPicPr>
          <p:cNvPr id="14" name="Image 12" descr="preencoded.png"/>
          <p:cNvPicPr>
            <a:picLocks noChangeAspect="1"/>
          </p:cNvPicPr>
          <p:nvPr/>
        </p:nvPicPr>
        <p:blipFill>
          <a:blip r:embed="rId15"/>
          <a:stretch>
            <a:fillRect/>
          </a:stretch>
        </p:blipFill>
        <p:spPr>
          <a:xfrm>
            <a:off x="10210651" y="2438400"/>
            <a:ext cx="609600" cy="609600"/>
          </a:xfrm>
          <a:prstGeom prst="rect">
            <a:avLst/>
          </a:prstGeom>
        </p:spPr>
      </p:pic>
      <p:pic>
        <p:nvPicPr>
          <p:cNvPr id="15" name="Image 13" descr="preencoded.png"/>
          <p:cNvPicPr>
            <a:picLocks noChangeAspect="1"/>
          </p:cNvPicPr>
          <p:nvPr/>
        </p:nvPicPr>
        <p:blipFill>
          <a:blip r:embed="rId16"/>
          <a:stretch>
            <a:fillRect/>
          </a:stretch>
        </p:blipFill>
        <p:spPr>
          <a:xfrm>
            <a:off x="10372576" y="2571750"/>
            <a:ext cx="285750" cy="342900"/>
          </a:xfrm>
          <a:prstGeom prst="rect">
            <a:avLst/>
          </a:prstGeom>
        </p:spPr>
      </p:pic>
      <p:sp>
        <p:nvSpPr>
          <p:cNvPr id="16" name="Text 0"/>
          <p:cNvSpPr/>
          <p:nvPr/>
        </p:nvSpPr>
        <p:spPr>
          <a:xfrm>
            <a:off x="457200" y="457200"/>
            <a:ext cx="1353312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97316"/>
                </a:solidFill>
                <a:latin typeface="ui-sans-serif" pitchFamily="34" charset="0"/>
                <a:ea typeface="ui-sans-serif" pitchFamily="34" charset="-122"/>
                <a:cs typeface="ui-sans-serif" pitchFamily="34" charset="-120"/>
              </a:rPr>
              <a:t>Características de Calidad CISQ</a:t>
            </a:r>
            <a:endParaRPr lang="en-US" sz="2700" dirty="0"/>
          </a:p>
        </p:txBody>
      </p:sp>
      <p:sp>
        <p:nvSpPr>
          <p:cNvPr id="17" name="Text 1"/>
          <p:cNvSpPr/>
          <p:nvPr/>
        </p:nvSpPr>
        <p:spPr>
          <a:xfrm>
            <a:off x="487680" y="3105150"/>
            <a:ext cx="2377440"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F87171"/>
                </a:solidFill>
                <a:latin typeface="ui-sans-serif" pitchFamily="34" charset="0"/>
                <a:ea typeface="ui-sans-serif" pitchFamily="34" charset="-122"/>
                <a:cs typeface="ui-sans-serif" pitchFamily="34" charset="-120"/>
              </a:rPr>
              <a:t>Seguridad</a:t>
            </a:r>
            <a:endParaRPr lang="en-US" sz="1500" dirty="0"/>
          </a:p>
        </p:txBody>
      </p:sp>
      <p:sp>
        <p:nvSpPr>
          <p:cNvPr id="18" name="Text 2"/>
          <p:cNvSpPr/>
          <p:nvPr/>
        </p:nvSpPr>
        <p:spPr>
          <a:xfrm>
            <a:off x="685800" y="3486150"/>
            <a:ext cx="1981200" cy="1333500"/>
          </a:xfrm>
          <a:prstGeom prst="rect">
            <a:avLst/>
          </a:prstGeom>
          <a:noFill/>
          <a:ln/>
        </p:spPr>
        <p:txBody>
          <a:bodyPr vert="horz" wrap="square" lIns="0" tIns="0" rIns="0" bIns="0" rtlCol="0" anchor="t"/>
          <a:lstStyle/>
          <a:p>
            <a:pPr marL="0" indent="0">
              <a:lnSpc>
                <a:spcPts val="1500"/>
              </a:lnSpc>
              <a:buNone/>
            </a:pPr>
            <a:r>
              <a:rPr lang="en-US" sz="1050" dirty="0">
                <a:solidFill>
                  <a:srgbClr val="D1D5DB"/>
                </a:solidFill>
                <a:latin typeface="ui-sans-serif" pitchFamily="34" charset="0"/>
                <a:ea typeface="ui-sans-serif" pitchFamily="34" charset="-122"/>
                <a:cs typeface="ui-sans-serif" pitchFamily="34" charset="-120"/>
              </a:rPr>
              <a:t>Mide las debilidades en el código fuente que representan vulnerabilidades de seguridad, incluyendo las identificadas por CWE/Sans Institute Top 25 y OWASP Top 10.</a:t>
            </a:r>
            <a:endParaRPr lang="en-US" sz="1050" dirty="0"/>
          </a:p>
        </p:txBody>
      </p:sp>
      <p:sp>
        <p:nvSpPr>
          <p:cNvPr id="19" name="Text 3"/>
          <p:cNvSpPr/>
          <p:nvPr/>
        </p:nvSpPr>
        <p:spPr>
          <a:xfrm>
            <a:off x="3434030" y="3295650"/>
            <a:ext cx="2377440"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60A5FA"/>
                </a:solidFill>
                <a:latin typeface="ui-sans-serif" pitchFamily="34" charset="0"/>
                <a:ea typeface="ui-sans-serif" pitchFamily="34" charset="-122"/>
                <a:cs typeface="ui-sans-serif" pitchFamily="34" charset="-120"/>
              </a:rPr>
              <a:t>Fiabilidad</a:t>
            </a:r>
            <a:endParaRPr lang="en-US" sz="1500" dirty="0"/>
          </a:p>
        </p:txBody>
      </p:sp>
      <p:sp>
        <p:nvSpPr>
          <p:cNvPr id="20" name="Text 4"/>
          <p:cNvSpPr/>
          <p:nvPr/>
        </p:nvSpPr>
        <p:spPr>
          <a:xfrm>
            <a:off x="3632150" y="3676650"/>
            <a:ext cx="1981200" cy="952500"/>
          </a:xfrm>
          <a:prstGeom prst="rect">
            <a:avLst/>
          </a:prstGeom>
          <a:noFill/>
          <a:ln/>
        </p:spPr>
        <p:txBody>
          <a:bodyPr vert="horz" wrap="square" lIns="0" tIns="0" rIns="0" bIns="0" rtlCol="0" anchor="t"/>
          <a:lstStyle/>
          <a:p>
            <a:pPr marL="0" indent="0">
              <a:lnSpc>
                <a:spcPts val="1500"/>
              </a:lnSpc>
              <a:buNone/>
            </a:pPr>
            <a:r>
              <a:rPr lang="en-US" sz="1050" dirty="0">
                <a:solidFill>
                  <a:srgbClr val="D1D5DB"/>
                </a:solidFill>
                <a:latin typeface="ui-sans-serif" pitchFamily="34" charset="0"/>
                <a:ea typeface="ui-sans-serif" pitchFamily="34" charset="-122"/>
                <a:cs typeface="ui-sans-serif" pitchFamily="34" charset="-120"/>
              </a:rPr>
              <a:t>Evalúa las debilidades en el código fuente que impactan la disponibilidad, tolerancia a fallos y capacidad de recuperación del software.</a:t>
            </a:r>
            <a:endParaRPr lang="en-US" sz="1050" dirty="0"/>
          </a:p>
        </p:txBody>
      </p:sp>
      <p:sp>
        <p:nvSpPr>
          <p:cNvPr id="21" name="Text 5"/>
          <p:cNvSpPr/>
          <p:nvPr/>
        </p:nvSpPr>
        <p:spPr>
          <a:xfrm>
            <a:off x="6578501" y="3162300"/>
            <a:ext cx="1981200" cy="533400"/>
          </a:xfrm>
          <a:prstGeom prst="rect">
            <a:avLst/>
          </a:prstGeom>
          <a:noFill/>
          <a:ln/>
        </p:spPr>
        <p:txBody>
          <a:bodyPr vert="horz" wrap="square" lIns="0" tIns="0" rIns="0" bIns="0" rtlCol="0" anchor="t"/>
          <a:lstStyle/>
          <a:p>
            <a:pPr marL="0" indent="0" algn="ctr">
              <a:lnSpc>
                <a:spcPts val="2100"/>
              </a:lnSpc>
              <a:buNone/>
            </a:pPr>
            <a:r>
              <a:rPr lang="en-US" sz="1500" b="1" dirty="0">
                <a:solidFill>
                  <a:srgbClr val="4ADE80"/>
                </a:solidFill>
                <a:latin typeface="ui-sans-serif" pitchFamily="34" charset="0"/>
                <a:ea typeface="ui-sans-serif" pitchFamily="34" charset="-122"/>
                <a:cs typeface="ui-sans-serif" pitchFamily="34" charset="-120"/>
              </a:rPr>
              <a:t>Eficiencia de Rendimiento</a:t>
            </a:r>
            <a:endParaRPr lang="en-US" sz="1500" dirty="0"/>
          </a:p>
        </p:txBody>
      </p:sp>
      <p:sp>
        <p:nvSpPr>
          <p:cNvPr id="22" name="Text 6"/>
          <p:cNvSpPr/>
          <p:nvPr/>
        </p:nvSpPr>
        <p:spPr>
          <a:xfrm>
            <a:off x="6578501" y="3810000"/>
            <a:ext cx="1981200" cy="952500"/>
          </a:xfrm>
          <a:prstGeom prst="rect">
            <a:avLst/>
          </a:prstGeom>
          <a:noFill/>
          <a:ln/>
        </p:spPr>
        <p:txBody>
          <a:bodyPr vert="horz" wrap="square" lIns="0" tIns="0" rIns="0" bIns="0" rtlCol="0" anchor="t"/>
          <a:lstStyle/>
          <a:p>
            <a:pPr marL="0" indent="0">
              <a:lnSpc>
                <a:spcPts val="1500"/>
              </a:lnSpc>
              <a:buNone/>
            </a:pPr>
            <a:r>
              <a:rPr lang="en-US" sz="1050" dirty="0">
                <a:solidFill>
                  <a:srgbClr val="D1D5DB"/>
                </a:solidFill>
                <a:latin typeface="ui-sans-serif" pitchFamily="34" charset="0"/>
                <a:ea typeface="ui-sans-serif" pitchFamily="34" charset="-122"/>
                <a:cs typeface="ui-sans-serif" pitchFamily="34" charset="-120"/>
              </a:rPr>
              <a:t>Cuantifica las debilidades en el código fuente que afectan el tiempo de respuesta y la utilización de recursos como el procesador y la memoria.</a:t>
            </a:r>
            <a:endParaRPr lang="en-US" sz="1050" dirty="0"/>
          </a:p>
        </p:txBody>
      </p:sp>
      <p:sp>
        <p:nvSpPr>
          <p:cNvPr id="23" name="Text 7"/>
          <p:cNvSpPr/>
          <p:nvPr/>
        </p:nvSpPr>
        <p:spPr>
          <a:xfrm>
            <a:off x="9326731" y="3200400"/>
            <a:ext cx="2377440"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C084FC"/>
                </a:solidFill>
                <a:latin typeface="ui-sans-serif" pitchFamily="34" charset="0"/>
                <a:ea typeface="ui-sans-serif" pitchFamily="34" charset="-122"/>
                <a:cs typeface="ui-sans-serif" pitchFamily="34" charset="-120"/>
              </a:rPr>
              <a:t>Mantenibilidad</a:t>
            </a:r>
            <a:endParaRPr lang="en-US" sz="1500" dirty="0"/>
          </a:p>
        </p:txBody>
      </p:sp>
      <p:sp>
        <p:nvSpPr>
          <p:cNvPr id="24" name="Text 8"/>
          <p:cNvSpPr/>
          <p:nvPr/>
        </p:nvSpPr>
        <p:spPr>
          <a:xfrm>
            <a:off x="9524851" y="3581400"/>
            <a:ext cx="1981200" cy="1143000"/>
          </a:xfrm>
          <a:prstGeom prst="rect">
            <a:avLst/>
          </a:prstGeom>
          <a:noFill/>
          <a:ln/>
        </p:spPr>
        <p:txBody>
          <a:bodyPr vert="horz" wrap="square" lIns="0" tIns="0" rIns="0" bIns="0" rtlCol="0" anchor="t"/>
          <a:lstStyle/>
          <a:p>
            <a:pPr marL="0" indent="0">
              <a:lnSpc>
                <a:spcPts val="1500"/>
              </a:lnSpc>
              <a:buNone/>
            </a:pPr>
            <a:r>
              <a:rPr lang="en-US" sz="1050" dirty="0">
                <a:solidFill>
                  <a:srgbClr val="D1D5DB"/>
                </a:solidFill>
                <a:latin typeface="ui-sans-serif" pitchFamily="34" charset="0"/>
                <a:ea typeface="ui-sans-serif" pitchFamily="34" charset="-122"/>
                <a:cs typeface="ui-sans-serif" pitchFamily="34" charset="-120"/>
              </a:rPr>
              <a:t>Mide las debilidades en el código fuente que influyen en la comprensibilidad, capacidad de cambio, capacidad de prueba y escalabilidad del software.</a:t>
            </a:r>
            <a:endParaRPr lang="en-US" sz="1050" dirty="0"/>
          </a:p>
        </p:txBody>
      </p:sp>
      <p:sp>
        <p:nvSpPr>
          <p:cNvPr id="25" name="Text 9"/>
          <p:cNvSpPr/>
          <p:nvPr/>
        </p:nvSpPr>
        <p:spPr>
          <a:xfrm>
            <a:off x="457200" y="6210300"/>
            <a:ext cx="4287500"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Consortium for Information &amp; Software Quality (CISQ)</a:t>
            </a:r>
            <a:endParaRPr lang="en-US" sz="1050" dirty="0"/>
          </a:p>
        </p:txBody>
      </p:sp>
      <p:sp>
        <p:nvSpPr>
          <p:cNvPr id="26" name="Text 10"/>
          <p:cNvSpPr/>
          <p:nvPr/>
        </p:nvSpPr>
        <p:spPr>
          <a:xfrm>
            <a:off x="10657433" y="6210300"/>
            <a:ext cx="1292840"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Página 13 de 25</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914400"/>
            <a:ext cx="914400" cy="38100"/>
          </a:xfrm>
          <a:prstGeom prst="rect">
            <a:avLst/>
          </a:prstGeom>
        </p:spPr>
      </p:pic>
      <p:pic>
        <p:nvPicPr>
          <p:cNvPr id="4" name="Image 2" descr="preencoded.png"/>
          <p:cNvPicPr>
            <a:picLocks noChangeAspect="1"/>
          </p:cNvPicPr>
          <p:nvPr/>
        </p:nvPicPr>
        <p:blipFill>
          <a:blip r:embed="rId5"/>
          <a:stretch>
            <a:fillRect/>
          </a:stretch>
        </p:blipFill>
        <p:spPr>
          <a:xfrm>
            <a:off x="457200" y="1200150"/>
            <a:ext cx="209550" cy="228600"/>
          </a:xfrm>
          <a:prstGeom prst="rect">
            <a:avLst/>
          </a:prstGeom>
        </p:spPr>
      </p:pic>
      <p:pic>
        <p:nvPicPr>
          <p:cNvPr id="5" name="Image 3" descr="preencoded.png"/>
          <p:cNvPicPr>
            <a:picLocks noChangeAspect="1"/>
          </p:cNvPicPr>
          <p:nvPr/>
        </p:nvPicPr>
        <p:blipFill>
          <a:blip r:embed="rId6"/>
          <a:stretch>
            <a:fillRect/>
          </a:stretch>
        </p:blipFill>
        <p:spPr>
          <a:xfrm>
            <a:off x="457200" y="2647950"/>
            <a:ext cx="200025" cy="228600"/>
          </a:xfrm>
          <a:prstGeom prst="rect">
            <a:avLst/>
          </a:prstGeom>
        </p:spPr>
      </p:pic>
      <p:pic>
        <p:nvPicPr>
          <p:cNvPr id="6" name="Image 4" descr="preencoded.png"/>
          <p:cNvPicPr>
            <a:picLocks noChangeAspect="1"/>
          </p:cNvPicPr>
          <p:nvPr/>
        </p:nvPicPr>
        <p:blipFill>
          <a:blip r:embed="rId7"/>
          <a:stretch>
            <a:fillRect/>
          </a:stretch>
        </p:blipFill>
        <p:spPr>
          <a:xfrm>
            <a:off x="6858000" y="1181100"/>
            <a:ext cx="1066800" cy="1066800"/>
          </a:xfrm>
          <a:prstGeom prst="rect">
            <a:avLst/>
          </a:prstGeom>
        </p:spPr>
      </p:pic>
      <p:pic>
        <p:nvPicPr>
          <p:cNvPr id="7" name="Image 5" descr="preencoded.png"/>
          <p:cNvPicPr>
            <a:picLocks noChangeAspect="1"/>
          </p:cNvPicPr>
          <p:nvPr/>
        </p:nvPicPr>
        <p:blipFill>
          <a:blip r:embed="rId8"/>
          <a:stretch>
            <a:fillRect/>
          </a:stretch>
        </p:blipFill>
        <p:spPr>
          <a:xfrm>
            <a:off x="7210425" y="1333500"/>
            <a:ext cx="361950" cy="342900"/>
          </a:xfrm>
          <a:prstGeom prst="rect">
            <a:avLst/>
          </a:prstGeom>
        </p:spPr>
      </p:pic>
      <p:pic>
        <p:nvPicPr>
          <p:cNvPr id="8" name="Image 6" descr="preencoded.png"/>
          <p:cNvPicPr>
            <a:picLocks noChangeAspect="1"/>
          </p:cNvPicPr>
          <p:nvPr/>
        </p:nvPicPr>
        <p:blipFill>
          <a:blip r:embed="rId9"/>
          <a:stretch>
            <a:fillRect/>
          </a:stretch>
        </p:blipFill>
        <p:spPr>
          <a:xfrm>
            <a:off x="8458200" y="1257300"/>
            <a:ext cx="1524000" cy="1066800"/>
          </a:xfrm>
          <a:prstGeom prst="rect">
            <a:avLst/>
          </a:prstGeom>
        </p:spPr>
      </p:pic>
      <p:pic>
        <p:nvPicPr>
          <p:cNvPr id="9" name="Image 7" descr="preencoded.png"/>
          <p:cNvPicPr>
            <a:picLocks noChangeAspect="1"/>
          </p:cNvPicPr>
          <p:nvPr/>
        </p:nvPicPr>
        <p:blipFill>
          <a:blip r:embed="rId10"/>
          <a:stretch>
            <a:fillRect/>
          </a:stretch>
        </p:blipFill>
        <p:spPr>
          <a:xfrm>
            <a:off x="8572500" y="1447800"/>
            <a:ext cx="275630" cy="381000"/>
          </a:xfrm>
          <a:prstGeom prst="rect">
            <a:avLst/>
          </a:prstGeom>
        </p:spPr>
      </p:pic>
      <p:pic>
        <p:nvPicPr>
          <p:cNvPr id="10" name="Image 8" descr="preencoded.png"/>
          <p:cNvPicPr>
            <a:picLocks noChangeAspect="1"/>
          </p:cNvPicPr>
          <p:nvPr/>
        </p:nvPicPr>
        <p:blipFill>
          <a:blip r:embed="rId11"/>
          <a:stretch>
            <a:fillRect/>
          </a:stretch>
        </p:blipFill>
        <p:spPr>
          <a:xfrm>
            <a:off x="8634115" y="1562100"/>
            <a:ext cx="152400" cy="152400"/>
          </a:xfrm>
          <a:prstGeom prst="rect">
            <a:avLst/>
          </a:prstGeom>
        </p:spPr>
      </p:pic>
      <p:pic>
        <p:nvPicPr>
          <p:cNvPr id="11" name="Image 9" descr="preencoded.png"/>
          <p:cNvPicPr>
            <a:picLocks noChangeAspect="1"/>
          </p:cNvPicPr>
          <p:nvPr/>
        </p:nvPicPr>
        <p:blipFill>
          <a:blip r:embed="rId12"/>
          <a:stretch>
            <a:fillRect/>
          </a:stretch>
        </p:blipFill>
        <p:spPr>
          <a:xfrm>
            <a:off x="10134600" y="1257300"/>
            <a:ext cx="1524000" cy="1066800"/>
          </a:xfrm>
          <a:prstGeom prst="rect">
            <a:avLst/>
          </a:prstGeom>
        </p:spPr>
      </p:pic>
      <p:pic>
        <p:nvPicPr>
          <p:cNvPr id="12" name="Image 10" descr="preencoded.png"/>
          <p:cNvPicPr>
            <a:picLocks noChangeAspect="1"/>
          </p:cNvPicPr>
          <p:nvPr/>
        </p:nvPicPr>
        <p:blipFill>
          <a:blip r:embed="rId13"/>
          <a:stretch>
            <a:fillRect/>
          </a:stretch>
        </p:blipFill>
        <p:spPr>
          <a:xfrm>
            <a:off x="10248900" y="1447800"/>
            <a:ext cx="275630" cy="381000"/>
          </a:xfrm>
          <a:prstGeom prst="rect">
            <a:avLst/>
          </a:prstGeom>
        </p:spPr>
      </p:pic>
      <p:pic>
        <p:nvPicPr>
          <p:cNvPr id="13" name="Image 11" descr="preencoded.png"/>
          <p:cNvPicPr>
            <a:picLocks noChangeAspect="1"/>
          </p:cNvPicPr>
          <p:nvPr/>
        </p:nvPicPr>
        <p:blipFill>
          <a:blip r:embed="rId14"/>
          <a:stretch>
            <a:fillRect/>
          </a:stretch>
        </p:blipFill>
        <p:spPr>
          <a:xfrm>
            <a:off x="10300990" y="1562100"/>
            <a:ext cx="171450" cy="152400"/>
          </a:xfrm>
          <a:prstGeom prst="rect">
            <a:avLst/>
          </a:prstGeom>
        </p:spPr>
      </p:pic>
      <p:pic>
        <p:nvPicPr>
          <p:cNvPr id="14" name="Image 12" descr="preencoded.png"/>
          <p:cNvPicPr>
            <a:picLocks noChangeAspect="1"/>
          </p:cNvPicPr>
          <p:nvPr/>
        </p:nvPicPr>
        <p:blipFill>
          <a:blip r:embed="rId15"/>
          <a:stretch>
            <a:fillRect/>
          </a:stretch>
        </p:blipFill>
        <p:spPr>
          <a:xfrm>
            <a:off x="7467600" y="2476500"/>
            <a:ext cx="1524000" cy="762000"/>
          </a:xfrm>
          <a:prstGeom prst="rect">
            <a:avLst/>
          </a:prstGeom>
        </p:spPr>
      </p:pic>
      <p:pic>
        <p:nvPicPr>
          <p:cNvPr id="15" name="Image 13" descr="preencoded.png"/>
          <p:cNvPicPr>
            <a:picLocks noChangeAspect="1"/>
          </p:cNvPicPr>
          <p:nvPr/>
        </p:nvPicPr>
        <p:blipFill>
          <a:blip r:embed="rId16"/>
          <a:stretch>
            <a:fillRect/>
          </a:stretch>
        </p:blipFill>
        <p:spPr>
          <a:xfrm>
            <a:off x="7581900" y="2667000"/>
            <a:ext cx="275630" cy="381000"/>
          </a:xfrm>
          <a:prstGeom prst="rect">
            <a:avLst/>
          </a:prstGeom>
        </p:spPr>
      </p:pic>
      <p:pic>
        <p:nvPicPr>
          <p:cNvPr id="16" name="Image 14" descr="preencoded.png"/>
          <p:cNvPicPr>
            <a:picLocks noChangeAspect="1"/>
          </p:cNvPicPr>
          <p:nvPr/>
        </p:nvPicPr>
        <p:blipFill>
          <a:blip r:embed="rId17"/>
          <a:stretch>
            <a:fillRect/>
          </a:stretch>
        </p:blipFill>
        <p:spPr>
          <a:xfrm>
            <a:off x="7633990" y="2781300"/>
            <a:ext cx="171450" cy="152400"/>
          </a:xfrm>
          <a:prstGeom prst="rect">
            <a:avLst/>
          </a:prstGeom>
        </p:spPr>
      </p:pic>
      <p:pic>
        <p:nvPicPr>
          <p:cNvPr id="17" name="Image 15" descr="preencoded.png"/>
          <p:cNvPicPr>
            <a:picLocks noChangeAspect="1"/>
          </p:cNvPicPr>
          <p:nvPr/>
        </p:nvPicPr>
        <p:blipFill>
          <a:blip r:embed="rId18"/>
          <a:stretch>
            <a:fillRect/>
          </a:stretch>
        </p:blipFill>
        <p:spPr>
          <a:xfrm>
            <a:off x="9144000" y="2476500"/>
            <a:ext cx="1524000" cy="762000"/>
          </a:xfrm>
          <a:prstGeom prst="rect">
            <a:avLst/>
          </a:prstGeom>
        </p:spPr>
      </p:pic>
      <p:pic>
        <p:nvPicPr>
          <p:cNvPr id="18" name="Image 16" descr="preencoded.png"/>
          <p:cNvPicPr>
            <a:picLocks noChangeAspect="1"/>
          </p:cNvPicPr>
          <p:nvPr/>
        </p:nvPicPr>
        <p:blipFill>
          <a:blip r:embed="rId19"/>
          <a:stretch>
            <a:fillRect/>
          </a:stretch>
        </p:blipFill>
        <p:spPr>
          <a:xfrm>
            <a:off x="9258300" y="2667000"/>
            <a:ext cx="152400" cy="381000"/>
          </a:xfrm>
          <a:prstGeom prst="rect">
            <a:avLst/>
          </a:prstGeom>
        </p:spPr>
      </p:pic>
      <p:pic>
        <p:nvPicPr>
          <p:cNvPr id="19" name="Image 17" descr="preencoded.png"/>
          <p:cNvPicPr>
            <a:picLocks noChangeAspect="1"/>
          </p:cNvPicPr>
          <p:nvPr/>
        </p:nvPicPr>
        <p:blipFill>
          <a:blip r:embed="rId20"/>
          <a:stretch>
            <a:fillRect/>
          </a:stretch>
        </p:blipFill>
        <p:spPr>
          <a:xfrm>
            <a:off x="9258300" y="2781300"/>
            <a:ext cx="152400" cy="152400"/>
          </a:xfrm>
          <a:prstGeom prst="rect">
            <a:avLst/>
          </a:prstGeom>
        </p:spPr>
      </p:pic>
      <p:pic>
        <p:nvPicPr>
          <p:cNvPr id="20" name="Image 18" descr="preencoded.png"/>
          <p:cNvPicPr>
            <a:picLocks noChangeAspect="1"/>
          </p:cNvPicPr>
          <p:nvPr/>
        </p:nvPicPr>
        <p:blipFill>
          <a:blip r:embed="rId21"/>
          <a:stretch>
            <a:fillRect/>
          </a:stretch>
        </p:blipFill>
        <p:spPr>
          <a:xfrm>
            <a:off x="6400800" y="3543300"/>
            <a:ext cx="5334000" cy="1600200"/>
          </a:xfrm>
          <a:prstGeom prst="rect">
            <a:avLst/>
          </a:prstGeom>
        </p:spPr>
      </p:pic>
      <p:pic>
        <p:nvPicPr>
          <p:cNvPr id="21" name="Image 19" descr="preencoded.png"/>
          <p:cNvPicPr>
            <a:picLocks noChangeAspect="1"/>
          </p:cNvPicPr>
          <p:nvPr/>
        </p:nvPicPr>
        <p:blipFill>
          <a:blip r:embed="rId22"/>
          <a:stretch>
            <a:fillRect/>
          </a:stretch>
        </p:blipFill>
        <p:spPr>
          <a:xfrm>
            <a:off x="6591300" y="3762375"/>
            <a:ext cx="142875" cy="190500"/>
          </a:xfrm>
          <a:prstGeom prst="rect">
            <a:avLst/>
          </a:prstGeom>
        </p:spPr>
      </p:pic>
      <p:pic>
        <p:nvPicPr>
          <p:cNvPr id="22" name="Image 20" descr="preencoded.png"/>
          <p:cNvPicPr>
            <a:picLocks noChangeAspect="1"/>
          </p:cNvPicPr>
          <p:nvPr/>
        </p:nvPicPr>
        <p:blipFill>
          <a:blip r:embed="rId23"/>
          <a:stretch>
            <a:fillRect/>
          </a:stretch>
        </p:blipFill>
        <p:spPr>
          <a:xfrm>
            <a:off x="6591300" y="4152900"/>
            <a:ext cx="152400" cy="152400"/>
          </a:xfrm>
          <a:prstGeom prst="rect">
            <a:avLst/>
          </a:prstGeom>
        </p:spPr>
      </p:pic>
      <p:pic>
        <p:nvPicPr>
          <p:cNvPr id="23" name="Image 21" descr="preencoded.png"/>
          <p:cNvPicPr>
            <a:picLocks noChangeAspect="1"/>
          </p:cNvPicPr>
          <p:nvPr/>
        </p:nvPicPr>
        <p:blipFill>
          <a:blip r:embed="rId23"/>
          <a:stretch>
            <a:fillRect/>
          </a:stretch>
        </p:blipFill>
        <p:spPr>
          <a:xfrm>
            <a:off x="6591300" y="4457700"/>
            <a:ext cx="152400" cy="152400"/>
          </a:xfrm>
          <a:prstGeom prst="rect">
            <a:avLst/>
          </a:prstGeom>
        </p:spPr>
      </p:pic>
      <p:pic>
        <p:nvPicPr>
          <p:cNvPr id="24" name="Image 22" descr="preencoded.png"/>
          <p:cNvPicPr>
            <a:picLocks noChangeAspect="1"/>
          </p:cNvPicPr>
          <p:nvPr/>
        </p:nvPicPr>
        <p:blipFill>
          <a:blip r:embed="rId23"/>
          <a:stretch>
            <a:fillRect/>
          </a:stretch>
        </p:blipFill>
        <p:spPr>
          <a:xfrm>
            <a:off x="6591300" y="4762500"/>
            <a:ext cx="152400" cy="152400"/>
          </a:xfrm>
          <a:prstGeom prst="rect">
            <a:avLst/>
          </a:prstGeom>
        </p:spPr>
      </p:pic>
      <p:sp>
        <p:nvSpPr>
          <p:cNvPr id="25" name="Text 0"/>
          <p:cNvSpPr/>
          <p:nvPr/>
        </p:nvSpPr>
        <p:spPr>
          <a:xfrm>
            <a:off x="457200" y="457200"/>
            <a:ext cx="112776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6600"/>
                </a:solidFill>
                <a:latin typeface="Montserrat" pitchFamily="34" charset="0"/>
                <a:ea typeface="Montserrat" pitchFamily="34" charset="-122"/>
                <a:cs typeface="Montserrat" pitchFamily="34" charset="-120"/>
              </a:rPr>
              <a:t>Medición</a:t>
            </a:r>
            <a:r>
              <a:rPr lang="en-US" sz="2700" b="1" dirty="0">
                <a:solidFill>
                  <a:srgbClr val="FFFFFF"/>
                </a:solidFill>
                <a:latin typeface="Montserrat" pitchFamily="34" charset="0"/>
                <a:ea typeface="Montserrat" pitchFamily="34" charset="-122"/>
                <a:cs typeface="Montserrat" pitchFamily="34" charset="-120"/>
              </a:rPr>
              <a:t> de </a:t>
            </a:r>
            <a:r>
              <a:rPr lang="en-US" sz="2700" b="1" dirty="0">
                <a:solidFill>
                  <a:srgbClr val="00CC99"/>
                </a:solidFill>
                <a:latin typeface="Montserrat" pitchFamily="34" charset="0"/>
                <a:ea typeface="Montserrat" pitchFamily="34" charset="-122"/>
                <a:cs typeface="Montserrat" pitchFamily="34" charset="-120"/>
              </a:rPr>
              <a:t>Deuda Técnica</a:t>
            </a:r>
            <a:endParaRPr lang="en-US" sz="2700" dirty="0"/>
          </a:p>
        </p:txBody>
      </p:sp>
      <p:sp>
        <p:nvSpPr>
          <p:cNvPr id="26" name="Text 1"/>
          <p:cNvSpPr/>
          <p:nvPr/>
        </p:nvSpPr>
        <p:spPr>
          <a:xfrm>
            <a:off x="742950" y="1181100"/>
            <a:ext cx="53340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9933CC"/>
                </a:solidFill>
                <a:latin typeface="Montserrat" pitchFamily="34" charset="0"/>
                <a:ea typeface="Montserrat" pitchFamily="34" charset="-122"/>
                <a:cs typeface="Montserrat" pitchFamily="34" charset="-120"/>
              </a:rPr>
              <a:t> Definición</a:t>
            </a:r>
            <a:endParaRPr lang="en-US" sz="1800" dirty="0"/>
          </a:p>
        </p:txBody>
      </p:sp>
      <p:sp>
        <p:nvSpPr>
          <p:cNvPr id="27" name="Text 2"/>
          <p:cNvSpPr/>
          <p:nvPr/>
        </p:nvSpPr>
        <p:spPr>
          <a:xfrm>
            <a:off x="457200" y="1600200"/>
            <a:ext cx="5334000" cy="800100"/>
          </a:xfrm>
          <a:prstGeom prst="rect">
            <a:avLst/>
          </a:prstGeom>
          <a:noFill/>
          <a:ln/>
        </p:spPr>
        <p:txBody>
          <a:bodyPr vert="horz" wrap="square" lIns="0" tIns="0" rIns="0" bIns="0" rtlCol="0" anchor="t"/>
          <a:lstStyle/>
          <a:p>
            <a:pPr marL="0" indent="0">
              <a:lnSpc>
                <a:spcPts val="2100"/>
              </a:lnSpc>
              <a:buNone/>
            </a:pPr>
            <a:r>
              <a:rPr lang="en-US" sz="1350" dirty="0">
                <a:solidFill>
                  <a:srgbClr val="FFFFFF"/>
                </a:solidFill>
                <a:latin typeface="Open Sans" pitchFamily="34" charset="0"/>
                <a:ea typeface="Open Sans" pitchFamily="34" charset="-122"/>
                <a:cs typeface="Open Sans" pitchFamily="34" charset="-120"/>
              </a:rPr>
              <a:t>La Deuda Técnica se define como el </a:t>
            </a:r>
            <a:r>
              <a:rPr lang="en-US" sz="1350" b="1" dirty="0">
                <a:solidFill>
                  <a:srgbClr val="FF6600"/>
                </a:solidFill>
                <a:latin typeface="Open Sans" pitchFamily="34" charset="0"/>
                <a:ea typeface="Open Sans" pitchFamily="34" charset="-122"/>
                <a:cs typeface="Open Sans" pitchFamily="34" charset="-120"/>
              </a:rPr>
              <a:t>esfuerzo de mantenimiento correctivo</a:t>
            </a:r>
            <a:r>
              <a:rPr lang="en-US" sz="1350" dirty="0">
                <a:solidFill>
                  <a:srgbClr val="FFFFFF"/>
                </a:solidFill>
                <a:latin typeface="Open Sans" pitchFamily="34" charset="0"/>
                <a:ea typeface="Open Sans" pitchFamily="34" charset="-122"/>
                <a:cs typeface="Open Sans" pitchFamily="34" charset="-120"/>
              </a:rPr>
              <a:t> necesario debido a las debilidades de calidad del código que persisten en una aplicación de software.</a:t>
            </a:r>
            <a:endParaRPr lang="en-US" sz="1350" dirty="0"/>
          </a:p>
        </p:txBody>
      </p:sp>
      <p:sp>
        <p:nvSpPr>
          <p:cNvPr id="28" name="Text 3"/>
          <p:cNvSpPr/>
          <p:nvPr/>
        </p:nvSpPr>
        <p:spPr>
          <a:xfrm>
            <a:off x="733425" y="2628900"/>
            <a:ext cx="64008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00CC99"/>
                </a:solidFill>
                <a:latin typeface="Montserrat" pitchFamily="34" charset="0"/>
                <a:ea typeface="Montserrat" pitchFamily="34" charset="-122"/>
                <a:cs typeface="Montserrat" pitchFamily="34" charset="-120"/>
              </a:rPr>
              <a:t> Estándar ISO/IEC 5055:2021</a:t>
            </a:r>
            <a:endParaRPr lang="en-US" sz="1800" dirty="0"/>
          </a:p>
        </p:txBody>
      </p:sp>
      <p:sp>
        <p:nvSpPr>
          <p:cNvPr id="29" name="Text 4"/>
          <p:cNvSpPr/>
          <p:nvPr/>
        </p:nvSpPr>
        <p:spPr>
          <a:xfrm>
            <a:off x="457200" y="3048000"/>
            <a:ext cx="5334000" cy="533400"/>
          </a:xfrm>
          <a:prstGeom prst="rect">
            <a:avLst/>
          </a:prstGeom>
          <a:noFill/>
          <a:ln/>
        </p:spPr>
        <p:txBody>
          <a:bodyPr vert="horz" wrap="square" lIns="0" tIns="0" rIns="0" bIns="0" rtlCol="0" anchor="t"/>
          <a:lstStyle/>
          <a:p>
            <a:pPr marL="0" indent="0">
              <a:lnSpc>
                <a:spcPts val="2100"/>
              </a:lnSpc>
              <a:buNone/>
            </a:pPr>
            <a:r>
              <a:rPr lang="en-US" sz="1350" dirty="0">
                <a:solidFill>
                  <a:srgbClr val="FFFFFF"/>
                </a:solidFill>
                <a:latin typeface="Open Sans" pitchFamily="34" charset="0"/>
                <a:ea typeface="Open Sans" pitchFamily="34" charset="-122"/>
                <a:cs typeface="Open Sans" pitchFamily="34" charset="-120"/>
              </a:rPr>
              <a:t>Permite medir la estructura interna de un producto de software basándose en cuatro factores críticos de negocio:</a:t>
            </a:r>
            <a:endParaRPr lang="en-US" sz="1350" dirty="0"/>
          </a:p>
        </p:txBody>
      </p:sp>
      <p:sp>
        <p:nvSpPr>
          <p:cNvPr id="30" name="Text 5"/>
          <p:cNvSpPr/>
          <p:nvPr/>
        </p:nvSpPr>
        <p:spPr>
          <a:xfrm>
            <a:off x="6858000" y="1714500"/>
            <a:ext cx="1066800" cy="381000"/>
          </a:xfrm>
          <a:prstGeom prst="rect">
            <a:avLst/>
          </a:prstGeom>
          <a:noFill/>
          <a:ln/>
        </p:spPr>
        <p:txBody>
          <a:bodyPr vert="horz" wrap="square" lIns="0" tIns="0" rIns="0" bIns="0" rtlCol="0" anchor="t"/>
          <a:lstStyle/>
          <a:p>
            <a:pPr marL="0" indent="0" algn="ctr">
              <a:lnSpc>
                <a:spcPts val="1500"/>
              </a:lnSpc>
              <a:buNone/>
            </a:pPr>
            <a:r>
              <a:rPr lang="en-US" sz="1050" b="1" dirty="0">
                <a:solidFill>
                  <a:srgbClr val="FFFFFF"/>
                </a:solidFill>
                <a:latin typeface="Open Sans" pitchFamily="34" charset="0"/>
                <a:ea typeface="Open Sans" pitchFamily="34" charset="-122"/>
                <a:cs typeface="Open Sans" pitchFamily="34" charset="-120"/>
              </a:rPr>
              <a:t>ISO/IEC 5055:2021</a:t>
            </a:r>
            <a:endParaRPr lang="en-US" sz="1050" dirty="0"/>
          </a:p>
        </p:txBody>
      </p:sp>
      <p:sp>
        <p:nvSpPr>
          <p:cNvPr id="31" name="Text 6"/>
          <p:cNvSpPr/>
          <p:nvPr/>
        </p:nvSpPr>
        <p:spPr>
          <a:xfrm>
            <a:off x="8962430" y="1371600"/>
            <a:ext cx="1086564" cy="228600"/>
          </a:xfrm>
          <a:prstGeom prst="rect">
            <a:avLst/>
          </a:prstGeom>
          <a:noFill/>
          <a:ln/>
        </p:spPr>
        <p:txBody>
          <a:bodyPr vert="horz" wrap="square" lIns="0" tIns="0" rIns="0" bIns="0" rtlCol="0" anchor="t"/>
          <a:lstStyle/>
          <a:p>
            <a:pPr marL="0" indent="0">
              <a:lnSpc>
                <a:spcPts val="1800"/>
              </a:lnSpc>
              <a:buNone/>
            </a:pPr>
            <a:r>
              <a:rPr lang="en-US" sz="1200" b="1" dirty="0">
                <a:solidFill>
                  <a:srgbClr val="FF6600"/>
                </a:solidFill>
                <a:latin typeface="Open Sans" pitchFamily="34" charset="0"/>
                <a:ea typeface="Open Sans" pitchFamily="34" charset="-122"/>
                <a:cs typeface="Open Sans" pitchFamily="34" charset="-120"/>
              </a:rPr>
              <a:t>Seguridad</a:t>
            </a:r>
            <a:endParaRPr lang="en-US" sz="1200" dirty="0"/>
          </a:p>
        </p:txBody>
      </p:sp>
      <p:sp>
        <p:nvSpPr>
          <p:cNvPr id="32" name="Text 7"/>
          <p:cNvSpPr/>
          <p:nvPr/>
        </p:nvSpPr>
        <p:spPr>
          <a:xfrm>
            <a:off x="8962430" y="1600200"/>
            <a:ext cx="905470" cy="304800"/>
          </a:xfrm>
          <a:prstGeom prst="rect">
            <a:avLst/>
          </a:prstGeom>
          <a:noFill/>
          <a:ln/>
        </p:spPr>
        <p:txBody>
          <a:bodyPr vert="horz" wrap="square" lIns="0" tIns="0" rIns="0" bIns="0" rtlCol="0" anchor="t"/>
          <a:lstStyle/>
          <a:p>
            <a:pPr marL="0" indent="0">
              <a:lnSpc>
                <a:spcPts val="1200"/>
              </a:lnSpc>
              <a:buNone/>
            </a:pPr>
            <a:r>
              <a:rPr lang="en-US" sz="900" dirty="0">
                <a:solidFill>
                  <a:srgbClr val="9CA3AF"/>
                </a:solidFill>
                <a:latin typeface="Open Sans" pitchFamily="34" charset="0"/>
                <a:ea typeface="Open Sans" pitchFamily="34" charset="-122"/>
                <a:cs typeface="Open Sans" pitchFamily="34" charset="-120"/>
              </a:rPr>
              <a:t>Factor crítico de negocio</a:t>
            </a:r>
            <a:endParaRPr lang="en-US" sz="900" dirty="0"/>
          </a:p>
        </p:txBody>
      </p:sp>
      <p:sp>
        <p:nvSpPr>
          <p:cNvPr id="33" name="Text 8"/>
          <p:cNvSpPr/>
          <p:nvPr/>
        </p:nvSpPr>
        <p:spPr>
          <a:xfrm>
            <a:off x="10638830" y="1371600"/>
            <a:ext cx="1086564" cy="228600"/>
          </a:xfrm>
          <a:prstGeom prst="rect">
            <a:avLst/>
          </a:prstGeom>
          <a:noFill/>
          <a:ln/>
        </p:spPr>
        <p:txBody>
          <a:bodyPr vert="horz" wrap="square" lIns="0" tIns="0" rIns="0" bIns="0" rtlCol="0" anchor="t"/>
          <a:lstStyle/>
          <a:p>
            <a:pPr marL="0" indent="0">
              <a:lnSpc>
                <a:spcPts val="1800"/>
              </a:lnSpc>
              <a:buNone/>
            </a:pPr>
            <a:r>
              <a:rPr lang="en-US" sz="1200" b="1" dirty="0">
                <a:solidFill>
                  <a:srgbClr val="00CC99"/>
                </a:solidFill>
                <a:latin typeface="Open Sans" pitchFamily="34" charset="0"/>
                <a:ea typeface="Open Sans" pitchFamily="34" charset="-122"/>
                <a:cs typeface="Open Sans" pitchFamily="34" charset="-120"/>
              </a:rPr>
              <a:t>Fiabilidad</a:t>
            </a:r>
            <a:endParaRPr lang="en-US" sz="1200" dirty="0"/>
          </a:p>
        </p:txBody>
      </p:sp>
      <p:sp>
        <p:nvSpPr>
          <p:cNvPr id="34" name="Text 9"/>
          <p:cNvSpPr/>
          <p:nvPr/>
        </p:nvSpPr>
        <p:spPr>
          <a:xfrm>
            <a:off x="10638830" y="1600200"/>
            <a:ext cx="905470" cy="304800"/>
          </a:xfrm>
          <a:prstGeom prst="rect">
            <a:avLst/>
          </a:prstGeom>
          <a:noFill/>
          <a:ln/>
        </p:spPr>
        <p:txBody>
          <a:bodyPr vert="horz" wrap="square" lIns="0" tIns="0" rIns="0" bIns="0" rtlCol="0" anchor="t"/>
          <a:lstStyle/>
          <a:p>
            <a:pPr marL="0" indent="0">
              <a:lnSpc>
                <a:spcPts val="1200"/>
              </a:lnSpc>
              <a:buNone/>
            </a:pPr>
            <a:r>
              <a:rPr lang="en-US" sz="900" dirty="0">
                <a:solidFill>
                  <a:srgbClr val="9CA3AF"/>
                </a:solidFill>
                <a:latin typeface="Open Sans" pitchFamily="34" charset="0"/>
                <a:ea typeface="Open Sans" pitchFamily="34" charset="-122"/>
                <a:cs typeface="Open Sans" pitchFamily="34" charset="-120"/>
              </a:rPr>
              <a:t>Factor crítico de negocio</a:t>
            </a:r>
            <a:endParaRPr lang="en-US" sz="900" dirty="0"/>
          </a:p>
        </p:txBody>
      </p:sp>
      <p:sp>
        <p:nvSpPr>
          <p:cNvPr id="35" name="Text 10"/>
          <p:cNvSpPr/>
          <p:nvPr/>
        </p:nvSpPr>
        <p:spPr>
          <a:xfrm>
            <a:off x="7971830" y="2590800"/>
            <a:ext cx="1086564" cy="228600"/>
          </a:xfrm>
          <a:prstGeom prst="rect">
            <a:avLst/>
          </a:prstGeom>
          <a:noFill/>
          <a:ln/>
        </p:spPr>
        <p:txBody>
          <a:bodyPr vert="horz" wrap="square" lIns="0" tIns="0" rIns="0" bIns="0" rtlCol="0" anchor="t"/>
          <a:lstStyle/>
          <a:p>
            <a:pPr marL="0" indent="0">
              <a:lnSpc>
                <a:spcPts val="1800"/>
              </a:lnSpc>
              <a:buNone/>
            </a:pPr>
            <a:r>
              <a:rPr lang="en-US" sz="1200" b="1" dirty="0">
                <a:solidFill>
                  <a:srgbClr val="9933CC"/>
                </a:solidFill>
                <a:latin typeface="Open Sans" pitchFamily="34" charset="0"/>
                <a:ea typeface="Open Sans" pitchFamily="34" charset="-122"/>
                <a:cs typeface="Open Sans" pitchFamily="34" charset="-120"/>
              </a:rPr>
              <a:t>Eficiencia</a:t>
            </a:r>
            <a:endParaRPr lang="en-US" sz="1200" dirty="0"/>
          </a:p>
        </p:txBody>
      </p:sp>
      <p:sp>
        <p:nvSpPr>
          <p:cNvPr id="36" name="Text 11"/>
          <p:cNvSpPr/>
          <p:nvPr/>
        </p:nvSpPr>
        <p:spPr>
          <a:xfrm>
            <a:off x="7971830" y="2819400"/>
            <a:ext cx="905470" cy="304800"/>
          </a:xfrm>
          <a:prstGeom prst="rect">
            <a:avLst/>
          </a:prstGeom>
          <a:noFill/>
          <a:ln/>
        </p:spPr>
        <p:txBody>
          <a:bodyPr vert="horz" wrap="square" lIns="0" tIns="0" rIns="0" bIns="0" rtlCol="0" anchor="t"/>
          <a:lstStyle/>
          <a:p>
            <a:pPr marL="0" indent="0">
              <a:lnSpc>
                <a:spcPts val="1200"/>
              </a:lnSpc>
              <a:buNone/>
            </a:pPr>
            <a:r>
              <a:rPr lang="en-US" sz="900" dirty="0">
                <a:solidFill>
                  <a:srgbClr val="9CA3AF"/>
                </a:solidFill>
                <a:latin typeface="Open Sans" pitchFamily="34" charset="0"/>
                <a:ea typeface="Open Sans" pitchFamily="34" charset="-122"/>
                <a:cs typeface="Open Sans" pitchFamily="34" charset="-120"/>
              </a:rPr>
              <a:t>Factor crítico de negocio</a:t>
            </a:r>
            <a:endParaRPr lang="en-US" sz="900" dirty="0"/>
          </a:p>
        </p:txBody>
      </p:sp>
      <p:sp>
        <p:nvSpPr>
          <p:cNvPr id="37" name="Text 12"/>
          <p:cNvSpPr/>
          <p:nvPr/>
        </p:nvSpPr>
        <p:spPr>
          <a:xfrm>
            <a:off x="9525000" y="2590800"/>
            <a:ext cx="1280160" cy="228600"/>
          </a:xfrm>
          <a:prstGeom prst="rect">
            <a:avLst/>
          </a:prstGeom>
          <a:noFill/>
          <a:ln/>
        </p:spPr>
        <p:txBody>
          <a:bodyPr vert="horz" wrap="square" lIns="0" tIns="0" rIns="0" bIns="0" rtlCol="0" anchor="t"/>
          <a:lstStyle/>
          <a:p>
            <a:pPr marL="0" indent="0">
              <a:lnSpc>
                <a:spcPts val="1800"/>
              </a:lnSpc>
              <a:buNone/>
            </a:pPr>
            <a:r>
              <a:rPr lang="en-US" sz="1200" b="1" dirty="0">
                <a:solidFill>
                  <a:srgbClr val="FF6600"/>
                </a:solidFill>
                <a:latin typeface="Open Sans" pitchFamily="34" charset="0"/>
                <a:ea typeface="Open Sans" pitchFamily="34" charset="-122"/>
                <a:cs typeface="Open Sans" pitchFamily="34" charset="-120"/>
              </a:rPr>
              <a:t>Mantenibilidad</a:t>
            </a:r>
            <a:endParaRPr lang="en-US" sz="1200" dirty="0"/>
          </a:p>
        </p:txBody>
      </p:sp>
      <p:sp>
        <p:nvSpPr>
          <p:cNvPr id="38" name="Text 13"/>
          <p:cNvSpPr/>
          <p:nvPr/>
        </p:nvSpPr>
        <p:spPr>
          <a:xfrm>
            <a:off x="9525000" y="2819400"/>
            <a:ext cx="1066800" cy="304800"/>
          </a:xfrm>
          <a:prstGeom prst="rect">
            <a:avLst/>
          </a:prstGeom>
          <a:noFill/>
          <a:ln/>
        </p:spPr>
        <p:txBody>
          <a:bodyPr vert="horz" wrap="square" lIns="0" tIns="0" rIns="0" bIns="0" rtlCol="0" anchor="t"/>
          <a:lstStyle/>
          <a:p>
            <a:pPr marL="0" indent="0">
              <a:lnSpc>
                <a:spcPts val="1200"/>
              </a:lnSpc>
              <a:buNone/>
            </a:pPr>
            <a:r>
              <a:rPr lang="en-US" sz="900" dirty="0">
                <a:solidFill>
                  <a:srgbClr val="9CA3AF"/>
                </a:solidFill>
                <a:latin typeface="Open Sans" pitchFamily="34" charset="0"/>
                <a:ea typeface="Open Sans" pitchFamily="34" charset="-122"/>
                <a:cs typeface="Open Sans" pitchFamily="34" charset="-120"/>
              </a:rPr>
              <a:t>Factor crítico de negocio</a:t>
            </a:r>
            <a:endParaRPr lang="en-US" sz="900" dirty="0"/>
          </a:p>
        </p:txBody>
      </p:sp>
      <p:sp>
        <p:nvSpPr>
          <p:cNvPr id="39" name="Text 14"/>
          <p:cNvSpPr/>
          <p:nvPr/>
        </p:nvSpPr>
        <p:spPr>
          <a:xfrm>
            <a:off x="6810375" y="3733800"/>
            <a:ext cx="59436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9933CC"/>
                </a:solidFill>
                <a:latin typeface="Montserrat" pitchFamily="34" charset="0"/>
                <a:ea typeface="Montserrat" pitchFamily="34" charset="-122"/>
                <a:cs typeface="Montserrat" pitchFamily="34" charset="-120"/>
              </a:rPr>
              <a:t> Beneficios de la Medición</a:t>
            </a:r>
            <a:endParaRPr lang="en-US" sz="1500" dirty="0"/>
          </a:p>
        </p:txBody>
      </p:sp>
      <p:sp>
        <p:nvSpPr>
          <p:cNvPr id="40" name="Text 15"/>
          <p:cNvSpPr/>
          <p:nvPr/>
        </p:nvSpPr>
        <p:spPr>
          <a:xfrm>
            <a:off x="6819900" y="4114800"/>
            <a:ext cx="3019306"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Open Sans" pitchFamily="34" charset="0"/>
                <a:ea typeface="Open Sans" pitchFamily="34" charset="-122"/>
                <a:cs typeface="Open Sans" pitchFamily="34" charset="-120"/>
              </a:rPr>
              <a:t>Identificación proactiva de problemas</a:t>
            </a:r>
            <a:endParaRPr lang="en-US" sz="1200" dirty="0"/>
          </a:p>
        </p:txBody>
      </p:sp>
      <p:sp>
        <p:nvSpPr>
          <p:cNvPr id="41" name="Text 16"/>
          <p:cNvSpPr/>
          <p:nvPr/>
        </p:nvSpPr>
        <p:spPr>
          <a:xfrm>
            <a:off x="6819900" y="4419600"/>
            <a:ext cx="3446145"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Open Sans" pitchFamily="34" charset="0"/>
                <a:ea typeface="Open Sans" pitchFamily="34" charset="-122"/>
                <a:cs typeface="Open Sans" pitchFamily="34" charset="-120"/>
              </a:rPr>
              <a:t>Ahorros de costos en el ciclo de desarrollo</a:t>
            </a:r>
            <a:endParaRPr lang="en-US" sz="1200" dirty="0"/>
          </a:p>
        </p:txBody>
      </p:sp>
      <p:sp>
        <p:nvSpPr>
          <p:cNvPr id="42" name="Text 17"/>
          <p:cNvSpPr/>
          <p:nvPr/>
        </p:nvSpPr>
        <p:spPr>
          <a:xfrm>
            <a:off x="6819900" y="4724400"/>
            <a:ext cx="2206347"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FFFFFF"/>
                </a:solidFill>
                <a:latin typeface="Open Sans" pitchFamily="34" charset="0"/>
                <a:ea typeface="Open Sans" pitchFamily="34" charset="-122"/>
                <a:cs typeface="Open Sans" pitchFamily="34" charset="-120"/>
              </a:rPr>
              <a:t>Entregables de alta calidad</a:t>
            </a:r>
            <a:endParaRPr lang="en-US" sz="1200" dirty="0"/>
          </a:p>
        </p:txBody>
      </p:sp>
      <p:sp>
        <p:nvSpPr>
          <p:cNvPr id="43" name="Text 18"/>
          <p:cNvSpPr/>
          <p:nvPr/>
        </p:nvSpPr>
        <p:spPr>
          <a:xfrm>
            <a:off x="457200" y="6210300"/>
            <a:ext cx="3510796"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Open Sans" pitchFamily="34" charset="0"/>
                <a:ea typeface="Open Sans" pitchFamily="34" charset="-122"/>
                <a:cs typeface="Open Sans" pitchFamily="34" charset="-120"/>
              </a:rPr>
              <a:t>ISO/IEC 5055:2021 - Medición de Deuda Técnica</a:t>
            </a:r>
            <a:endParaRPr lang="en-US" sz="1050" dirty="0"/>
          </a:p>
        </p:txBody>
      </p:sp>
      <p:sp>
        <p:nvSpPr>
          <p:cNvPr id="44" name="Text 19"/>
          <p:cNvSpPr/>
          <p:nvPr/>
        </p:nvSpPr>
        <p:spPr>
          <a:xfrm>
            <a:off x="10763399" y="6210300"/>
            <a:ext cx="1165681"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Open Sans" pitchFamily="34" charset="0"/>
                <a:ea typeface="Open Sans" pitchFamily="34" charset="-122"/>
                <a:cs typeface="Open Sans" pitchFamily="34" charset="-120"/>
              </a:rPr>
              <a:t>Página 14 de 25</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1257300"/>
            <a:ext cx="1219200" cy="38100"/>
          </a:xfrm>
          <a:prstGeom prst="rect">
            <a:avLst/>
          </a:prstGeom>
        </p:spPr>
      </p:pic>
      <p:pic>
        <p:nvPicPr>
          <p:cNvPr id="4" name="Image 2" descr="preencoded.png"/>
          <p:cNvPicPr>
            <a:picLocks noChangeAspect="1"/>
          </p:cNvPicPr>
          <p:nvPr/>
        </p:nvPicPr>
        <p:blipFill>
          <a:blip r:embed="rId5"/>
          <a:stretch>
            <a:fillRect/>
          </a:stretch>
        </p:blipFill>
        <p:spPr>
          <a:xfrm>
            <a:off x="457200" y="1524000"/>
            <a:ext cx="5524500" cy="1295400"/>
          </a:xfrm>
          <a:prstGeom prst="rect">
            <a:avLst/>
          </a:prstGeom>
        </p:spPr>
      </p:pic>
      <p:pic>
        <p:nvPicPr>
          <p:cNvPr id="5" name="Image 3" descr="preencoded.png"/>
          <p:cNvPicPr>
            <a:picLocks noChangeAspect="1"/>
          </p:cNvPicPr>
          <p:nvPr/>
        </p:nvPicPr>
        <p:blipFill>
          <a:blip r:embed="rId6"/>
          <a:stretch>
            <a:fillRect/>
          </a:stretch>
        </p:blipFill>
        <p:spPr>
          <a:xfrm>
            <a:off x="609600" y="1676400"/>
            <a:ext cx="381000" cy="381000"/>
          </a:xfrm>
          <a:prstGeom prst="rect">
            <a:avLst/>
          </a:prstGeom>
        </p:spPr>
      </p:pic>
      <p:pic>
        <p:nvPicPr>
          <p:cNvPr id="6" name="Image 4" descr="preencoded.png"/>
          <p:cNvPicPr>
            <a:picLocks noChangeAspect="1"/>
          </p:cNvPicPr>
          <p:nvPr/>
        </p:nvPicPr>
        <p:blipFill>
          <a:blip r:embed="rId7"/>
          <a:stretch>
            <a:fillRect/>
          </a:stretch>
        </p:blipFill>
        <p:spPr>
          <a:xfrm>
            <a:off x="723900" y="1790700"/>
            <a:ext cx="152400" cy="152400"/>
          </a:xfrm>
          <a:prstGeom prst="rect">
            <a:avLst/>
          </a:prstGeom>
        </p:spPr>
      </p:pic>
      <p:pic>
        <p:nvPicPr>
          <p:cNvPr id="7" name="Image 5" descr="preencoded.png"/>
          <p:cNvPicPr>
            <a:picLocks noChangeAspect="1"/>
          </p:cNvPicPr>
          <p:nvPr/>
        </p:nvPicPr>
        <p:blipFill>
          <a:blip r:embed="rId8"/>
          <a:stretch>
            <a:fillRect/>
          </a:stretch>
        </p:blipFill>
        <p:spPr>
          <a:xfrm>
            <a:off x="457200" y="2971800"/>
            <a:ext cx="5524500" cy="2286000"/>
          </a:xfrm>
          <a:prstGeom prst="rect">
            <a:avLst/>
          </a:prstGeom>
        </p:spPr>
      </p:pic>
      <p:pic>
        <p:nvPicPr>
          <p:cNvPr id="8" name="Image 6" descr="preencoded.png"/>
          <p:cNvPicPr>
            <a:picLocks noChangeAspect="1"/>
          </p:cNvPicPr>
          <p:nvPr/>
        </p:nvPicPr>
        <p:blipFill>
          <a:blip r:embed="rId9"/>
          <a:stretch>
            <a:fillRect/>
          </a:stretch>
        </p:blipFill>
        <p:spPr>
          <a:xfrm>
            <a:off x="609600" y="3124200"/>
            <a:ext cx="381000" cy="381000"/>
          </a:xfrm>
          <a:prstGeom prst="rect">
            <a:avLst/>
          </a:prstGeom>
        </p:spPr>
      </p:pic>
      <p:pic>
        <p:nvPicPr>
          <p:cNvPr id="9" name="Image 7" descr="preencoded.png"/>
          <p:cNvPicPr>
            <a:picLocks noChangeAspect="1"/>
          </p:cNvPicPr>
          <p:nvPr/>
        </p:nvPicPr>
        <p:blipFill>
          <a:blip r:embed="rId10"/>
          <a:stretch>
            <a:fillRect/>
          </a:stretch>
        </p:blipFill>
        <p:spPr>
          <a:xfrm>
            <a:off x="723900" y="3238500"/>
            <a:ext cx="152400" cy="152400"/>
          </a:xfrm>
          <a:prstGeom prst="rect">
            <a:avLst/>
          </a:prstGeom>
        </p:spPr>
      </p:pic>
      <p:pic>
        <p:nvPicPr>
          <p:cNvPr id="10" name="Image 8" descr="preencoded.png"/>
          <p:cNvPicPr>
            <a:picLocks noChangeAspect="1"/>
          </p:cNvPicPr>
          <p:nvPr/>
        </p:nvPicPr>
        <p:blipFill>
          <a:blip r:embed="rId11"/>
          <a:stretch>
            <a:fillRect/>
          </a:stretch>
        </p:blipFill>
        <p:spPr>
          <a:xfrm>
            <a:off x="1066800" y="3619500"/>
            <a:ext cx="190500" cy="152400"/>
          </a:xfrm>
          <a:prstGeom prst="rect">
            <a:avLst/>
          </a:prstGeom>
        </p:spPr>
      </p:pic>
      <p:pic>
        <p:nvPicPr>
          <p:cNvPr id="11" name="Image 9" descr="preencoded.png"/>
          <p:cNvPicPr>
            <a:picLocks noChangeAspect="1"/>
          </p:cNvPicPr>
          <p:nvPr/>
        </p:nvPicPr>
        <p:blipFill>
          <a:blip r:embed="rId12"/>
          <a:stretch>
            <a:fillRect/>
          </a:stretch>
        </p:blipFill>
        <p:spPr>
          <a:xfrm>
            <a:off x="1066800" y="4533900"/>
            <a:ext cx="171450" cy="152400"/>
          </a:xfrm>
          <a:prstGeom prst="rect">
            <a:avLst/>
          </a:prstGeom>
        </p:spPr>
      </p:pic>
      <p:pic>
        <p:nvPicPr>
          <p:cNvPr id="12" name="Image 10" descr="preencoded.png"/>
          <p:cNvPicPr>
            <a:picLocks noChangeAspect="1"/>
          </p:cNvPicPr>
          <p:nvPr/>
        </p:nvPicPr>
        <p:blipFill>
          <a:blip r:embed="rId13"/>
          <a:stretch>
            <a:fillRect/>
          </a:stretch>
        </p:blipFill>
        <p:spPr>
          <a:xfrm>
            <a:off x="6210300" y="1524000"/>
            <a:ext cx="5524500" cy="3314700"/>
          </a:xfrm>
          <a:prstGeom prst="rect">
            <a:avLst/>
          </a:prstGeom>
        </p:spPr>
      </p:pic>
      <p:pic>
        <p:nvPicPr>
          <p:cNvPr id="13" name="Image 11" descr="preencoded.png"/>
          <p:cNvPicPr>
            <a:picLocks noChangeAspect="1"/>
          </p:cNvPicPr>
          <p:nvPr/>
        </p:nvPicPr>
        <p:blipFill>
          <a:blip r:embed="rId14"/>
          <a:stretch>
            <a:fillRect/>
          </a:stretch>
        </p:blipFill>
        <p:spPr>
          <a:xfrm>
            <a:off x="6362700" y="1676400"/>
            <a:ext cx="381000" cy="381000"/>
          </a:xfrm>
          <a:prstGeom prst="rect">
            <a:avLst/>
          </a:prstGeom>
        </p:spPr>
      </p:pic>
      <p:pic>
        <p:nvPicPr>
          <p:cNvPr id="14" name="Image 12" descr="preencoded.png"/>
          <p:cNvPicPr>
            <a:picLocks noChangeAspect="1"/>
          </p:cNvPicPr>
          <p:nvPr/>
        </p:nvPicPr>
        <p:blipFill>
          <a:blip r:embed="rId15"/>
          <a:stretch>
            <a:fillRect/>
          </a:stretch>
        </p:blipFill>
        <p:spPr>
          <a:xfrm>
            <a:off x="6477000" y="1790700"/>
            <a:ext cx="152400" cy="152400"/>
          </a:xfrm>
          <a:prstGeom prst="rect">
            <a:avLst/>
          </a:prstGeom>
        </p:spPr>
      </p:pic>
      <p:pic>
        <p:nvPicPr>
          <p:cNvPr id="15" name="Image 13" descr="preencoded.png"/>
          <p:cNvPicPr>
            <a:picLocks noChangeAspect="1"/>
          </p:cNvPicPr>
          <p:nvPr/>
        </p:nvPicPr>
        <p:blipFill>
          <a:blip r:embed="rId16"/>
          <a:stretch>
            <a:fillRect/>
          </a:stretch>
        </p:blipFill>
        <p:spPr>
          <a:xfrm>
            <a:off x="6362700" y="3009900"/>
            <a:ext cx="5219700" cy="152400"/>
          </a:xfrm>
          <a:prstGeom prst="rect">
            <a:avLst/>
          </a:prstGeom>
        </p:spPr>
      </p:pic>
      <p:pic>
        <p:nvPicPr>
          <p:cNvPr id="16" name="Image 14" descr="preencoded.png"/>
          <p:cNvPicPr>
            <a:picLocks noChangeAspect="1"/>
          </p:cNvPicPr>
          <p:nvPr/>
        </p:nvPicPr>
        <p:blipFill>
          <a:blip r:embed="rId17"/>
          <a:stretch>
            <a:fillRect/>
          </a:stretch>
        </p:blipFill>
        <p:spPr>
          <a:xfrm>
            <a:off x="6362700" y="3009900"/>
            <a:ext cx="1043880" cy="152400"/>
          </a:xfrm>
          <a:prstGeom prst="rect">
            <a:avLst/>
          </a:prstGeom>
        </p:spPr>
      </p:pic>
      <p:pic>
        <p:nvPicPr>
          <p:cNvPr id="17" name="Image 15" descr="preencoded.png"/>
          <p:cNvPicPr>
            <a:picLocks noChangeAspect="1"/>
          </p:cNvPicPr>
          <p:nvPr/>
        </p:nvPicPr>
        <p:blipFill>
          <a:blip r:embed="rId16"/>
          <a:stretch>
            <a:fillRect/>
          </a:stretch>
        </p:blipFill>
        <p:spPr>
          <a:xfrm>
            <a:off x="6362700" y="3657600"/>
            <a:ext cx="5219700" cy="152400"/>
          </a:xfrm>
          <a:prstGeom prst="rect">
            <a:avLst/>
          </a:prstGeom>
        </p:spPr>
      </p:pic>
      <p:pic>
        <p:nvPicPr>
          <p:cNvPr id="18" name="Image 16" descr="preencoded.png"/>
          <p:cNvPicPr>
            <a:picLocks noChangeAspect="1"/>
          </p:cNvPicPr>
          <p:nvPr/>
        </p:nvPicPr>
        <p:blipFill>
          <a:blip r:embed="rId18"/>
          <a:stretch>
            <a:fillRect/>
          </a:stretch>
        </p:blipFill>
        <p:spPr>
          <a:xfrm>
            <a:off x="6362700" y="3657600"/>
            <a:ext cx="782836" cy="152400"/>
          </a:xfrm>
          <a:prstGeom prst="rect">
            <a:avLst/>
          </a:prstGeom>
        </p:spPr>
      </p:pic>
      <p:pic>
        <p:nvPicPr>
          <p:cNvPr id="19" name="Image 17" descr="preencoded.png"/>
          <p:cNvPicPr>
            <a:picLocks noChangeAspect="1"/>
          </p:cNvPicPr>
          <p:nvPr/>
        </p:nvPicPr>
        <p:blipFill>
          <a:blip r:embed="rId19"/>
          <a:stretch>
            <a:fillRect/>
          </a:stretch>
        </p:blipFill>
        <p:spPr>
          <a:xfrm>
            <a:off x="6362700" y="4076700"/>
            <a:ext cx="114300" cy="152400"/>
          </a:xfrm>
          <a:prstGeom prst="rect">
            <a:avLst/>
          </a:prstGeom>
        </p:spPr>
      </p:pic>
      <p:pic>
        <p:nvPicPr>
          <p:cNvPr id="20" name="Image 18" descr="preencoded.png"/>
          <p:cNvPicPr>
            <a:picLocks noChangeAspect="1"/>
          </p:cNvPicPr>
          <p:nvPr/>
        </p:nvPicPr>
        <p:blipFill>
          <a:blip r:embed="rId20"/>
          <a:stretch>
            <a:fillRect/>
          </a:stretch>
        </p:blipFill>
        <p:spPr>
          <a:xfrm>
            <a:off x="6210300" y="4991100"/>
            <a:ext cx="5524500" cy="990600"/>
          </a:xfrm>
          <a:prstGeom prst="rect">
            <a:avLst/>
          </a:prstGeom>
        </p:spPr>
      </p:pic>
      <p:pic>
        <p:nvPicPr>
          <p:cNvPr id="21" name="Image 19" descr="preencoded.png"/>
          <p:cNvPicPr>
            <a:picLocks noChangeAspect="1"/>
          </p:cNvPicPr>
          <p:nvPr/>
        </p:nvPicPr>
        <p:blipFill>
          <a:blip r:embed="rId21"/>
          <a:stretch>
            <a:fillRect/>
          </a:stretch>
        </p:blipFill>
        <p:spPr>
          <a:xfrm>
            <a:off x="6362700" y="5334000"/>
            <a:ext cx="171450" cy="304800"/>
          </a:xfrm>
          <a:prstGeom prst="rect">
            <a:avLst/>
          </a:prstGeom>
        </p:spPr>
      </p:pic>
      <p:sp>
        <p:nvSpPr>
          <p:cNvPr id="22" name="Text 0"/>
          <p:cNvSpPr/>
          <p:nvPr/>
        </p:nvSpPr>
        <p:spPr>
          <a:xfrm>
            <a:off x="457200" y="438150"/>
            <a:ext cx="2183130" cy="419100"/>
          </a:xfrm>
          <a:prstGeom prst="rect">
            <a:avLst/>
          </a:prstGeom>
          <a:noFill/>
          <a:ln/>
        </p:spPr>
        <p:txBody>
          <a:bodyPr vert="horz" wrap="square" lIns="0" tIns="0" rIns="0" bIns="0" rtlCol="0" anchor="t"/>
          <a:lstStyle/>
          <a:p>
            <a:pPr marL="0" indent="0">
              <a:lnSpc>
                <a:spcPts val="3000"/>
              </a:lnSpc>
              <a:buNone/>
            </a:pPr>
            <a:r>
              <a:rPr lang="en-US" sz="2700" b="1" dirty="0">
                <a:solidFill>
                  <a:srgbClr val="FF6600"/>
                </a:solidFill>
                <a:latin typeface="Montserrat" pitchFamily="34" charset="0"/>
                <a:ea typeface="Montserrat" pitchFamily="34" charset="-122"/>
                <a:cs typeface="Montserrat" pitchFamily="34" charset="-120"/>
              </a:rPr>
              <a:t>Caso Real:</a:t>
            </a:r>
            <a:endParaRPr lang="en-US" sz="2700" dirty="0"/>
          </a:p>
        </p:txBody>
      </p:sp>
      <p:sp>
        <p:nvSpPr>
          <p:cNvPr id="23" name="Text 1"/>
          <p:cNvSpPr/>
          <p:nvPr/>
        </p:nvSpPr>
        <p:spPr>
          <a:xfrm>
            <a:off x="2371725" y="438150"/>
            <a:ext cx="5440680" cy="419100"/>
          </a:xfrm>
          <a:prstGeom prst="rect">
            <a:avLst/>
          </a:prstGeom>
          <a:noFill/>
          <a:ln/>
        </p:spPr>
        <p:txBody>
          <a:bodyPr vert="horz" wrap="square" lIns="0" tIns="0" rIns="0" bIns="0" rtlCol="0" anchor="t"/>
          <a:lstStyle/>
          <a:p>
            <a:pPr marL="0" indent="0">
              <a:lnSpc>
                <a:spcPts val="3000"/>
              </a:lnSpc>
              <a:buNone/>
            </a:pPr>
            <a:r>
              <a:rPr lang="en-US" sz="2700" b="1" dirty="0">
                <a:solidFill>
                  <a:srgbClr val="00CC99"/>
                </a:solidFill>
                <a:latin typeface="Montserrat" pitchFamily="34" charset="0"/>
                <a:ea typeface="Montserrat" pitchFamily="34" charset="-122"/>
                <a:cs typeface="Montserrat" pitchFamily="34" charset="-120"/>
              </a:rPr>
              <a:t>Empresa de E-commerce</a:t>
            </a:r>
            <a:endParaRPr lang="en-US" sz="2700" dirty="0"/>
          </a:p>
        </p:txBody>
      </p:sp>
      <p:sp>
        <p:nvSpPr>
          <p:cNvPr id="24" name="Text 2"/>
          <p:cNvSpPr/>
          <p:nvPr/>
        </p:nvSpPr>
        <p:spPr>
          <a:xfrm>
            <a:off x="457200" y="914400"/>
            <a:ext cx="13533120" cy="266700"/>
          </a:xfrm>
          <a:prstGeom prst="rect">
            <a:avLst/>
          </a:prstGeom>
          <a:noFill/>
          <a:ln/>
        </p:spPr>
        <p:txBody>
          <a:bodyPr vert="horz" wrap="square" lIns="0" tIns="0" rIns="0" bIns="0" rtlCol="0" anchor="t"/>
          <a:lstStyle/>
          <a:p>
            <a:pPr marL="0" indent="0">
              <a:lnSpc>
                <a:spcPts val="2100"/>
              </a:lnSpc>
              <a:buNone/>
            </a:pPr>
            <a:r>
              <a:rPr lang="en-US" sz="1500" dirty="0">
                <a:solidFill>
                  <a:srgbClr val="D1D5DB"/>
                </a:solidFill>
                <a:latin typeface="Open Sans" pitchFamily="34" charset="0"/>
                <a:ea typeface="Open Sans" pitchFamily="34" charset="-122"/>
                <a:cs typeface="Open Sans" pitchFamily="34" charset="-120"/>
              </a:rPr>
              <a:t>Implementación de métricas de usabilidad y eficiencia para optimización de plataforma de ventas</a:t>
            </a:r>
            <a:endParaRPr lang="en-US" sz="1500" dirty="0"/>
          </a:p>
        </p:txBody>
      </p:sp>
      <p:sp>
        <p:nvSpPr>
          <p:cNvPr id="25" name="Text 3"/>
          <p:cNvSpPr/>
          <p:nvPr/>
        </p:nvSpPr>
        <p:spPr>
          <a:xfrm>
            <a:off x="1104900" y="1733550"/>
            <a:ext cx="1154430" cy="266700"/>
          </a:xfrm>
          <a:prstGeom prst="rect">
            <a:avLst/>
          </a:prstGeom>
          <a:noFill/>
          <a:ln/>
        </p:spPr>
        <p:txBody>
          <a:bodyPr vert="horz" wrap="square" lIns="0" tIns="0" rIns="0" bIns="0" rtlCol="0" anchor="t"/>
          <a:lstStyle/>
          <a:p>
            <a:pPr marL="0" indent="0">
              <a:lnSpc>
                <a:spcPts val="2100"/>
              </a:lnSpc>
              <a:buNone/>
            </a:pPr>
            <a:r>
              <a:rPr lang="en-US" sz="1500" b="1" dirty="0">
                <a:solidFill>
                  <a:srgbClr val="F87171"/>
                </a:solidFill>
                <a:latin typeface="Montserrat" pitchFamily="34" charset="0"/>
                <a:ea typeface="Montserrat" pitchFamily="34" charset="-122"/>
                <a:cs typeface="Montserrat" pitchFamily="34" charset="-120"/>
              </a:rPr>
              <a:t>Problema</a:t>
            </a:r>
            <a:endParaRPr lang="en-US" sz="1500" dirty="0"/>
          </a:p>
        </p:txBody>
      </p:sp>
      <p:sp>
        <p:nvSpPr>
          <p:cNvPr id="26" name="Text 4"/>
          <p:cNvSpPr/>
          <p:nvPr/>
        </p:nvSpPr>
        <p:spPr>
          <a:xfrm>
            <a:off x="876300" y="2133600"/>
            <a:ext cx="594360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Open Sans" pitchFamily="34" charset="0"/>
                <a:ea typeface="Open Sans" pitchFamily="34" charset="-122"/>
                <a:cs typeface="Open Sans" pitchFamily="34" charset="-120"/>
              </a:rPr>
              <a:t>Usuarios reportaban dificultades para completar compras</a:t>
            </a:r>
            <a:endParaRPr lang="en-US" sz="1200" dirty="0"/>
          </a:p>
        </p:txBody>
      </p:sp>
      <p:sp>
        <p:nvSpPr>
          <p:cNvPr id="27" name="Text 5"/>
          <p:cNvSpPr/>
          <p:nvPr/>
        </p:nvSpPr>
        <p:spPr>
          <a:xfrm>
            <a:off x="876300" y="2438400"/>
            <a:ext cx="594360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Open Sans" pitchFamily="34" charset="0"/>
                <a:ea typeface="Open Sans" pitchFamily="34" charset="-122"/>
                <a:cs typeface="Open Sans" pitchFamily="34" charset="-120"/>
              </a:rPr>
              <a:t>Tiempos de carga lentos en ciertas secciones del sitio</a:t>
            </a:r>
            <a:endParaRPr lang="en-US" sz="1200" dirty="0"/>
          </a:p>
        </p:txBody>
      </p:sp>
      <p:sp>
        <p:nvSpPr>
          <p:cNvPr id="28" name="Text 6"/>
          <p:cNvSpPr/>
          <p:nvPr/>
        </p:nvSpPr>
        <p:spPr>
          <a:xfrm>
            <a:off x="1104900" y="3181350"/>
            <a:ext cx="2217420" cy="266700"/>
          </a:xfrm>
          <a:prstGeom prst="rect">
            <a:avLst/>
          </a:prstGeom>
          <a:noFill/>
          <a:ln/>
        </p:spPr>
        <p:txBody>
          <a:bodyPr vert="horz" wrap="square" lIns="0" tIns="0" rIns="0" bIns="0" rtlCol="0" anchor="t"/>
          <a:lstStyle/>
          <a:p>
            <a:pPr marL="0" indent="0">
              <a:lnSpc>
                <a:spcPts val="2100"/>
              </a:lnSpc>
              <a:buNone/>
            </a:pPr>
            <a:r>
              <a:rPr lang="en-US" sz="1500" b="1" dirty="0">
                <a:solidFill>
                  <a:srgbClr val="FB923C"/>
                </a:solidFill>
                <a:latin typeface="Montserrat" pitchFamily="34" charset="0"/>
                <a:ea typeface="Montserrat" pitchFamily="34" charset="-122"/>
                <a:cs typeface="Montserrat" pitchFamily="34" charset="-120"/>
              </a:rPr>
              <a:t>Métricas Aplicadas</a:t>
            </a:r>
            <a:endParaRPr lang="en-US" sz="1500" dirty="0"/>
          </a:p>
        </p:txBody>
      </p:sp>
      <p:sp>
        <p:nvSpPr>
          <p:cNvPr id="29" name="Text 7"/>
          <p:cNvSpPr/>
          <p:nvPr/>
        </p:nvSpPr>
        <p:spPr>
          <a:xfrm>
            <a:off x="1333500" y="3581400"/>
            <a:ext cx="5715000" cy="2286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Open Sans" pitchFamily="34" charset="0"/>
                <a:ea typeface="Open Sans" pitchFamily="34" charset="-122"/>
                <a:cs typeface="Open Sans" pitchFamily="34" charset="-120"/>
              </a:rPr>
              <a:t>Usabilidad (ISO/IEC 9126)</a:t>
            </a:r>
            <a:endParaRPr lang="en-US" sz="1200" dirty="0"/>
          </a:p>
        </p:txBody>
      </p:sp>
      <p:sp>
        <p:nvSpPr>
          <p:cNvPr id="30" name="Text 8"/>
          <p:cNvSpPr/>
          <p:nvPr/>
        </p:nvSpPr>
        <p:spPr>
          <a:xfrm>
            <a:off x="1181100" y="3810000"/>
            <a:ext cx="5577840" cy="190500"/>
          </a:xfrm>
          <a:prstGeom prst="rect">
            <a:avLst/>
          </a:prstGeom>
          <a:noFill/>
          <a:ln/>
        </p:spPr>
        <p:txBody>
          <a:bodyPr vert="horz" wrap="square" lIns="0" tIns="0" rIns="0" bIns="0" rtlCol="0" anchor="t"/>
          <a:lstStyle/>
          <a:p>
            <a:pPr marL="342900" indent="-342900" algn="l">
              <a:lnSpc>
                <a:spcPts val="1500"/>
              </a:lnSpc>
              <a:buSzPct val="100000"/>
              <a:buChar char="•"/>
            </a:pPr>
            <a:r>
              <a:rPr lang="en-US" sz="1050" dirty="0">
                <a:solidFill>
                  <a:srgbClr val="D1D5DB"/>
                </a:solidFill>
                <a:latin typeface="Open Sans" pitchFamily="34" charset="0"/>
                <a:ea typeface="Open Sans" pitchFamily="34" charset="-122"/>
                <a:cs typeface="Open Sans" pitchFamily="34" charset="-120"/>
              </a:rPr>
              <a:t>Tiempo promedio para completar una transacción</a:t>
            </a:r>
            <a:endParaRPr lang="en-US" sz="1050" dirty="0"/>
          </a:p>
        </p:txBody>
      </p:sp>
      <p:sp>
        <p:nvSpPr>
          <p:cNvPr id="31" name="Text 9"/>
          <p:cNvSpPr/>
          <p:nvPr/>
        </p:nvSpPr>
        <p:spPr>
          <a:xfrm>
            <a:off x="1181100" y="4000500"/>
            <a:ext cx="5577840" cy="190500"/>
          </a:xfrm>
          <a:prstGeom prst="rect">
            <a:avLst/>
          </a:prstGeom>
          <a:noFill/>
          <a:ln/>
        </p:spPr>
        <p:txBody>
          <a:bodyPr vert="horz" wrap="square" lIns="0" tIns="0" rIns="0" bIns="0" rtlCol="0" anchor="t"/>
          <a:lstStyle/>
          <a:p>
            <a:pPr marL="342900" indent="-342900" algn="l">
              <a:lnSpc>
                <a:spcPts val="1500"/>
              </a:lnSpc>
              <a:buSzPct val="100000"/>
              <a:buChar char="•"/>
            </a:pPr>
            <a:r>
              <a:rPr lang="en-US" sz="1050" dirty="0">
                <a:solidFill>
                  <a:srgbClr val="D1D5DB"/>
                </a:solidFill>
                <a:latin typeface="Open Sans" pitchFamily="34" charset="0"/>
                <a:ea typeface="Open Sans" pitchFamily="34" charset="-122"/>
                <a:cs typeface="Open Sans" pitchFamily="34" charset="-120"/>
              </a:rPr>
              <a:t>Número de clics para añadir un producto al carrito</a:t>
            </a:r>
            <a:endParaRPr lang="en-US" sz="1050" dirty="0"/>
          </a:p>
        </p:txBody>
      </p:sp>
      <p:sp>
        <p:nvSpPr>
          <p:cNvPr id="32" name="Text 10"/>
          <p:cNvSpPr/>
          <p:nvPr/>
        </p:nvSpPr>
        <p:spPr>
          <a:xfrm>
            <a:off x="1181100" y="4191000"/>
            <a:ext cx="5577840" cy="190500"/>
          </a:xfrm>
          <a:prstGeom prst="rect">
            <a:avLst/>
          </a:prstGeom>
          <a:noFill/>
          <a:ln/>
        </p:spPr>
        <p:txBody>
          <a:bodyPr vert="horz" wrap="square" lIns="0" tIns="0" rIns="0" bIns="0" rtlCol="0" anchor="t"/>
          <a:lstStyle/>
          <a:p>
            <a:pPr marL="342900" indent="-342900" algn="l">
              <a:lnSpc>
                <a:spcPts val="1500"/>
              </a:lnSpc>
              <a:buSzPct val="100000"/>
              <a:buChar char="•"/>
            </a:pPr>
            <a:r>
              <a:rPr lang="en-US" sz="1050" dirty="0">
                <a:solidFill>
                  <a:srgbClr val="D1D5DB"/>
                </a:solidFill>
                <a:latin typeface="Open Sans" pitchFamily="34" charset="0"/>
                <a:ea typeface="Open Sans" pitchFamily="34" charset="-122"/>
                <a:cs typeface="Open Sans" pitchFamily="34" charset="-120"/>
              </a:rPr>
              <a:t>Encuestas de satisfacción del cliente (CSAT)</a:t>
            </a:r>
            <a:endParaRPr lang="en-US" sz="1050" dirty="0"/>
          </a:p>
        </p:txBody>
      </p:sp>
      <p:sp>
        <p:nvSpPr>
          <p:cNvPr id="33" name="Text 11"/>
          <p:cNvSpPr/>
          <p:nvPr/>
        </p:nvSpPr>
        <p:spPr>
          <a:xfrm>
            <a:off x="1314450" y="4495800"/>
            <a:ext cx="5715000" cy="2286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Open Sans" pitchFamily="34" charset="0"/>
                <a:ea typeface="Open Sans" pitchFamily="34" charset="-122"/>
                <a:cs typeface="Open Sans" pitchFamily="34" charset="-120"/>
              </a:rPr>
              <a:t>Eficiencia (ISO/IEC 9126)</a:t>
            </a:r>
            <a:endParaRPr lang="en-US" sz="1200" dirty="0"/>
          </a:p>
        </p:txBody>
      </p:sp>
      <p:sp>
        <p:nvSpPr>
          <p:cNvPr id="34" name="Text 12"/>
          <p:cNvSpPr/>
          <p:nvPr/>
        </p:nvSpPr>
        <p:spPr>
          <a:xfrm>
            <a:off x="1181100" y="4724400"/>
            <a:ext cx="5577840" cy="190500"/>
          </a:xfrm>
          <a:prstGeom prst="rect">
            <a:avLst/>
          </a:prstGeom>
          <a:noFill/>
          <a:ln/>
        </p:spPr>
        <p:txBody>
          <a:bodyPr vert="horz" wrap="square" lIns="0" tIns="0" rIns="0" bIns="0" rtlCol="0" anchor="t"/>
          <a:lstStyle/>
          <a:p>
            <a:pPr marL="342900" indent="-342900" algn="l">
              <a:lnSpc>
                <a:spcPts val="1500"/>
              </a:lnSpc>
              <a:buSzPct val="100000"/>
              <a:buChar char="•"/>
            </a:pPr>
            <a:r>
              <a:rPr lang="en-US" sz="1050" dirty="0">
                <a:solidFill>
                  <a:srgbClr val="D1D5DB"/>
                </a:solidFill>
                <a:latin typeface="Open Sans" pitchFamily="34" charset="0"/>
                <a:ea typeface="Open Sans" pitchFamily="34" charset="-122"/>
                <a:cs typeface="Open Sans" pitchFamily="34" charset="-120"/>
              </a:rPr>
              <a:t>Tiempo de respuesta de las páginas de productos</a:t>
            </a:r>
            <a:endParaRPr lang="en-US" sz="1050" dirty="0"/>
          </a:p>
        </p:txBody>
      </p:sp>
      <p:sp>
        <p:nvSpPr>
          <p:cNvPr id="35" name="Text 13"/>
          <p:cNvSpPr/>
          <p:nvPr/>
        </p:nvSpPr>
        <p:spPr>
          <a:xfrm>
            <a:off x="1181100" y="4914900"/>
            <a:ext cx="5577840" cy="190500"/>
          </a:xfrm>
          <a:prstGeom prst="rect">
            <a:avLst/>
          </a:prstGeom>
          <a:noFill/>
          <a:ln/>
        </p:spPr>
        <p:txBody>
          <a:bodyPr vert="horz" wrap="square" lIns="0" tIns="0" rIns="0" bIns="0" rtlCol="0" anchor="t"/>
          <a:lstStyle/>
          <a:p>
            <a:pPr marL="342900" indent="-342900" algn="l">
              <a:lnSpc>
                <a:spcPts val="1500"/>
              </a:lnSpc>
              <a:buSzPct val="100000"/>
              <a:buChar char="•"/>
            </a:pPr>
            <a:r>
              <a:rPr lang="en-US" sz="1050" dirty="0">
                <a:solidFill>
                  <a:srgbClr val="D1D5DB"/>
                </a:solidFill>
                <a:latin typeface="Open Sans" pitchFamily="34" charset="0"/>
                <a:ea typeface="Open Sans" pitchFamily="34" charset="-122"/>
                <a:cs typeface="Open Sans" pitchFamily="34" charset="-120"/>
              </a:rPr>
              <a:t>Rendimiento del servidor durante picos de tráfico</a:t>
            </a:r>
            <a:endParaRPr lang="en-US" sz="1050" dirty="0"/>
          </a:p>
        </p:txBody>
      </p:sp>
      <p:sp>
        <p:nvSpPr>
          <p:cNvPr id="36" name="Text 14"/>
          <p:cNvSpPr/>
          <p:nvPr/>
        </p:nvSpPr>
        <p:spPr>
          <a:xfrm>
            <a:off x="6858000" y="1733550"/>
            <a:ext cx="1303020" cy="266700"/>
          </a:xfrm>
          <a:prstGeom prst="rect">
            <a:avLst/>
          </a:prstGeom>
          <a:noFill/>
          <a:ln/>
        </p:spPr>
        <p:txBody>
          <a:bodyPr vert="horz" wrap="square" lIns="0" tIns="0" rIns="0" bIns="0" rtlCol="0" anchor="t"/>
          <a:lstStyle/>
          <a:p>
            <a:pPr marL="0" indent="0">
              <a:lnSpc>
                <a:spcPts val="2100"/>
              </a:lnSpc>
              <a:buNone/>
            </a:pPr>
            <a:r>
              <a:rPr lang="en-US" sz="1500" b="1" dirty="0">
                <a:solidFill>
                  <a:srgbClr val="4ADE80"/>
                </a:solidFill>
                <a:latin typeface="Montserrat" pitchFamily="34" charset="0"/>
                <a:ea typeface="Montserrat" pitchFamily="34" charset="-122"/>
                <a:cs typeface="Montserrat" pitchFamily="34" charset="-120"/>
              </a:rPr>
              <a:t>Resultados</a:t>
            </a:r>
            <a:endParaRPr lang="en-US" sz="1500" dirty="0"/>
          </a:p>
        </p:txBody>
      </p:sp>
      <p:sp>
        <p:nvSpPr>
          <p:cNvPr id="37" name="Text 15"/>
          <p:cNvSpPr/>
          <p:nvPr/>
        </p:nvSpPr>
        <p:spPr>
          <a:xfrm>
            <a:off x="6362700" y="2133600"/>
            <a:ext cx="5219700" cy="4572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Open Sans" pitchFamily="34" charset="0"/>
                <a:ea typeface="Open Sans" pitchFamily="34" charset="-122"/>
                <a:cs typeface="Open Sans" pitchFamily="34" charset="-120"/>
              </a:rPr>
              <a:t>Tras identificar cuellos de botella y optimizar la carga de imágenes y scripts:</a:t>
            </a:r>
            <a:endParaRPr lang="en-US" sz="1200" dirty="0"/>
          </a:p>
        </p:txBody>
      </p:sp>
      <p:sp>
        <p:nvSpPr>
          <p:cNvPr id="38" name="Text 16"/>
          <p:cNvSpPr/>
          <p:nvPr/>
        </p:nvSpPr>
        <p:spPr>
          <a:xfrm>
            <a:off x="6362700" y="2743200"/>
            <a:ext cx="3200400" cy="228600"/>
          </a:xfrm>
          <a:prstGeom prst="rect">
            <a:avLst/>
          </a:prstGeom>
          <a:noFill/>
          <a:ln/>
        </p:spPr>
        <p:txBody>
          <a:bodyPr vert="horz" wrap="square" lIns="0" tIns="0" rIns="0" bIns="0" rtlCol="0" anchor="t"/>
          <a:lstStyle/>
          <a:p>
            <a:pPr marL="0" indent="0">
              <a:lnSpc>
                <a:spcPts val="1800"/>
              </a:lnSpc>
              <a:buNone/>
            </a:pPr>
            <a:r>
              <a:rPr lang="en-US" sz="1200" dirty="0">
                <a:solidFill>
                  <a:srgbClr val="FFFFFF"/>
                </a:solidFill>
                <a:latin typeface="Open Sans" pitchFamily="34" charset="0"/>
                <a:ea typeface="Open Sans" pitchFamily="34" charset="-122"/>
                <a:cs typeface="Open Sans" pitchFamily="34" charset="-120"/>
              </a:rPr>
              <a:t>Reducción del tiempo de transacción</a:t>
            </a:r>
            <a:endParaRPr lang="en-US" sz="1200" dirty="0"/>
          </a:p>
        </p:txBody>
      </p:sp>
      <p:sp>
        <p:nvSpPr>
          <p:cNvPr id="39" name="Text 17"/>
          <p:cNvSpPr/>
          <p:nvPr/>
        </p:nvSpPr>
        <p:spPr>
          <a:xfrm>
            <a:off x="11277600" y="2743200"/>
            <a:ext cx="365760" cy="228600"/>
          </a:xfrm>
          <a:prstGeom prst="rect">
            <a:avLst/>
          </a:prstGeom>
          <a:noFill/>
          <a:ln/>
        </p:spPr>
        <p:txBody>
          <a:bodyPr vert="horz" wrap="square" lIns="0" tIns="0" rIns="0" bIns="0" rtlCol="0" anchor="t"/>
          <a:lstStyle/>
          <a:p>
            <a:pPr marL="0" indent="0">
              <a:lnSpc>
                <a:spcPts val="1800"/>
              </a:lnSpc>
              <a:buNone/>
            </a:pPr>
            <a:r>
              <a:rPr lang="en-US" sz="1200" b="1" dirty="0">
                <a:solidFill>
                  <a:srgbClr val="4ADE80"/>
                </a:solidFill>
                <a:latin typeface="Open Sans" pitchFamily="34" charset="0"/>
                <a:ea typeface="Open Sans" pitchFamily="34" charset="-122"/>
                <a:cs typeface="Open Sans" pitchFamily="34" charset="-120"/>
              </a:rPr>
              <a:t>20%</a:t>
            </a:r>
            <a:endParaRPr lang="en-US" sz="1200" dirty="0"/>
          </a:p>
        </p:txBody>
      </p:sp>
      <p:sp>
        <p:nvSpPr>
          <p:cNvPr id="40" name="Text 18"/>
          <p:cNvSpPr/>
          <p:nvPr/>
        </p:nvSpPr>
        <p:spPr>
          <a:xfrm>
            <a:off x="6362700" y="3390900"/>
            <a:ext cx="2857500" cy="228600"/>
          </a:xfrm>
          <a:prstGeom prst="rect">
            <a:avLst/>
          </a:prstGeom>
          <a:noFill/>
          <a:ln/>
        </p:spPr>
        <p:txBody>
          <a:bodyPr vert="horz" wrap="square" lIns="0" tIns="0" rIns="0" bIns="0" rtlCol="0" anchor="t"/>
          <a:lstStyle/>
          <a:p>
            <a:pPr marL="0" indent="0">
              <a:lnSpc>
                <a:spcPts val="1800"/>
              </a:lnSpc>
              <a:buNone/>
            </a:pPr>
            <a:r>
              <a:rPr lang="en-US" sz="1200" dirty="0">
                <a:solidFill>
                  <a:srgbClr val="FFFFFF"/>
                </a:solidFill>
                <a:latin typeface="Open Sans" pitchFamily="34" charset="0"/>
                <a:ea typeface="Open Sans" pitchFamily="34" charset="-122"/>
                <a:cs typeface="Open Sans" pitchFamily="34" charset="-120"/>
              </a:rPr>
              <a:t>Mejora en satisfacción del cliente</a:t>
            </a:r>
            <a:endParaRPr lang="en-US" sz="1200" dirty="0"/>
          </a:p>
        </p:txBody>
      </p:sp>
      <p:sp>
        <p:nvSpPr>
          <p:cNvPr id="41" name="Text 19"/>
          <p:cNvSpPr/>
          <p:nvPr/>
        </p:nvSpPr>
        <p:spPr>
          <a:xfrm>
            <a:off x="11277600" y="3390900"/>
            <a:ext cx="365760" cy="228600"/>
          </a:xfrm>
          <a:prstGeom prst="rect">
            <a:avLst/>
          </a:prstGeom>
          <a:noFill/>
          <a:ln/>
        </p:spPr>
        <p:txBody>
          <a:bodyPr vert="horz" wrap="square" lIns="0" tIns="0" rIns="0" bIns="0" rtlCol="0" anchor="t"/>
          <a:lstStyle/>
          <a:p>
            <a:pPr marL="0" indent="0">
              <a:lnSpc>
                <a:spcPts val="1800"/>
              </a:lnSpc>
              <a:buNone/>
            </a:pPr>
            <a:r>
              <a:rPr lang="en-US" sz="1200" b="1" dirty="0">
                <a:solidFill>
                  <a:srgbClr val="4ADE80"/>
                </a:solidFill>
                <a:latin typeface="Open Sans" pitchFamily="34" charset="0"/>
                <a:ea typeface="Open Sans" pitchFamily="34" charset="-122"/>
                <a:cs typeface="Open Sans" pitchFamily="34" charset="-120"/>
              </a:rPr>
              <a:t>15%</a:t>
            </a:r>
            <a:endParaRPr lang="en-US" sz="1200" dirty="0"/>
          </a:p>
        </p:txBody>
      </p:sp>
      <p:sp>
        <p:nvSpPr>
          <p:cNvPr id="42" name="Text 20"/>
          <p:cNvSpPr/>
          <p:nvPr/>
        </p:nvSpPr>
        <p:spPr>
          <a:xfrm>
            <a:off x="6515100" y="4038600"/>
            <a:ext cx="6263640" cy="2286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Open Sans" pitchFamily="34" charset="0"/>
                <a:ea typeface="Open Sans" pitchFamily="34" charset="-122"/>
                <a:cs typeface="Open Sans" pitchFamily="34" charset="-120"/>
              </a:rPr>
              <a:t> Aumento correspondiente en las ventas</a:t>
            </a:r>
            <a:endParaRPr lang="en-US" sz="1200" dirty="0"/>
          </a:p>
        </p:txBody>
      </p:sp>
      <p:sp>
        <p:nvSpPr>
          <p:cNvPr id="43" name="Text 21"/>
          <p:cNvSpPr/>
          <p:nvPr/>
        </p:nvSpPr>
        <p:spPr>
          <a:xfrm>
            <a:off x="6648450" y="5143500"/>
            <a:ext cx="4933950" cy="685800"/>
          </a:xfrm>
          <a:prstGeom prst="rect">
            <a:avLst/>
          </a:prstGeom>
          <a:noFill/>
          <a:ln/>
        </p:spPr>
        <p:txBody>
          <a:bodyPr vert="horz" wrap="square" lIns="0" tIns="0" rIns="0" bIns="0" rtlCol="0" anchor="t"/>
          <a:lstStyle/>
          <a:p>
            <a:pPr marL="0" indent="0">
              <a:lnSpc>
                <a:spcPts val="1800"/>
              </a:lnSpc>
              <a:buNone/>
            </a:pPr>
            <a:r>
              <a:rPr lang="en-US" sz="1200" b="1" dirty="0">
                <a:solidFill>
                  <a:srgbClr val="E5E7EB"/>
                </a:solidFill>
                <a:latin typeface="Open Sans" pitchFamily="34" charset="0"/>
                <a:ea typeface="Open Sans" pitchFamily="34" charset="-122"/>
                <a:cs typeface="Open Sans" pitchFamily="34" charset="-120"/>
              </a:rPr>
              <a:t>Conclusión:</a:t>
            </a:r>
            <a:r>
              <a:rPr lang="en-US" sz="1200" dirty="0">
                <a:solidFill>
                  <a:srgbClr val="E5E7EB"/>
                </a:solidFill>
                <a:latin typeface="Open Sans" pitchFamily="34" charset="0"/>
                <a:ea typeface="Open Sans" pitchFamily="34" charset="-122"/>
                <a:cs typeface="Open Sans" pitchFamily="34" charset="-120"/>
              </a:rPr>
              <a:t> La aplicación de métricas basadas en ISO/IEC 9126 permitió identificar y resolver cuellos de botella, mejorando la experiencia de usuario y los resultados comerciales.</a:t>
            </a:r>
            <a:endParaRPr lang="en-US" sz="1200" dirty="0"/>
          </a:p>
        </p:txBody>
      </p:sp>
      <p:sp>
        <p:nvSpPr>
          <p:cNvPr id="44" name="Text 22"/>
          <p:cNvSpPr/>
          <p:nvPr/>
        </p:nvSpPr>
        <p:spPr>
          <a:xfrm>
            <a:off x="457200" y="6210300"/>
            <a:ext cx="1965960"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Open Sans" pitchFamily="34" charset="0"/>
                <a:ea typeface="Open Sans" pitchFamily="34" charset="-122"/>
                <a:cs typeface="Open Sans" pitchFamily="34" charset="-120"/>
              </a:rPr>
              <a:t>24 de Noviembre de 2025</a:t>
            </a:r>
            <a:endParaRPr lang="en-US" sz="1050" dirty="0"/>
          </a:p>
        </p:txBody>
      </p:sp>
      <p:sp>
        <p:nvSpPr>
          <p:cNvPr id="45" name="Text 23"/>
          <p:cNvSpPr/>
          <p:nvPr/>
        </p:nvSpPr>
        <p:spPr>
          <a:xfrm>
            <a:off x="10725150" y="6210300"/>
            <a:ext cx="1211580"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Open Sans" pitchFamily="34" charset="0"/>
                <a:ea typeface="Open Sans" pitchFamily="34" charset="-122"/>
                <a:cs typeface="Open Sans" pitchFamily="34" charset="-120"/>
              </a:rPr>
              <a:t>Página 15 de 25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914400"/>
            <a:ext cx="914400" cy="38100"/>
          </a:xfrm>
          <a:prstGeom prst="rect">
            <a:avLst/>
          </a:prstGeom>
        </p:spPr>
      </p:pic>
      <p:pic>
        <p:nvPicPr>
          <p:cNvPr id="4" name="Image 2" descr="preencoded.png"/>
          <p:cNvPicPr>
            <a:picLocks noChangeAspect="1"/>
          </p:cNvPicPr>
          <p:nvPr/>
        </p:nvPicPr>
        <p:blipFill>
          <a:blip r:embed="rId5"/>
          <a:stretch>
            <a:fillRect/>
          </a:stretch>
        </p:blipFill>
        <p:spPr>
          <a:xfrm>
            <a:off x="457200" y="1181100"/>
            <a:ext cx="5524500" cy="1485900"/>
          </a:xfrm>
          <a:prstGeom prst="rect">
            <a:avLst/>
          </a:prstGeom>
        </p:spPr>
      </p:pic>
      <p:pic>
        <p:nvPicPr>
          <p:cNvPr id="5" name="Image 3" descr="preencoded.png"/>
          <p:cNvPicPr>
            <a:picLocks noChangeAspect="1"/>
          </p:cNvPicPr>
          <p:nvPr/>
        </p:nvPicPr>
        <p:blipFill>
          <a:blip r:embed="rId6"/>
          <a:stretch>
            <a:fillRect/>
          </a:stretch>
        </p:blipFill>
        <p:spPr>
          <a:xfrm>
            <a:off x="685800" y="1409700"/>
            <a:ext cx="381000" cy="381000"/>
          </a:xfrm>
          <a:prstGeom prst="rect">
            <a:avLst/>
          </a:prstGeom>
        </p:spPr>
      </p:pic>
      <p:pic>
        <p:nvPicPr>
          <p:cNvPr id="6" name="Image 4" descr="preencoded.png"/>
          <p:cNvPicPr>
            <a:picLocks noChangeAspect="1"/>
          </p:cNvPicPr>
          <p:nvPr/>
        </p:nvPicPr>
        <p:blipFill>
          <a:blip r:embed="rId7"/>
          <a:stretch>
            <a:fillRect/>
          </a:stretch>
        </p:blipFill>
        <p:spPr>
          <a:xfrm>
            <a:off x="781050" y="1466850"/>
            <a:ext cx="190500" cy="266700"/>
          </a:xfrm>
          <a:prstGeom prst="rect">
            <a:avLst/>
          </a:prstGeom>
        </p:spPr>
      </p:pic>
      <p:pic>
        <p:nvPicPr>
          <p:cNvPr id="7" name="Image 5" descr="preencoded.png"/>
          <p:cNvPicPr>
            <a:picLocks noChangeAspect="1"/>
          </p:cNvPicPr>
          <p:nvPr/>
        </p:nvPicPr>
        <p:blipFill>
          <a:blip r:embed="rId8"/>
          <a:stretch>
            <a:fillRect/>
          </a:stretch>
        </p:blipFill>
        <p:spPr>
          <a:xfrm>
            <a:off x="1219200" y="1933575"/>
            <a:ext cx="76200" cy="152400"/>
          </a:xfrm>
          <a:prstGeom prst="rect">
            <a:avLst/>
          </a:prstGeom>
        </p:spPr>
      </p:pic>
      <p:pic>
        <p:nvPicPr>
          <p:cNvPr id="8" name="Image 6" descr="preencoded.png"/>
          <p:cNvPicPr>
            <a:picLocks noChangeAspect="1"/>
          </p:cNvPicPr>
          <p:nvPr/>
        </p:nvPicPr>
        <p:blipFill>
          <a:blip r:embed="rId8"/>
          <a:stretch>
            <a:fillRect/>
          </a:stretch>
        </p:blipFill>
        <p:spPr>
          <a:xfrm>
            <a:off x="1219200" y="2238375"/>
            <a:ext cx="76200" cy="152400"/>
          </a:xfrm>
          <a:prstGeom prst="rect">
            <a:avLst/>
          </a:prstGeom>
        </p:spPr>
      </p:pic>
      <p:pic>
        <p:nvPicPr>
          <p:cNvPr id="9" name="Image 7" descr="preencoded.png"/>
          <p:cNvPicPr>
            <a:picLocks noChangeAspect="1"/>
          </p:cNvPicPr>
          <p:nvPr/>
        </p:nvPicPr>
        <p:blipFill>
          <a:blip r:embed="rId9"/>
          <a:stretch>
            <a:fillRect/>
          </a:stretch>
        </p:blipFill>
        <p:spPr>
          <a:xfrm>
            <a:off x="457200" y="2895600"/>
            <a:ext cx="5524500" cy="1790700"/>
          </a:xfrm>
          <a:prstGeom prst="rect">
            <a:avLst/>
          </a:prstGeom>
        </p:spPr>
      </p:pic>
      <p:pic>
        <p:nvPicPr>
          <p:cNvPr id="10" name="Image 8" descr="preencoded.png"/>
          <p:cNvPicPr>
            <a:picLocks noChangeAspect="1"/>
          </p:cNvPicPr>
          <p:nvPr/>
        </p:nvPicPr>
        <p:blipFill>
          <a:blip r:embed="rId10"/>
          <a:stretch>
            <a:fillRect/>
          </a:stretch>
        </p:blipFill>
        <p:spPr>
          <a:xfrm>
            <a:off x="685800" y="3124200"/>
            <a:ext cx="381000" cy="381000"/>
          </a:xfrm>
          <a:prstGeom prst="rect">
            <a:avLst/>
          </a:prstGeom>
        </p:spPr>
      </p:pic>
      <p:pic>
        <p:nvPicPr>
          <p:cNvPr id="11" name="Image 9" descr="preencoded.png"/>
          <p:cNvPicPr>
            <a:picLocks noChangeAspect="1"/>
          </p:cNvPicPr>
          <p:nvPr/>
        </p:nvPicPr>
        <p:blipFill>
          <a:blip r:embed="rId11"/>
          <a:stretch>
            <a:fillRect/>
          </a:stretch>
        </p:blipFill>
        <p:spPr>
          <a:xfrm>
            <a:off x="781050" y="3181350"/>
            <a:ext cx="190500" cy="266700"/>
          </a:xfrm>
          <a:prstGeom prst="rect">
            <a:avLst/>
          </a:prstGeom>
        </p:spPr>
      </p:pic>
      <p:pic>
        <p:nvPicPr>
          <p:cNvPr id="12" name="Image 10" descr="preencoded.png"/>
          <p:cNvPicPr>
            <a:picLocks noChangeAspect="1"/>
          </p:cNvPicPr>
          <p:nvPr/>
        </p:nvPicPr>
        <p:blipFill>
          <a:blip r:embed="rId12"/>
          <a:stretch>
            <a:fillRect/>
          </a:stretch>
        </p:blipFill>
        <p:spPr>
          <a:xfrm>
            <a:off x="1219200" y="3648075"/>
            <a:ext cx="76200" cy="152400"/>
          </a:xfrm>
          <a:prstGeom prst="rect">
            <a:avLst/>
          </a:prstGeom>
        </p:spPr>
      </p:pic>
      <p:pic>
        <p:nvPicPr>
          <p:cNvPr id="13" name="Image 11" descr="preencoded.png"/>
          <p:cNvPicPr>
            <a:picLocks noChangeAspect="1"/>
          </p:cNvPicPr>
          <p:nvPr/>
        </p:nvPicPr>
        <p:blipFill>
          <a:blip r:embed="rId12"/>
          <a:stretch>
            <a:fillRect/>
          </a:stretch>
        </p:blipFill>
        <p:spPr>
          <a:xfrm>
            <a:off x="1219200" y="3952875"/>
            <a:ext cx="76200" cy="152400"/>
          </a:xfrm>
          <a:prstGeom prst="rect">
            <a:avLst/>
          </a:prstGeom>
        </p:spPr>
      </p:pic>
      <p:pic>
        <p:nvPicPr>
          <p:cNvPr id="14" name="Image 12" descr="preencoded.png"/>
          <p:cNvPicPr>
            <a:picLocks noChangeAspect="1"/>
          </p:cNvPicPr>
          <p:nvPr/>
        </p:nvPicPr>
        <p:blipFill>
          <a:blip r:embed="rId12"/>
          <a:stretch>
            <a:fillRect/>
          </a:stretch>
        </p:blipFill>
        <p:spPr>
          <a:xfrm>
            <a:off x="1219200" y="4257675"/>
            <a:ext cx="76200" cy="152400"/>
          </a:xfrm>
          <a:prstGeom prst="rect">
            <a:avLst/>
          </a:prstGeom>
        </p:spPr>
      </p:pic>
      <p:pic>
        <p:nvPicPr>
          <p:cNvPr id="15" name="Image 13" descr="preencoded.png"/>
          <p:cNvPicPr>
            <a:picLocks noChangeAspect="1"/>
          </p:cNvPicPr>
          <p:nvPr/>
        </p:nvPicPr>
        <p:blipFill>
          <a:blip r:embed="rId5"/>
          <a:stretch>
            <a:fillRect/>
          </a:stretch>
        </p:blipFill>
        <p:spPr>
          <a:xfrm>
            <a:off x="6210300" y="1181100"/>
            <a:ext cx="5524500" cy="1485900"/>
          </a:xfrm>
          <a:prstGeom prst="rect">
            <a:avLst/>
          </a:prstGeom>
        </p:spPr>
      </p:pic>
      <p:pic>
        <p:nvPicPr>
          <p:cNvPr id="16" name="Image 14" descr="preencoded.png"/>
          <p:cNvPicPr>
            <a:picLocks noChangeAspect="1"/>
          </p:cNvPicPr>
          <p:nvPr/>
        </p:nvPicPr>
        <p:blipFill>
          <a:blip r:embed="rId13"/>
          <a:stretch>
            <a:fillRect/>
          </a:stretch>
        </p:blipFill>
        <p:spPr>
          <a:xfrm>
            <a:off x="6438900" y="1409700"/>
            <a:ext cx="381000" cy="381000"/>
          </a:xfrm>
          <a:prstGeom prst="rect">
            <a:avLst/>
          </a:prstGeom>
        </p:spPr>
      </p:pic>
      <p:pic>
        <p:nvPicPr>
          <p:cNvPr id="17" name="Image 15" descr="preencoded.png"/>
          <p:cNvPicPr>
            <a:picLocks noChangeAspect="1"/>
          </p:cNvPicPr>
          <p:nvPr/>
        </p:nvPicPr>
        <p:blipFill>
          <a:blip r:embed="rId14"/>
          <a:stretch>
            <a:fillRect/>
          </a:stretch>
        </p:blipFill>
        <p:spPr>
          <a:xfrm>
            <a:off x="6534150" y="1466850"/>
            <a:ext cx="190500" cy="266700"/>
          </a:xfrm>
          <a:prstGeom prst="rect">
            <a:avLst/>
          </a:prstGeom>
        </p:spPr>
      </p:pic>
      <p:pic>
        <p:nvPicPr>
          <p:cNvPr id="18" name="Image 16" descr="preencoded.png"/>
          <p:cNvPicPr>
            <a:picLocks noChangeAspect="1"/>
          </p:cNvPicPr>
          <p:nvPr/>
        </p:nvPicPr>
        <p:blipFill>
          <a:blip r:embed="rId15"/>
          <a:stretch>
            <a:fillRect/>
          </a:stretch>
        </p:blipFill>
        <p:spPr>
          <a:xfrm>
            <a:off x="6972300" y="1933575"/>
            <a:ext cx="152400" cy="152400"/>
          </a:xfrm>
          <a:prstGeom prst="rect">
            <a:avLst/>
          </a:prstGeom>
        </p:spPr>
      </p:pic>
      <p:pic>
        <p:nvPicPr>
          <p:cNvPr id="19" name="Image 17" descr="preencoded.png"/>
          <p:cNvPicPr>
            <a:picLocks noChangeAspect="1"/>
          </p:cNvPicPr>
          <p:nvPr/>
        </p:nvPicPr>
        <p:blipFill>
          <a:blip r:embed="rId16"/>
          <a:stretch>
            <a:fillRect/>
          </a:stretch>
        </p:blipFill>
        <p:spPr>
          <a:xfrm>
            <a:off x="6972300" y="2238375"/>
            <a:ext cx="152400" cy="152400"/>
          </a:xfrm>
          <a:prstGeom prst="rect">
            <a:avLst/>
          </a:prstGeom>
        </p:spPr>
      </p:pic>
      <p:pic>
        <p:nvPicPr>
          <p:cNvPr id="20" name="Image 18" descr="preencoded.png"/>
          <p:cNvPicPr>
            <a:picLocks noChangeAspect="1"/>
          </p:cNvPicPr>
          <p:nvPr/>
        </p:nvPicPr>
        <p:blipFill>
          <a:blip r:embed="rId17"/>
          <a:stretch>
            <a:fillRect/>
          </a:stretch>
        </p:blipFill>
        <p:spPr>
          <a:xfrm>
            <a:off x="6210300" y="2895600"/>
            <a:ext cx="5524500" cy="2667000"/>
          </a:xfrm>
          <a:prstGeom prst="rect">
            <a:avLst/>
          </a:prstGeom>
        </p:spPr>
      </p:pic>
      <p:pic>
        <p:nvPicPr>
          <p:cNvPr id="21" name="Image 19" descr="preencoded.png"/>
          <p:cNvPicPr>
            <a:picLocks noChangeAspect="1"/>
          </p:cNvPicPr>
          <p:nvPr/>
        </p:nvPicPr>
        <p:blipFill>
          <a:blip r:embed="rId18"/>
          <a:stretch>
            <a:fillRect/>
          </a:stretch>
        </p:blipFill>
        <p:spPr>
          <a:xfrm>
            <a:off x="6438900" y="3124200"/>
            <a:ext cx="381000" cy="381000"/>
          </a:xfrm>
          <a:prstGeom prst="rect">
            <a:avLst/>
          </a:prstGeom>
        </p:spPr>
      </p:pic>
      <p:pic>
        <p:nvPicPr>
          <p:cNvPr id="22" name="Image 20" descr="preencoded.png"/>
          <p:cNvPicPr>
            <a:picLocks noChangeAspect="1"/>
          </p:cNvPicPr>
          <p:nvPr/>
        </p:nvPicPr>
        <p:blipFill>
          <a:blip r:embed="rId19"/>
          <a:stretch>
            <a:fillRect/>
          </a:stretch>
        </p:blipFill>
        <p:spPr>
          <a:xfrm>
            <a:off x="6534150" y="3181350"/>
            <a:ext cx="190500" cy="266700"/>
          </a:xfrm>
          <a:prstGeom prst="rect">
            <a:avLst/>
          </a:prstGeom>
        </p:spPr>
      </p:pic>
      <p:pic>
        <p:nvPicPr>
          <p:cNvPr id="23" name="Image 21" descr="preencoded.png"/>
          <p:cNvPicPr>
            <a:picLocks noChangeAspect="1"/>
          </p:cNvPicPr>
          <p:nvPr/>
        </p:nvPicPr>
        <p:blipFill>
          <a:blip r:embed="rId20"/>
          <a:stretch>
            <a:fillRect/>
          </a:stretch>
        </p:blipFill>
        <p:spPr>
          <a:xfrm>
            <a:off x="6802338" y="3657600"/>
            <a:ext cx="1524000" cy="1524000"/>
          </a:xfrm>
          <a:prstGeom prst="rect">
            <a:avLst/>
          </a:prstGeom>
        </p:spPr>
      </p:pic>
      <p:sp>
        <p:nvSpPr>
          <p:cNvPr id="24" name="Text 0"/>
          <p:cNvSpPr/>
          <p:nvPr/>
        </p:nvSpPr>
        <p:spPr>
          <a:xfrm>
            <a:off x="457200" y="457200"/>
            <a:ext cx="1353312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97316"/>
                </a:solidFill>
                <a:latin typeface="ui-sans-serif" pitchFamily="34" charset="0"/>
                <a:ea typeface="ui-sans-serif" pitchFamily="34" charset="-122"/>
                <a:cs typeface="ui-sans-serif" pitchFamily="34" charset="-120"/>
              </a:rPr>
              <a:t>Caso Real: Entidad Financiera</a:t>
            </a:r>
            <a:endParaRPr lang="en-US" sz="2700" dirty="0"/>
          </a:p>
        </p:txBody>
      </p:sp>
      <p:sp>
        <p:nvSpPr>
          <p:cNvPr id="25" name="Text 1"/>
          <p:cNvSpPr/>
          <p:nvPr/>
        </p:nvSpPr>
        <p:spPr>
          <a:xfrm>
            <a:off x="1181100" y="1447800"/>
            <a:ext cx="1472327" cy="304800"/>
          </a:xfrm>
          <a:prstGeom prst="rect">
            <a:avLst/>
          </a:prstGeom>
          <a:noFill/>
          <a:ln/>
        </p:spPr>
        <p:txBody>
          <a:bodyPr vert="horz" wrap="square" lIns="0" tIns="0" rIns="0" bIns="0" rtlCol="0" anchor="t"/>
          <a:lstStyle/>
          <a:p>
            <a:pPr marL="0" indent="0">
              <a:lnSpc>
                <a:spcPts val="2400"/>
              </a:lnSpc>
              <a:buNone/>
            </a:pPr>
            <a:r>
              <a:rPr lang="en-US" sz="1800" b="1" dirty="0">
                <a:solidFill>
                  <a:srgbClr val="F87171"/>
                </a:solidFill>
                <a:latin typeface="ui-sans-serif" pitchFamily="34" charset="0"/>
                <a:ea typeface="ui-sans-serif" pitchFamily="34" charset="-122"/>
                <a:cs typeface="ui-sans-serif" pitchFamily="34" charset="-120"/>
              </a:rPr>
              <a:t>Problema</a:t>
            </a:r>
            <a:endParaRPr lang="en-US" sz="1800" dirty="0"/>
          </a:p>
        </p:txBody>
      </p:sp>
      <p:sp>
        <p:nvSpPr>
          <p:cNvPr id="26" name="Text 2"/>
          <p:cNvSpPr/>
          <p:nvPr/>
        </p:nvSpPr>
        <p:spPr>
          <a:xfrm>
            <a:off x="1181100" y="1905000"/>
            <a:ext cx="566928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ui-sans-serif" pitchFamily="34" charset="0"/>
                <a:ea typeface="ui-sans-serif" pitchFamily="34" charset="-122"/>
                <a:cs typeface="ui-sans-serif" pitchFamily="34" charset="-120"/>
              </a:rPr>
              <a:t>Amenazas de ciberataques crecientes</a:t>
            </a:r>
            <a:endParaRPr lang="en-US" sz="1200" dirty="0"/>
          </a:p>
        </p:txBody>
      </p:sp>
      <p:sp>
        <p:nvSpPr>
          <p:cNvPr id="27" name="Text 3"/>
          <p:cNvSpPr/>
          <p:nvPr/>
        </p:nvSpPr>
        <p:spPr>
          <a:xfrm>
            <a:off x="1181100" y="2209800"/>
            <a:ext cx="566928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ui-sans-serif" pitchFamily="34" charset="0"/>
                <a:ea typeface="ui-sans-serif" pitchFamily="34" charset="-122"/>
                <a:cs typeface="ui-sans-serif" pitchFamily="34" charset="-120"/>
              </a:rPr>
              <a:t>Regulaciones de seguridad estrictas</a:t>
            </a:r>
            <a:endParaRPr lang="en-US" sz="1200" dirty="0"/>
          </a:p>
        </p:txBody>
      </p:sp>
      <p:sp>
        <p:nvSpPr>
          <p:cNvPr id="28" name="Text 4"/>
          <p:cNvSpPr/>
          <p:nvPr/>
        </p:nvSpPr>
        <p:spPr>
          <a:xfrm>
            <a:off x="1181100" y="3162300"/>
            <a:ext cx="2145447" cy="304800"/>
          </a:xfrm>
          <a:prstGeom prst="rect">
            <a:avLst/>
          </a:prstGeom>
          <a:noFill/>
          <a:ln/>
        </p:spPr>
        <p:txBody>
          <a:bodyPr vert="horz" wrap="square" lIns="0" tIns="0" rIns="0" bIns="0" rtlCol="0" anchor="t"/>
          <a:lstStyle/>
          <a:p>
            <a:pPr marL="0" indent="0">
              <a:lnSpc>
                <a:spcPts val="2400"/>
              </a:lnSpc>
              <a:buNone/>
            </a:pPr>
            <a:r>
              <a:rPr lang="en-US" sz="1800" b="1" dirty="0">
                <a:solidFill>
                  <a:srgbClr val="4ADE80"/>
                </a:solidFill>
                <a:latin typeface="ui-sans-serif" pitchFamily="34" charset="0"/>
                <a:ea typeface="ui-sans-serif" pitchFamily="34" charset="-122"/>
                <a:cs typeface="ui-sans-serif" pitchFamily="34" charset="-120"/>
              </a:rPr>
              <a:t>Solución CISQ</a:t>
            </a:r>
            <a:endParaRPr lang="en-US" sz="1800" dirty="0"/>
          </a:p>
        </p:txBody>
      </p:sp>
      <p:sp>
        <p:nvSpPr>
          <p:cNvPr id="29" name="Text 5"/>
          <p:cNvSpPr/>
          <p:nvPr/>
        </p:nvSpPr>
        <p:spPr>
          <a:xfrm>
            <a:off x="1181100" y="3619500"/>
            <a:ext cx="566928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ui-sans-serif" pitchFamily="34" charset="0"/>
                <a:ea typeface="ui-sans-serif" pitchFamily="34" charset="-122"/>
                <a:cs typeface="ui-sans-serif" pitchFamily="34" charset="-120"/>
              </a:rPr>
              <a:t>Análisis automatizado de código</a:t>
            </a:r>
            <a:endParaRPr lang="en-US" sz="1200" dirty="0"/>
          </a:p>
        </p:txBody>
      </p:sp>
      <p:sp>
        <p:nvSpPr>
          <p:cNvPr id="30" name="Text 6"/>
          <p:cNvSpPr/>
          <p:nvPr/>
        </p:nvSpPr>
        <p:spPr>
          <a:xfrm>
            <a:off x="1181100" y="3924300"/>
            <a:ext cx="566928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ui-sans-serif" pitchFamily="34" charset="0"/>
                <a:ea typeface="ui-sans-serif" pitchFamily="34" charset="-122"/>
                <a:cs typeface="ui-sans-serif" pitchFamily="34" charset="-120"/>
              </a:rPr>
              <a:t>Medición de debilidades de seguridad</a:t>
            </a:r>
            <a:endParaRPr lang="en-US" sz="1200" dirty="0"/>
          </a:p>
        </p:txBody>
      </p:sp>
      <p:sp>
        <p:nvSpPr>
          <p:cNvPr id="31" name="Text 7"/>
          <p:cNvSpPr/>
          <p:nvPr/>
        </p:nvSpPr>
        <p:spPr>
          <a:xfrm>
            <a:off x="1181100" y="4229100"/>
            <a:ext cx="566928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ui-sans-serif" pitchFamily="34" charset="0"/>
                <a:ea typeface="ui-sans-serif" pitchFamily="34" charset="-122"/>
                <a:cs typeface="ui-sans-serif" pitchFamily="34" charset="-120"/>
              </a:rPr>
              <a:t>Herramientas para detectar vulnerabilidades</a:t>
            </a:r>
            <a:endParaRPr lang="en-US" sz="1200" dirty="0"/>
          </a:p>
        </p:txBody>
      </p:sp>
      <p:sp>
        <p:nvSpPr>
          <p:cNvPr id="32" name="Text 8"/>
          <p:cNvSpPr/>
          <p:nvPr/>
        </p:nvSpPr>
        <p:spPr>
          <a:xfrm>
            <a:off x="6934200" y="1447800"/>
            <a:ext cx="2915186" cy="304800"/>
          </a:xfrm>
          <a:prstGeom prst="rect">
            <a:avLst/>
          </a:prstGeom>
          <a:noFill/>
          <a:ln/>
        </p:spPr>
        <p:txBody>
          <a:bodyPr vert="horz" wrap="square" lIns="0" tIns="0" rIns="0" bIns="0" rtlCol="0" anchor="t"/>
          <a:lstStyle/>
          <a:p>
            <a:pPr marL="0" indent="0">
              <a:lnSpc>
                <a:spcPts val="2400"/>
              </a:lnSpc>
              <a:buNone/>
            </a:pPr>
            <a:r>
              <a:rPr lang="en-US" sz="1800" b="1" dirty="0">
                <a:solidFill>
                  <a:srgbClr val="60A5FA"/>
                </a:solidFill>
                <a:latin typeface="ui-sans-serif" pitchFamily="34" charset="0"/>
                <a:ea typeface="ui-sans-serif" pitchFamily="34" charset="-122"/>
                <a:cs typeface="ui-sans-serif" pitchFamily="34" charset="-120"/>
              </a:rPr>
              <a:t>Métricas Aplicadas</a:t>
            </a:r>
            <a:endParaRPr lang="en-US" sz="1800" dirty="0"/>
          </a:p>
        </p:txBody>
      </p:sp>
      <p:sp>
        <p:nvSpPr>
          <p:cNvPr id="33" name="Text 9"/>
          <p:cNvSpPr/>
          <p:nvPr/>
        </p:nvSpPr>
        <p:spPr>
          <a:xfrm>
            <a:off x="7200900" y="1905000"/>
            <a:ext cx="5440680" cy="228600"/>
          </a:xfrm>
          <a:prstGeom prst="rect">
            <a:avLst/>
          </a:prstGeom>
          <a:noFill/>
          <a:ln/>
        </p:spPr>
        <p:txBody>
          <a:bodyPr vert="horz" wrap="square" lIns="0" tIns="0" rIns="0" bIns="0" rtlCol="0" anchor="t"/>
          <a:lstStyle/>
          <a:p>
            <a:pPr marL="0" indent="0">
              <a:lnSpc>
                <a:spcPts val="1800"/>
              </a:lnSpc>
              <a:buNone/>
            </a:pPr>
            <a:r>
              <a:rPr lang="en-US" sz="1200" b="1" dirty="0">
                <a:solidFill>
                  <a:srgbClr val="D1D5DB"/>
                </a:solidFill>
                <a:latin typeface="ui-sans-serif" pitchFamily="34" charset="0"/>
                <a:ea typeface="ui-sans-serif" pitchFamily="34" charset="-122"/>
                <a:cs typeface="ui-sans-serif" pitchFamily="34" charset="-120"/>
              </a:rPr>
              <a:t>MTTV:</a:t>
            </a:r>
            <a:r>
              <a:rPr lang="en-US" sz="1200" dirty="0">
                <a:solidFill>
                  <a:srgbClr val="D1D5DB"/>
                </a:solidFill>
                <a:latin typeface="ui-sans-serif" pitchFamily="34" charset="0"/>
                <a:ea typeface="ui-sans-serif" pitchFamily="34" charset="-122"/>
                <a:cs typeface="ui-sans-serif" pitchFamily="34" charset="-120"/>
              </a:rPr>
              <a:t> Tiempo medio para remediar vulnerabilidades</a:t>
            </a:r>
            <a:endParaRPr lang="en-US" sz="1200" dirty="0"/>
          </a:p>
        </p:txBody>
      </p:sp>
      <p:sp>
        <p:nvSpPr>
          <p:cNvPr id="34" name="Text 10"/>
          <p:cNvSpPr/>
          <p:nvPr/>
        </p:nvSpPr>
        <p:spPr>
          <a:xfrm>
            <a:off x="7200900" y="2209800"/>
            <a:ext cx="5440680" cy="228600"/>
          </a:xfrm>
          <a:prstGeom prst="rect">
            <a:avLst/>
          </a:prstGeom>
          <a:noFill/>
          <a:ln/>
        </p:spPr>
        <p:txBody>
          <a:bodyPr vert="horz" wrap="square" lIns="0" tIns="0" rIns="0" bIns="0" rtlCol="0" anchor="t"/>
          <a:lstStyle/>
          <a:p>
            <a:pPr marL="0" indent="0">
              <a:lnSpc>
                <a:spcPts val="1800"/>
              </a:lnSpc>
              <a:buNone/>
            </a:pPr>
            <a:r>
              <a:rPr lang="en-US" sz="1200" b="1" dirty="0">
                <a:solidFill>
                  <a:srgbClr val="D1D5DB"/>
                </a:solidFill>
                <a:latin typeface="ui-sans-serif" pitchFamily="34" charset="0"/>
                <a:ea typeface="ui-sans-serif" pitchFamily="34" charset="-122"/>
                <a:cs typeface="ui-sans-serif" pitchFamily="34" charset="-120"/>
              </a:rPr>
              <a:t>Densidad de defectos:</a:t>
            </a:r>
            <a:r>
              <a:rPr lang="en-US" sz="1200" dirty="0">
                <a:solidFill>
                  <a:srgbClr val="D1D5DB"/>
                </a:solidFill>
                <a:latin typeface="ui-sans-serif" pitchFamily="34" charset="0"/>
                <a:ea typeface="ui-sans-serif" pitchFamily="34" charset="-122"/>
                <a:cs typeface="ui-sans-serif" pitchFamily="34" charset="-120"/>
              </a:rPr>
              <a:t> Relacionados con seguridad</a:t>
            </a:r>
            <a:endParaRPr lang="en-US" sz="1200" dirty="0"/>
          </a:p>
        </p:txBody>
      </p:sp>
      <p:sp>
        <p:nvSpPr>
          <p:cNvPr id="35" name="Text 11"/>
          <p:cNvSpPr/>
          <p:nvPr/>
        </p:nvSpPr>
        <p:spPr>
          <a:xfrm>
            <a:off x="6934200" y="3162300"/>
            <a:ext cx="1714321" cy="304800"/>
          </a:xfrm>
          <a:prstGeom prst="rect">
            <a:avLst/>
          </a:prstGeom>
          <a:noFill/>
          <a:ln/>
        </p:spPr>
        <p:txBody>
          <a:bodyPr vert="horz" wrap="square" lIns="0" tIns="0" rIns="0" bIns="0" rtlCol="0" anchor="t"/>
          <a:lstStyle/>
          <a:p>
            <a:pPr marL="0" indent="0">
              <a:lnSpc>
                <a:spcPts val="2400"/>
              </a:lnSpc>
              <a:buNone/>
            </a:pPr>
            <a:r>
              <a:rPr lang="en-US" sz="1800" b="1" dirty="0">
                <a:solidFill>
                  <a:srgbClr val="C084FC"/>
                </a:solidFill>
                <a:latin typeface="ui-sans-serif" pitchFamily="34" charset="0"/>
                <a:ea typeface="ui-sans-serif" pitchFamily="34" charset="-122"/>
                <a:cs typeface="ui-sans-serif" pitchFamily="34" charset="-120"/>
              </a:rPr>
              <a:t>Resultados</a:t>
            </a:r>
            <a:endParaRPr lang="en-US" sz="1800" dirty="0"/>
          </a:p>
        </p:txBody>
      </p:sp>
      <p:sp>
        <p:nvSpPr>
          <p:cNvPr id="36" name="Text 12"/>
          <p:cNvSpPr/>
          <p:nvPr/>
        </p:nvSpPr>
        <p:spPr>
          <a:xfrm>
            <a:off x="8554938" y="4171950"/>
            <a:ext cx="3105388" cy="266700"/>
          </a:xfrm>
          <a:prstGeom prst="rect">
            <a:avLst/>
          </a:prstGeom>
          <a:noFill/>
          <a:ln/>
        </p:spPr>
        <p:txBody>
          <a:bodyPr vert="horz" wrap="square" lIns="0" tIns="0" rIns="0" bIns="0" rtlCol="0" anchor="t"/>
          <a:lstStyle/>
          <a:p>
            <a:pPr marL="0" indent="0">
              <a:lnSpc>
                <a:spcPts val="2100"/>
              </a:lnSpc>
              <a:buNone/>
            </a:pPr>
            <a:r>
              <a:rPr lang="en-US" sz="1500" b="1" dirty="0">
                <a:solidFill>
                  <a:srgbClr val="C084FC"/>
                </a:solidFill>
                <a:latin typeface="ui-sans-serif" pitchFamily="34" charset="0"/>
                <a:ea typeface="ui-sans-serif" pitchFamily="34" charset="-122"/>
                <a:cs typeface="ui-sans-serif" pitchFamily="34" charset="-120"/>
              </a:rPr>
              <a:t>Reducción del 40%</a:t>
            </a:r>
            <a:endParaRPr lang="en-US" sz="1500" dirty="0"/>
          </a:p>
        </p:txBody>
      </p:sp>
      <p:sp>
        <p:nvSpPr>
          <p:cNvPr id="37" name="Text 13"/>
          <p:cNvSpPr/>
          <p:nvPr/>
        </p:nvSpPr>
        <p:spPr>
          <a:xfrm>
            <a:off x="8554938" y="4438650"/>
            <a:ext cx="3105388" cy="2286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de fallos de seguridad detectados</a:t>
            </a:r>
            <a:endParaRPr lang="en-US" sz="1200" dirty="0"/>
          </a:p>
        </p:txBody>
      </p:sp>
      <p:sp>
        <p:nvSpPr>
          <p:cNvPr id="38" name="Text 14"/>
          <p:cNvSpPr/>
          <p:nvPr/>
        </p:nvSpPr>
        <p:spPr>
          <a:xfrm>
            <a:off x="457200" y="6210300"/>
            <a:ext cx="1659850"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ISO/IEC 9126 &amp; CISQ</a:t>
            </a:r>
            <a:endParaRPr lang="en-US" sz="1050" dirty="0"/>
          </a:p>
        </p:txBody>
      </p:sp>
      <p:sp>
        <p:nvSpPr>
          <p:cNvPr id="39" name="Text 15"/>
          <p:cNvSpPr/>
          <p:nvPr/>
        </p:nvSpPr>
        <p:spPr>
          <a:xfrm>
            <a:off x="10657433" y="6210300"/>
            <a:ext cx="1292840"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Página 16 de 25</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914400"/>
            <a:ext cx="914400" cy="38100"/>
          </a:xfrm>
          <a:prstGeom prst="rect">
            <a:avLst/>
          </a:prstGeom>
        </p:spPr>
      </p:pic>
      <p:pic>
        <p:nvPicPr>
          <p:cNvPr id="4" name="Image 2" descr="preencoded.png"/>
          <p:cNvPicPr>
            <a:picLocks noChangeAspect="1"/>
          </p:cNvPicPr>
          <p:nvPr/>
        </p:nvPicPr>
        <p:blipFill>
          <a:blip r:embed="rId5"/>
          <a:stretch>
            <a:fillRect/>
          </a:stretch>
        </p:blipFill>
        <p:spPr>
          <a:xfrm>
            <a:off x="457200" y="1181100"/>
            <a:ext cx="381000" cy="381000"/>
          </a:xfrm>
          <a:prstGeom prst="rect">
            <a:avLst/>
          </a:prstGeom>
        </p:spPr>
      </p:pic>
      <p:pic>
        <p:nvPicPr>
          <p:cNvPr id="5" name="Image 3" descr="preencoded.png"/>
          <p:cNvPicPr>
            <a:picLocks noChangeAspect="1"/>
          </p:cNvPicPr>
          <p:nvPr/>
        </p:nvPicPr>
        <p:blipFill>
          <a:blip r:embed="rId6"/>
          <a:stretch>
            <a:fillRect/>
          </a:stretch>
        </p:blipFill>
        <p:spPr>
          <a:xfrm>
            <a:off x="561975" y="1238250"/>
            <a:ext cx="171450" cy="266700"/>
          </a:xfrm>
          <a:prstGeom prst="rect">
            <a:avLst/>
          </a:prstGeom>
        </p:spPr>
      </p:pic>
      <p:pic>
        <p:nvPicPr>
          <p:cNvPr id="6" name="Image 4" descr="preencoded.png"/>
          <p:cNvPicPr>
            <a:picLocks noChangeAspect="1"/>
          </p:cNvPicPr>
          <p:nvPr/>
        </p:nvPicPr>
        <p:blipFill>
          <a:blip r:embed="rId7"/>
          <a:stretch>
            <a:fillRect/>
          </a:stretch>
        </p:blipFill>
        <p:spPr>
          <a:xfrm>
            <a:off x="457200" y="3048000"/>
            <a:ext cx="381000" cy="381000"/>
          </a:xfrm>
          <a:prstGeom prst="rect">
            <a:avLst/>
          </a:prstGeom>
        </p:spPr>
      </p:pic>
      <p:pic>
        <p:nvPicPr>
          <p:cNvPr id="7" name="Image 5" descr="preencoded.png"/>
          <p:cNvPicPr>
            <a:picLocks noChangeAspect="1"/>
          </p:cNvPicPr>
          <p:nvPr/>
        </p:nvPicPr>
        <p:blipFill>
          <a:blip r:embed="rId8"/>
          <a:stretch>
            <a:fillRect/>
          </a:stretch>
        </p:blipFill>
        <p:spPr>
          <a:xfrm>
            <a:off x="561975" y="3105150"/>
            <a:ext cx="171450" cy="266700"/>
          </a:xfrm>
          <a:prstGeom prst="rect">
            <a:avLst/>
          </a:prstGeom>
        </p:spPr>
      </p:pic>
      <p:pic>
        <p:nvPicPr>
          <p:cNvPr id="8" name="Image 6" descr="preencoded.png"/>
          <p:cNvPicPr>
            <a:picLocks noChangeAspect="1"/>
          </p:cNvPicPr>
          <p:nvPr/>
        </p:nvPicPr>
        <p:blipFill>
          <a:blip r:embed="rId9"/>
          <a:stretch>
            <a:fillRect/>
          </a:stretch>
        </p:blipFill>
        <p:spPr>
          <a:xfrm>
            <a:off x="990600" y="3543300"/>
            <a:ext cx="4991100" cy="1143000"/>
          </a:xfrm>
          <a:prstGeom prst="rect">
            <a:avLst/>
          </a:prstGeom>
        </p:spPr>
      </p:pic>
      <p:pic>
        <p:nvPicPr>
          <p:cNvPr id="9" name="Image 7" descr="preencoded.png"/>
          <p:cNvPicPr>
            <a:picLocks noChangeAspect="1"/>
          </p:cNvPicPr>
          <p:nvPr/>
        </p:nvPicPr>
        <p:blipFill>
          <a:blip r:embed="rId10"/>
          <a:stretch>
            <a:fillRect/>
          </a:stretch>
        </p:blipFill>
        <p:spPr>
          <a:xfrm>
            <a:off x="6210300" y="1181100"/>
            <a:ext cx="381000" cy="381000"/>
          </a:xfrm>
          <a:prstGeom prst="rect">
            <a:avLst/>
          </a:prstGeom>
        </p:spPr>
      </p:pic>
      <p:pic>
        <p:nvPicPr>
          <p:cNvPr id="10" name="Image 8" descr="preencoded.png"/>
          <p:cNvPicPr>
            <a:picLocks noChangeAspect="1"/>
          </p:cNvPicPr>
          <p:nvPr/>
        </p:nvPicPr>
        <p:blipFill>
          <a:blip r:embed="rId11"/>
          <a:stretch>
            <a:fillRect/>
          </a:stretch>
        </p:blipFill>
        <p:spPr>
          <a:xfrm>
            <a:off x="6334125" y="1238250"/>
            <a:ext cx="133350" cy="266700"/>
          </a:xfrm>
          <a:prstGeom prst="rect">
            <a:avLst/>
          </a:prstGeom>
        </p:spPr>
      </p:pic>
      <p:pic>
        <p:nvPicPr>
          <p:cNvPr id="11" name="Image 9" descr="preencoded.png"/>
          <p:cNvPicPr>
            <a:picLocks noChangeAspect="1"/>
          </p:cNvPicPr>
          <p:nvPr/>
        </p:nvPicPr>
        <p:blipFill>
          <a:blip r:embed="rId12"/>
          <a:stretch>
            <a:fillRect/>
          </a:stretch>
        </p:blipFill>
        <p:spPr>
          <a:xfrm>
            <a:off x="6210300" y="1714500"/>
            <a:ext cx="5524500" cy="1371600"/>
          </a:xfrm>
          <a:prstGeom prst="rect">
            <a:avLst/>
          </a:prstGeom>
        </p:spPr>
      </p:pic>
      <p:pic>
        <p:nvPicPr>
          <p:cNvPr id="12" name="Image 10" descr="preencoded.png"/>
          <p:cNvPicPr>
            <a:picLocks noChangeAspect="1"/>
          </p:cNvPicPr>
          <p:nvPr/>
        </p:nvPicPr>
        <p:blipFill>
          <a:blip r:embed="rId13"/>
          <a:stretch>
            <a:fillRect/>
          </a:stretch>
        </p:blipFill>
        <p:spPr>
          <a:xfrm>
            <a:off x="6362700" y="1866900"/>
            <a:ext cx="304800" cy="304800"/>
          </a:xfrm>
          <a:prstGeom prst="rect">
            <a:avLst/>
          </a:prstGeom>
        </p:spPr>
      </p:pic>
      <p:pic>
        <p:nvPicPr>
          <p:cNvPr id="13" name="Image 11" descr="preencoded.png"/>
          <p:cNvPicPr>
            <a:picLocks noChangeAspect="1"/>
          </p:cNvPicPr>
          <p:nvPr/>
        </p:nvPicPr>
        <p:blipFill>
          <a:blip r:embed="rId14"/>
          <a:stretch>
            <a:fillRect/>
          </a:stretch>
        </p:blipFill>
        <p:spPr>
          <a:xfrm>
            <a:off x="6448425" y="1924050"/>
            <a:ext cx="133350" cy="190500"/>
          </a:xfrm>
          <a:prstGeom prst="rect">
            <a:avLst/>
          </a:prstGeom>
        </p:spPr>
      </p:pic>
      <p:pic>
        <p:nvPicPr>
          <p:cNvPr id="14" name="Image 12" descr="preencoded.png"/>
          <p:cNvPicPr>
            <a:picLocks noChangeAspect="1"/>
          </p:cNvPicPr>
          <p:nvPr/>
        </p:nvPicPr>
        <p:blipFill>
          <a:blip r:embed="rId15"/>
          <a:stretch>
            <a:fillRect/>
          </a:stretch>
        </p:blipFill>
        <p:spPr>
          <a:xfrm>
            <a:off x="6210300" y="3238500"/>
            <a:ext cx="5524500" cy="1143000"/>
          </a:xfrm>
          <a:prstGeom prst="rect">
            <a:avLst/>
          </a:prstGeom>
        </p:spPr>
      </p:pic>
      <p:pic>
        <p:nvPicPr>
          <p:cNvPr id="15" name="Image 13" descr="preencoded.png"/>
          <p:cNvPicPr>
            <a:picLocks noChangeAspect="1"/>
          </p:cNvPicPr>
          <p:nvPr/>
        </p:nvPicPr>
        <p:blipFill>
          <a:blip r:embed="rId16"/>
          <a:stretch>
            <a:fillRect/>
          </a:stretch>
        </p:blipFill>
        <p:spPr>
          <a:xfrm>
            <a:off x="6362700" y="3390900"/>
            <a:ext cx="304800" cy="304800"/>
          </a:xfrm>
          <a:prstGeom prst="rect">
            <a:avLst/>
          </a:prstGeom>
        </p:spPr>
      </p:pic>
      <p:pic>
        <p:nvPicPr>
          <p:cNvPr id="16" name="Image 14" descr="preencoded.png"/>
          <p:cNvPicPr>
            <a:picLocks noChangeAspect="1"/>
          </p:cNvPicPr>
          <p:nvPr/>
        </p:nvPicPr>
        <p:blipFill>
          <a:blip r:embed="rId17"/>
          <a:stretch>
            <a:fillRect/>
          </a:stretch>
        </p:blipFill>
        <p:spPr>
          <a:xfrm>
            <a:off x="6457950" y="3448050"/>
            <a:ext cx="114300" cy="190500"/>
          </a:xfrm>
          <a:prstGeom prst="rect">
            <a:avLst/>
          </a:prstGeom>
        </p:spPr>
      </p:pic>
      <p:pic>
        <p:nvPicPr>
          <p:cNvPr id="17" name="Image 15" descr="preencoded.png"/>
          <p:cNvPicPr>
            <a:picLocks noChangeAspect="1"/>
          </p:cNvPicPr>
          <p:nvPr/>
        </p:nvPicPr>
        <p:blipFill>
          <a:blip r:embed="rId18"/>
          <a:stretch>
            <a:fillRect/>
          </a:stretch>
        </p:blipFill>
        <p:spPr>
          <a:xfrm>
            <a:off x="6210300" y="4533900"/>
            <a:ext cx="5524500" cy="1143000"/>
          </a:xfrm>
          <a:prstGeom prst="rect">
            <a:avLst/>
          </a:prstGeom>
        </p:spPr>
      </p:pic>
      <p:pic>
        <p:nvPicPr>
          <p:cNvPr id="18" name="Image 16" descr="preencoded.png"/>
          <p:cNvPicPr>
            <a:picLocks noChangeAspect="1"/>
          </p:cNvPicPr>
          <p:nvPr/>
        </p:nvPicPr>
        <p:blipFill>
          <a:blip r:embed="rId19"/>
          <a:stretch>
            <a:fillRect/>
          </a:stretch>
        </p:blipFill>
        <p:spPr>
          <a:xfrm>
            <a:off x="6362700" y="4686300"/>
            <a:ext cx="304800" cy="304800"/>
          </a:xfrm>
          <a:prstGeom prst="rect">
            <a:avLst/>
          </a:prstGeom>
        </p:spPr>
      </p:pic>
      <p:pic>
        <p:nvPicPr>
          <p:cNvPr id="19" name="Image 17" descr="preencoded.png"/>
          <p:cNvPicPr>
            <a:picLocks noChangeAspect="1"/>
          </p:cNvPicPr>
          <p:nvPr/>
        </p:nvPicPr>
        <p:blipFill>
          <a:blip r:embed="rId20"/>
          <a:stretch>
            <a:fillRect/>
          </a:stretch>
        </p:blipFill>
        <p:spPr>
          <a:xfrm>
            <a:off x="6448425" y="4743450"/>
            <a:ext cx="133350" cy="190500"/>
          </a:xfrm>
          <a:prstGeom prst="rect">
            <a:avLst/>
          </a:prstGeom>
        </p:spPr>
      </p:pic>
      <p:sp>
        <p:nvSpPr>
          <p:cNvPr id="20" name="Text 0"/>
          <p:cNvSpPr/>
          <p:nvPr/>
        </p:nvSpPr>
        <p:spPr>
          <a:xfrm>
            <a:off x="457200" y="457200"/>
            <a:ext cx="1353312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97316"/>
                </a:solidFill>
                <a:latin typeface="ui-sans-serif" pitchFamily="34" charset="0"/>
                <a:ea typeface="ui-sans-serif" pitchFamily="34" charset="-122"/>
                <a:cs typeface="ui-sans-serif" pitchFamily="34" charset="-120"/>
              </a:rPr>
              <a:t>Caso de Estudio: Pruebas de Rendimiento</a:t>
            </a:r>
            <a:endParaRPr lang="en-US" sz="2700" dirty="0"/>
          </a:p>
        </p:txBody>
      </p:sp>
      <p:sp>
        <p:nvSpPr>
          <p:cNvPr id="21" name="Text 1"/>
          <p:cNvSpPr/>
          <p:nvPr/>
        </p:nvSpPr>
        <p:spPr>
          <a:xfrm>
            <a:off x="952500" y="1219200"/>
            <a:ext cx="3418642" cy="304800"/>
          </a:xfrm>
          <a:prstGeom prst="rect">
            <a:avLst/>
          </a:prstGeom>
          <a:noFill/>
          <a:ln/>
        </p:spPr>
        <p:txBody>
          <a:bodyPr vert="horz" wrap="square" lIns="0" tIns="0" rIns="0" bIns="0" rtlCol="0" anchor="t"/>
          <a:lstStyle/>
          <a:p>
            <a:pPr marL="0" indent="0">
              <a:lnSpc>
                <a:spcPts val="2400"/>
              </a:lnSpc>
              <a:buNone/>
            </a:pPr>
            <a:r>
              <a:rPr lang="en-US" sz="1800" b="1" dirty="0">
                <a:solidFill>
                  <a:srgbClr val="F87171"/>
                </a:solidFill>
                <a:latin typeface="ui-sans-serif" pitchFamily="34" charset="0"/>
                <a:ea typeface="ui-sans-serif" pitchFamily="34" charset="-122"/>
                <a:cs typeface="ui-sans-serif" pitchFamily="34" charset="-120"/>
              </a:rPr>
              <a:t>Problema Identificado</a:t>
            </a:r>
            <a:endParaRPr lang="en-US" sz="1800" dirty="0"/>
          </a:p>
        </p:txBody>
      </p:sp>
      <p:sp>
        <p:nvSpPr>
          <p:cNvPr id="22" name="Text 2"/>
          <p:cNvSpPr/>
          <p:nvPr/>
        </p:nvSpPr>
        <p:spPr>
          <a:xfrm>
            <a:off x="990600" y="1676400"/>
            <a:ext cx="4991100" cy="11430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Durante las pruebas de rendimiento en un proyecto de cliente, se observaron tiempos de respuesta del sistema que superaban las expectativas. El análisis reveló que la causa principal era la saturación del servidor de base de datos debido a la carga generada durante las pruebas de concurrencia.</a:t>
            </a:r>
            <a:endParaRPr lang="en-US" sz="1200" dirty="0"/>
          </a:p>
        </p:txBody>
      </p:sp>
      <p:sp>
        <p:nvSpPr>
          <p:cNvPr id="23" name="Text 3"/>
          <p:cNvSpPr/>
          <p:nvPr/>
        </p:nvSpPr>
        <p:spPr>
          <a:xfrm>
            <a:off x="952500" y="3086100"/>
            <a:ext cx="3026450" cy="304800"/>
          </a:xfrm>
          <a:prstGeom prst="rect">
            <a:avLst/>
          </a:prstGeom>
          <a:noFill/>
          <a:ln/>
        </p:spPr>
        <p:txBody>
          <a:bodyPr vert="horz" wrap="square" lIns="0" tIns="0" rIns="0" bIns="0" rtlCol="0" anchor="t"/>
          <a:lstStyle/>
          <a:p>
            <a:pPr marL="0" indent="0">
              <a:lnSpc>
                <a:spcPts val="2400"/>
              </a:lnSpc>
              <a:buNone/>
            </a:pPr>
            <a:r>
              <a:rPr lang="en-US" sz="1800" b="1" dirty="0">
                <a:solidFill>
                  <a:srgbClr val="C084FC"/>
                </a:solidFill>
                <a:latin typeface="ui-sans-serif" pitchFamily="34" charset="0"/>
                <a:ea typeface="ui-sans-serif" pitchFamily="34" charset="-122"/>
                <a:cs typeface="ui-sans-serif" pitchFamily="34" charset="-120"/>
              </a:rPr>
              <a:t>Análisis de Impacto</a:t>
            </a:r>
            <a:endParaRPr lang="en-US" sz="1800" dirty="0"/>
          </a:p>
        </p:txBody>
      </p:sp>
      <p:sp>
        <p:nvSpPr>
          <p:cNvPr id="24" name="Text 4"/>
          <p:cNvSpPr/>
          <p:nvPr/>
        </p:nvSpPr>
        <p:spPr>
          <a:xfrm>
            <a:off x="1162050" y="3695700"/>
            <a:ext cx="585216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ui-sans-serif" pitchFamily="34" charset="0"/>
                <a:ea typeface="ui-sans-serif" pitchFamily="34" charset="-122"/>
                <a:cs typeface="ui-sans-serif" pitchFamily="34" charset="-120"/>
              </a:rPr>
              <a:t>Impacto negativo en la experiencia del usuario</a:t>
            </a:r>
            <a:endParaRPr lang="en-US" sz="1200" dirty="0"/>
          </a:p>
        </p:txBody>
      </p:sp>
      <p:sp>
        <p:nvSpPr>
          <p:cNvPr id="25" name="Text 5"/>
          <p:cNvSpPr/>
          <p:nvPr/>
        </p:nvSpPr>
        <p:spPr>
          <a:xfrm>
            <a:off x="1162050" y="4000500"/>
            <a:ext cx="585216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ui-sans-serif" pitchFamily="34" charset="0"/>
                <a:ea typeface="ui-sans-serif" pitchFamily="34" charset="-122"/>
                <a:cs typeface="ui-sans-serif" pitchFamily="34" charset="-120"/>
              </a:rPr>
              <a:t>Percepción de baja calidad del software</a:t>
            </a:r>
            <a:endParaRPr lang="en-US" sz="1200" dirty="0"/>
          </a:p>
        </p:txBody>
      </p:sp>
      <p:sp>
        <p:nvSpPr>
          <p:cNvPr id="26" name="Text 6"/>
          <p:cNvSpPr/>
          <p:nvPr/>
        </p:nvSpPr>
        <p:spPr>
          <a:xfrm>
            <a:off x="1162050" y="4305300"/>
            <a:ext cx="585216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ui-sans-serif" pitchFamily="34" charset="0"/>
                <a:ea typeface="ui-sans-serif" pitchFamily="34" charset="-122"/>
                <a:cs typeface="ui-sans-serif" pitchFamily="34" charset="-120"/>
              </a:rPr>
              <a:t>Necesidad de optimización inmediata</a:t>
            </a:r>
            <a:endParaRPr lang="en-US" sz="1200" dirty="0"/>
          </a:p>
        </p:txBody>
      </p:sp>
      <p:sp>
        <p:nvSpPr>
          <p:cNvPr id="27" name="Text 7"/>
          <p:cNvSpPr/>
          <p:nvPr/>
        </p:nvSpPr>
        <p:spPr>
          <a:xfrm>
            <a:off x="6705600" y="1219200"/>
            <a:ext cx="3505974" cy="304800"/>
          </a:xfrm>
          <a:prstGeom prst="rect">
            <a:avLst/>
          </a:prstGeom>
          <a:noFill/>
          <a:ln/>
        </p:spPr>
        <p:txBody>
          <a:bodyPr vert="horz" wrap="square" lIns="0" tIns="0" rIns="0" bIns="0" rtlCol="0" anchor="t"/>
          <a:lstStyle/>
          <a:p>
            <a:pPr marL="0" indent="0">
              <a:lnSpc>
                <a:spcPts val="2400"/>
              </a:lnSpc>
              <a:buNone/>
            </a:pPr>
            <a:r>
              <a:rPr lang="en-US" sz="1800" b="1" dirty="0">
                <a:solidFill>
                  <a:srgbClr val="4ADE80"/>
                </a:solidFill>
                <a:latin typeface="ui-sans-serif" pitchFamily="34" charset="0"/>
                <a:ea typeface="ui-sans-serif" pitchFamily="34" charset="-122"/>
                <a:cs typeface="ui-sans-serif" pitchFamily="34" charset="-120"/>
              </a:rPr>
              <a:t>Soluciones Propuestas</a:t>
            </a:r>
            <a:endParaRPr lang="en-US" sz="1800" dirty="0"/>
          </a:p>
        </p:txBody>
      </p:sp>
      <p:sp>
        <p:nvSpPr>
          <p:cNvPr id="28" name="Text 8"/>
          <p:cNvSpPr/>
          <p:nvPr/>
        </p:nvSpPr>
        <p:spPr>
          <a:xfrm>
            <a:off x="6781800" y="1885950"/>
            <a:ext cx="4066937" cy="266700"/>
          </a:xfrm>
          <a:prstGeom prst="rect">
            <a:avLst/>
          </a:prstGeom>
          <a:noFill/>
          <a:ln/>
        </p:spPr>
        <p:txBody>
          <a:bodyPr vert="horz" wrap="square" lIns="0" tIns="0" rIns="0" bIns="0" rtlCol="0" anchor="t"/>
          <a:lstStyle/>
          <a:p>
            <a:pPr marL="0" indent="0">
              <a:lnSpc>
                <a:spcPts val="2100"/>
              </a:lnSpc>
              <a:buNone/>
            </a:pPr>
            <a:r>
              <a:rPr lang="en-US" sz="1500" b="1" dirty="0">
                <a:solidFill>
                  <a:srgbClr val="60A5FA"/>
                </a:solidFill>
                <a:latin typeface="ui-sans-serif" pitchFamily="34" charset="0"/>
                <a:ea typeface="ui-sans-serif" pitchFamily="34" charset="-122"/>
                <a:cs typeface="ui-sans-serif" pitchFamily="34" charset="-120"/>
              </a:rPr>
              <a:t>Ampliar Capacidad del Servidor</a:t>
            </a:r>
            <a:endParaRPr lang="en-US" sz="1500" dirty="0"/>
          </a:p>
        </p:txBody>
      </p:sp>
      <p:sp>
        <p:nvSpPr>
          <p:cNvPr id="29" name="Text 9"/>
          <p:cNvSpPr/>
          <p:nvPr/>
        </p:nvSpPr>
        <p:spPr>
          <a:xfrm>
            <a:off x="6781800" y="2247900"/>
            <a:ext cx="4800600" cy="6858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Incrementar los recursos del servidor o migrar a una infraestructura más robusta para gestionar eficientemente altas cargas.</a:t>
            </a:r>
            <a:endParaRPr lang="en-US" sz="1200" dirty="0"/>
          </a:p>
        </p:txBody>
      </p:sp>
      <p:sp>
        <p:nvSpPr>
          <p:cNvPr id="30" name="Text 10"/>
          <p:cNvSpPr/>
          <p:nvPr/>
        </p:nvSpPr>
        <p:spPr>
          <a:xfrm>
            <a:off x="6781800" y="3409950"/>
            <a:ext cx="4519136" cy="266700"/>
          </a:xfrm>
          <a:prstGeom prst="rect">
            <a:avLst/>
          </a:prstGeom>
          <a:noFill/>
          <a:ln/>
        </p:spPr>
        <p:txBody>
          <a:bodyPr vert="horz" wrap="square" lIns="0" tIns="0" rIns="0" bIns="0" rtlCol="0" anchor="t"/>
          <a:lstStyle/>
          <a:p>
            <a:pPr marL="0" indent="0">
              <a:lnSpc>
                <a:spcPts val="2100"/>
              </a:lnSpc>
              <a:buNone/>
            </a:pPr>
            <a:r>
              <a:rPr lang="en-US" sz="1500" b="1" dirty="0">
                <a:solidFill>
                  <a:srgbClr val="FACC15"/>
                </a:solidFill>
                <a:latin typeface="ui-sans-serif" pitchFamily="34" charset="0"/>
                <a:ea typeface="ui-sans-serif" pitchFamily="34" charset="-122"/>
                <a:cs typeface="ui-sans-serif" pitchFamily="34" charset="-120"/>
              </a:rPr>
              <a:t>Optimizar Consultas y Operaciones</a:t>
            </a:r>
            <a:endParaRPr lang="en-US" sz="1500" dirty="0"/>
          </a:p>
        </p:txBody>
      </p:sp>
      <p:sp>
        <p:nvSpPr>
          <p:cNvPr id="31" name="Text 11"/>
          <p:cNvSpPr/>
          <p:nvPr/>
        </p:nvSpPr>
        <p:spPr>
          <a:xfrm>
            <a:off x="6781800" y="3771900"/>
            <a:ext cx="4800600" cy="4572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Revisar e implementar índices adecuados, eliminar consultas redundantes y optimizar operaciones de lectura y escritura.</a:t>
            </a:r>
            <a:endParaRPr lang="en-US" sz="1200" dirty="0"/>
          </a:p>
        </p:txBody>
      </p:sp>
      <p:sp>
        <p:nvSpPr>
          <p:cNvPr id="32" name="Text 12"/>
          <p:cNvSpPr/>
          <p:nvPr/>
        </p:nvSpPr>
        <p:spPr>
          <a:xfrm>
            <a:off x="6781800" y="4705350"/>
            <a:ext cx="2554248" cy="266700"/>
          </a:xfrm>
          <a:prstGeom prst="rect">
            <a:avLst/>
          </a:prstGeom>
          <a:noFill/>
          <a:ln/>
        </p:spPr>
        <p:txBody>
          <a:bodyPr vert="horz" wrap="square" lIns="0" tIns="0" rIns="0" bIns="0" rtlCol="0" anchor="t"/>
          <a:lstStyle/>
          <a:p>
            <a:pPr marL="0" indent="0">
              <a:lnSpc>
                <a:spcPts val="2100"/>
              </a:lnSpc>
              <a:buNone/>
            </a:pPr>
            <a:r>
              <a:rPr lang="en-US" sz="1500" b="1" dirty="0">
                <a:solidFill>
                  <a:srgbClr val="FB923C"/>
                </a:solidFill>
                <a:latin typeface="ui-sans-serif" pitchFamily="34" charset="0"/>
                <a:ea typeface="ui-sans-serif" pitchFamily="34" charset="-122"/>
                <a:cs typeface="ui-sans-serif" pitchFamily="34" charset="-120"/>
              </a:rPr>
              <a:t>Monitoreo Continuo</a:t>
            </a:r>
            <a:endParaRPr lang="en-US" sz="1500" dirty="0"/>
          </a:p>
        </p:txBody>
      </p:sp>
      <p:sp>
        <p:nvSpPr>
          <p:cNvPr id="33" name="Text 13"/>
          <p:cNvSpPr/>
          <p:nvPr/>
        </p:nvSpPr>
        <p:spPr>
          <a:xfrm>
            <a:off x="6781800" y="5067300"/>
            <a:ext cx="4800600" cy="4572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Establecer un proceso de monitoreo constante para detectar rápidamente degradaciones y aplicar medidas correctivas.</a:t>
            </a:r>
            <a:endParaRPr lang="en-US" sz="1200" dirty="0"/>
          </a:p>
        </p:txBody>
      </p:sp>
      <p:sp>
        <p:nvSpPr>
          <p:cNvPr id="34" name="Text 14"/>
          <p:cNvSpPr/>
          <p:nvPr/>
        </p:nvSpPr>
        <p:spPr>
          <a:xfrm>
            <a:off x="457200" y="6210300"/>
            <a:ext cx="3778687"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Relación con estándares: Eficiencia y Fiabilidad</a:t>
            </a:r>
            <a:endParaRPr lang="en-US" sz="1050" dirty="0"/>
          </a:p>
        </p:txBody>
      </p:sp>
      <p:sp>
        <p:nvSpPr>
          <p:cNvPr id="35" name="Text 15"/>
          <p:cNvSpPr/>
          <p:nvPr/>
        </p:nvSpPr>
        <p:spPr>
          <a:xfrm>
            <a:off x="10657433" y="6210300"/>
            <a:ext cx="1292840"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Página 18 de 25</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381000" y="1181100"/>
            <a:ext cx="914400" cy="38100"/>
          </a:xfrm>
          <a:prstGeom prst="rect">
            <a:avLst/>
          </a:prstGeom>
        </p:spPr>
      </p:pic>
      <p:pic>
        <p:nvPicPr>
          <p:cNvPr id="4" name="Image 2" descr="preencoded.png"/>
          <p:cNvPicPr>
            <a:picLocks noChangeAspect="1"/>
          </p:cNvPicPr>
          <p:nvPr/>
        </p:nvPicPr>
        <p:blipFill>
          <a:blip r:embed="rId5"/>
          <a:stretch>
            <a:fillRect/>
          </a:stretch>
        </p:blipFill>
        <p:spPr>
          <a:xfrm>
            <a:off x="381000" y="1400175"/>
            <a:ext cx="228600" cy="228600"/>
          </a:xfrm>
          <a:prstGeom prst="rect">
            <a:avLst/>
          </a:prstGeom>
        </p:spPr>
      </p:pic>
      <p:pic>
        <p:nvPicPr>
          <p:cNvPr id="5" name="Image 3" descr="preencoded.png"/>
          <p:cNvPicPr>
            <a:picLocks noChangeAspect="1"/>
          </p:cNvPicPr>
          <p:nvPr/>
        </p:nvPicPr>
        <p:blipFill>
          <a:blip r:embed="rId6"/>
          <a:stretch>
            <a:fillRect/>
          </a:stretch>
        </p:blipFill>
        <p:spPr>
          <a:xfrm>
            <a:off x="381000" y="1790700"/>
            <a:ext cx="304800" cy="304800"/>
          </a:xfrm>
          <a:prstGeom prst="rect">
            <a:avLst/>
          </a:prstGeom>
        </p:spPr>
      </p:pic>
      <p:pic>
        <p:nvPicPr>
          <p:cNvPr id="6" name="Image 4" descr="preencoded.png"/>
          <p:cNvPicPr>
            <a:picLocks noChangeAspect="1"/>
          </p:cNvPicPr>
          <p:nvPr/>
        </p:nvPicPr>
        <p:blipFill>
          <a:blip r:embed="rId6"/>
          <a:stretch>
            <a:fillRect/>
          </a:stretch>
        </p:blipFill>
        <p:spPr>
          <a:xfrm>
            <a:off x="381000" y="2628900"/>
            <a:ext cx="304800" cy="304800"/>
          </a:xfrm>
          <a:prstGeom prst="rect">
            <a:avLst/>
          </a:prstGeom>
        </p:spPr>
      </p:pic>
      <p:pic>
        <p:nvPicPr>
          <p:cNvPr id="7" name="Image 5" descr="preencoded.png"/>
          <p:cNvPicPr>
            <a:picLocks noChangeAspect="1"/>
          </p:cNvPicPr>
          <p:nvPr/>
        </p:nvPicPr>
        <p:blipFill>
          <a:blip r:embed="rId6"/>
          <a:stretch>
            <a:fillRect/>
          </a:stretch>
        </p:blipFill>
        <p:spPr>
          <a:xfrm>
            <a:off x="381000" y="3467100"/>
            <a:ext cx="304800" cy="304800"/>
          </a:xfrm>
          <a:prstGeom prst="rect">
            <a:avLst/>
          </a:prstGeom>
        </p:spPr>
      </p:pic>
      <p:pic>
        <p:nvPicPr>
          <p:cNvPr id="8" name="Image 6" descr="preencoded.png"/>
          <p:cNvPicPr>
            <a:picLocks noChangeAspect="1"/>
          </p:cNvPicPr>
          <p:nvPr/>
        </p:nvPicPr>
        <p:blipFill>
          <a:blip r:embed="rId6"/>
          <a:stretch>
            <a:fillRect/>
          </a:stretch>
        </p:blipFill>
        <p:spPr>
          <a:xfrm>
            <a:off x="381000" y="4076700"/>
            <a:ext cx="304800" cy="304800"/>
          </a:xfrm>
          <a:prstGeom prst="rect">
            <a:avLst/>
          </a:prstGeom>
        </p:spPr>
      </p:pic>
      <p:pic>
        <p:nvPicPr>
          <p:cNvPr id="9" name="Image 7" descr="preencoded.png"/>
          <p:cNvPicPr>
            <a:picLocks noChangeAspect="1"/>
          </p:cNvPicPr>
          <p:nvPr/>
        </p:nvPicPr>
        <p:blipFill>
          <a:blip r:embed="rId7"/>
          <a:stretch>
            <a:fillRect/>
          </a:stretch>
        </p:blipFill>
        <p:spPr>
          <a:xfrm>
            <a:off x="6400800" y="1400175"/>
            <a:ext cx="228600" cy="228600"/>
          </a:xfrm>
          <a:prstGeom prst="rect">
            <a:avLst/>
          </a:prstGeom>
        </p:spPr>
      </p:pic>
      <p:pic>
        <p:nvPicPr>
          <p:cNvPr id="10" name="Image 8" descr="preencoded.png"/>
          <p:cNvPicPr>
            <a:picLocks noChangeAspect="1"/>
          </p:cNvPicPr>
          <p:nvPr/>
        </p:nvPicPr>
        <p:blipFill>
          <a:blip r:embed="rId8"/>
          <a:stretch>
            <a:fillRect/>
          </a:stretch>
        </p:blipFill>
        <p:spPr>
          <a:xfrm>
            <a:off x="6400800" y="1790700"/>
            <a:ext cx="5410200" cy="1295400"/>
          </a:xfrm>
          <a:prstGeom prst="rect">
            <a:avLst/>
          </a:prstGeom>
        </p:spPr>
      </p:pic>
      <p:pic>
        <p:nvPicPr>
          <p:cNvPr id="11" name="Image 9" descr="preencoded.png"/>
          <p:cNvPicPr>
            <a:picLocks noChangeAspect="1"/>
          </p:cNvPicPr>
          <p:nvPr/>
        </p:nvPicPr>
        <p:blipFill>
          <a:blip r:embed="rId9"/>
          <a:stretch>
            <a:fillRect/>
          </a:stretch>
        </p:blipFill>
        <p:spPr>
          <a:xfrm>
            <a:off x="6515100" y="1905000"/>
            <a:ext cx="285750" cy="304800"/>
          </a:xfrm>
          <a:prstGeom prst="rect">
            <a:avLst/>
          </a:prstGeom>
        </p:spPr>
      </p:pic>
      <p:pic>
        <p:nvPicPr>
          <p:cNvPr id="12" name="Image 10" descr="preencoded.png"/>
          <p:cNvPicPr>
            <a:picLocks noChangeAspect="1"/>
          </p:cNvPicPr>
          <p:nvPr/>
        </p:nvPicPr>
        <p:blipFill>
          <a:blip r:embed="rId10"/>
          <a:stretch>
            <a:fillRect/>
          </a:stretch>
        </p:blipFill>
        <p:spPr>
          <a:xfrm>
            <a:off x="6400800" y="3200400"/>
            <a:ext cx="5410200" cy="1295400"/>
          </a:xfrm>
          <a:prstGeom prst="rect">
            <a:avLst/>
          </a:prstGeom>
        </p:spPr>
      </p:pic>
      <p:pic>
        <p:nvPicPr>
          <p:cNvPr id="13" name="Image 11" descr="preencoded.png"/>
          <p:cNvPicPr>
            <a:picLocks noChangeAspect="1"/>
          </p:cNvPicPr>
          <p:nvPr/>
        </p:nvPicPr>
        <p:blipFill>
          <a:blip r:embed="rId11"/>
          <a:stretch>
            <a:fillRect/>
          </a:stretch>
        </p:blipFill>
        <p:spPr>
          <a:xfrm>
            <a:off x="6515100" y="3314700"/>
            <a:ext cx="285750" cy="304800"/>
          </a:xfrm>
          <a:prstGeom prst="rect">
            <a:avLst/>
          </a:prstGeom>
        </p:spPr>
      </p:pic>
      <p:pic>
        <p:nvPicPr>
          <p:cNvPr id="14" name="Image 12" descr="preencoded.png"/>
          <p:cNvPicPr>
            <a:picLocks noChangeAspect="1"/>
          </p:cNvPicPr>
          <p:nvPr/>
        </p:nvPicPr>
        <p:blipFill>
          <a:blip r:embed="rId12"/>
          <a:stretch>
            <a:fillRect/>
          </a:stretch>
        </p:blipFill>
        <p:spPr>
          <a:xfrm>
            <a:off x="6400800" y="4610100"/>
            <a:ext cx="5410200" cy="1295400"/>
          </a:xfrm>
          <a:prstGeom prst="rect">
            <a:avLst/>
          </a:prstGeom>
        </p:spPr>
      </p:pic>
      <p:pic>
        <p:nvPicPr>
          <p:cNvPr id="15" name="Image 13" descr="preencoded.png"/>
          <p:cNvPicPr>
            <a:picLocks noChangeAspect="1"/>
          </p:cNvPicPr>
          <p:nvPr/>
        </p:nvPicPr>
        <p:blipFill>
          <a:blip r:embed="rId13"/>
          <a:stretch>
            <a:fillRect/>
          </a:stretch>
        </p:blipFill>
        <p:spPr>
          <a:xfrm>
            <a:off x="6515100" y="4724400"/>
            <a:ext cx="257175" cy="304800"/>
          </a:xfrm>
          <a:prstGeom prst="rect">
            <a:avLst/>
          </a:prstGeom>
        </p:spPr>
      </p:pic>
      <p:pic>
        <p:nvPicPr>
          <p:cNvPr id="16" name="Image 14" descr="preencoded.png"/>
          <p:cNvPicPr>
            <a:picLocks noChangeAspect="1"/>
          </p:cNvPicPr>
          <p:nvPr/>
        </p:nvPicPr>
        <p:blipFill>
          <a:blip r:embed="rId14"/>
          <a:stretch>
            <a:fillRect/>
          </a:stretch>
        </p:blipFill>
        <p:spPr>
          <a:xfrm>
            <a:off x="381000" y="6315075"/>
            <a:ext cx="104775" cy="133350"/>
          </a:xfrm>
          <a:prstGeom prst="rect">
            <a:avLst/>
          </a:prstGeom>
        </p:spPr>
      </p:pic>
      <p:sp>
        <p:nvSpPr>
          <p:cNvPr id="17" name="Text 0"/>
          <p:cNvSpPr/>
          <p:nvPr/>
        </p:nvSpPr>
        <p:spPr>
          <a:xfrm>
            <a:off x="381000" y="381000"/>
            <a:ext cx="11430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6600"/>
                </a:solidFill>
                <a:latin typeface="Montserrat" pitchFamily="34" charset="0"/>
                <a:ea typeface="Montserrat" pitchFamily="34" charset="-122"/>
                <a:cs typeface="Montserrat" pitchFamily="34" charset="-120"/>
              </a:rPr>
              <a:t>Taller</a:t>
            </a:r>
            <a:r>
              <a:rPr lang="en-US" sz="2700" b="1" dirty="0">
                <a:solidFill>
                  <a:srgbClr val="FFFFFF"/>
                </a:solidFill>
                <a:latin typeface="Montserrat" pitchFamily="34" charset="0"/>
                <a:ea typeface="Montserrat" pitchFamily="34" charset="-122"/>
                <a:cs typeface="Montserrat" pitchFamily="34" charset="-120"/>
              </a:rPr>
              <a:t> para Estudiantes</a:t>
            </a:r>
            <a:endParaRPr lang="en-US" sz="2700" dirty="0"/>
          </a:p>
        </p:txBody>
      </p:sp>
      <p:sp>
        <p:nvSpPr>
          <p:cNvPr id="18" name="Text 1"/>
          <p:cNvSpPr/>
          <p:nvPr/>
        </p:nvSpPr>
        <p:spPr>
          <a:xfrm>
            <a:off x="381000" y="838200"/>
            <a:ext cx="13716000" cy="266700"/>
          </a:xfrm>
          <a:prstGeom prst="rect">
            <a:avLst/>
          </a:prstGeom>
          <a:noFill/>
          <a:ln/>
        </p:spPr>
        <p:txBody>
          <a:bodyPr vert="horz" wrap="square" lIns="0" tIns="0" rIns="0" bIns="0" rtlCol="0" anchor="t"/>
          <a:lstStyle/>
          <a:p>
            <a:pPr marL="0" indent="0">
              <a:lnSpc>
                <a:spcPts val="2100"/>
              </a:lnSpc>
              <a:buNone/>
            </a:pPr>
            <a:r>
              <a:rPr lang="en-US" sz="1500" dirty="0">
                <a:solidFill>
                  <a:srgbClr val="D1D5DB"/>
                </a:solidFill>
                <a:latin typeface="Open Sans" pitchFamily="34" charset="0"/>
                <a:ea typeface="Open Sans" pitchFamily="34" charset="-122"/>
                <a:cs typeface="Open Sans" pitchFamily="34" charset="-120"/>
              </a:rPr>
              <a:t>Evaluación colaborativa de calidad en plataformas de streaming</a:t>
            </a:r>
            <a:endParaRPr lang="en-US" sz="1500" dirty="0"/>
          </a:p>
        </p:txBody>
      </p:sp>
      <p:sp>
        <p:nvSpPr>
          <p:cNvPr id="19" name="Text 2"/>
          <p:cNvSpPr/>
          <p:nvPr/>
        </p:nvSpPr>
        <p:spPr>
          <a:xfrm>
            <a:off x="685800" y="1371600"/>
            <a:ext cx="6492240" cy="304800"/>
          </a:xfrm>
          <a:prstGeom prst="rect">
            <a:avLst/>
          </a:prstGeom>
          <a:noFill/>
          <a:ln/>
        </p:spPr>
        <p:txBody>
          <a:bodyPr vert="horz" wrap="square" lIns="0" tIns="0" rIns="0" bIns="0" rtlCol="0" anchor="t"/>
          <a:lstStyle/>
          <a:p>
            <a:pPr marL="0" indent="0">
              <a:lnSpc>
                <a:spcPts val="2400"/>
              </a:lnSpc>
              <a:buNone/>
            </a:pPr>
            <a:r>
              <a:rPr lang="en-US" sz="1800" b="1" dirty="0">
                <a:solidFill>
                  <a:srgbClr val="9933CC"/>
                </a:solidFill>
                <a:latin typeface="Montserrat" pitchFamily="34" charset="0"/>
                <a:ea typeface="Montserrat" pitchFamily="34" charset="-122"/>
                <a:cs typeface="Montserrat" pitchFamily="34" charset="-120"/>
              </a:rPr>
              <a:t> Instrucciones del Taller</a:t>
            </a:r>
            <a:endParaRPr lang="en-US" sz="1800" dirty="0"/>
          </a:p>
        </p:txBody>
      </p:sp>
      <p:sp>
        <p:nvSpPr>
          <p:cNvPr id="20" name="Text 3"/>
          <p:cNvSpPr/>
          <p:nvPr/>
        </p:nvSpPr>
        <p:spPr>
          <a:xfrm>
            <a:off x="490538" y="1828800"/>
            <a:ext cx="102870" cy="2286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Open Sans" pitchFamily="34" charset="0"/>
                <a:ea typeface="Open Sans" pitchFamily="34" charset="-122"/>
                <a:cs typeface="Open Sans" pitchFamily="34" charset="-120"/>
              </a:rPr>
              <a:t>1</a:t>
            </a:r>
            <a:endParaRPr lang="en-US" sz="1200" dirty="0"/>
          </a:p>
        </p:txBody>
      </p:sp>
      <p:sp>
        <p:nvSpPr>
          <p:cNvPr id="21" name="Text 4"/>
          <p:cNvSpPr/>
          <p:nvPr/>
        </p:nvSpPr>
        <p:spPr>
          <a:xfrm>
            <a:off x="800100" y="1790700"/>
            <a:ext cx="49911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9933CC"/>
                </a:solidFill>
                <a:latin typeface="Open Sans" pitchFamily="34" charset="0"/>
                <a:ea typeface="Open Sans" pitchFamily="34" charset="-122"/>
                <a:cs typeface="Open Sans" pitchFamily="34" charset="-120"/>
              </a:rPr>
              <a:t>Formación de Grupos</a:t>
            </a:r>
            <a:endParaRPr lang="en-US" sz="1350" dirty="0"/>
          </a:p>
        </p:txBody>
      </p:sp>
      <p:sp>
        <p:nvSpPr>
          <p:cNvPr id="22" name="Text 5"/>
          <p:cNvSpPr/>
          <p:nvPr/>
        </p:nvSpPr>
        <p:spPr>
          <a:xfrm>
            <a:off x="800100" y="2057400"/>
            <a:ext cx="4991100" cy="4572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Open Sans" pitchFamily="34" charset="0"/>
                <a:ea typeface="Open Sans" pitchFamily="34" charset="-122"/>
                <a:cs typeface="Open Sans" pitchFamily="34" charset="-120"/>
              </a:rPr>
              <a:t>Dividirse en grupos de 3-4 estudiantes. Cada grupo enfocará una característica de calidad.</a:t>
            </a:r>
            <a:endParaRPr lang="en-US" sz="1200" dirty="0"/>
          </a:p>
        </p:txBody>
      </p:sp>
      <p:sp>
        <p:nvSpPr>
          <p:cNvPr id="23" name="Text 6"/>
          <p:cNvSpPr/>
          <p:nvPr/>
        </p:nvSpPr>
        <p:spPr>
          <a:xfrm>
            <a:off x="490538" y="2667000"/>
            <a:ext cx="102870" cy="2286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Open Sans" pitchFamily="34" charset="0"/>
                <a:ea typeface="Open Sans" pitchFamily="34" charset="-122"/>
                <a:cs typeface="Open Sans" pitchFamily="34" charset="-120"/>
              </a:rPr>
              <a:t>2</a:t>
            </a:r>
            <a:endParaRPr lang="en-US" sz="1200" dirty="0"/>
          </a:p>
        </p:txBody>
      </p:sp>
      <p:sp>
        <p:nvSpPr>
          <p:cNvPr id="24" name="Text 7"/>
          <p:cNvSpPr/>
          <p:nvPr/>
        </p:nvSpPr>
        <p:spPr>
          <a:xfrm>
            <a:off x="800100" y="2628900"/>
            <a:ext cx="5989320" cy="266700"/>
          </a:xfrm>
          <a:prstGeom prst="rect">
            <a:avLst/>
          </a:prstGeom>
          <a:noFill/>
          <a:ln/>
        </p:spPr>
        <p:txBody>
          <a:bodyPr vert="horz" wrap="square" lIns="0" tIns="0" rIns="0" bIns="0" rtlCol="0" anchor="t"/>
          <a:lstStyle/>
          <a:p>
            <a:pPr marL="0" indent="0">
              <a:lnSpc>
                <a:spcPts val="2100"/>
              </a:lnSpc>
              <a:buNone/>
            </a:pPr>
            <a:r>
              <a:rPr lang="en-US" sz="1350" b="1" dirty="0">
                <a:solidFill>
                  <a:srgbClr val="9933CC"/>
                </a:solidFill>
                <a:latin typeface="Open Sans" pitchFamily="34" charset="0"/>
                <a:ea typeface="Open Sans" pitchFamily="34" charset="-122"/>
                <a:cs typeface="Open Sans" pitchFamily="34" charset="-120"/>
              </a:rPr>
              <a:t>Identificación de Subcaracterísticas</a:t>
            </a:r>
            <a:endParaRPr lang="en-US" sz="1350" dirty="0"/>
          </a:p>
        </p:txBody>
      </p:sp>
      <p:sp>
        <p:nvSpPr>
          <p:cNvPr id="25" name="Text 8"/>
          <p:cNvSpPr/>
          <p:nvPr/>
        </p:nvSpPr>
        <p:spPr>
          <a:xfrm>
            <a:off x="800100" y="2895600"/>
            <a:ext cx="4991100" cy="4572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Open Sans" pitchFamily="34" charset="0"/>
                <a:ea typeface="Open Sans" pitchFamily="34" charset="-122"/>
                <a:cs typeface="Open Sans" pitchFamily="34" charset="-120"/>
              </a:rPr>
              <a:t>Identificar 3 subcaracterísticas clave para la plataforma de streaming.</a:t>
            </a:r>
            <a:endParaRPr lang="en-US" sz="1200" dirty="0"/>
          </a:p>
        </p:txBody>
      </p:sp>
      <p:sp>
        <p:nvSpPr>
          <p:cNvPr id="26" name="Text 9"/>
          <p:cNvSpPr/>
          <p:nvPr/>
        </p:nvSpPr>
        <p:spPr>
          <a:xfrm>
            <a:off x="490538" y="3505200"/>
            <a:ext cx="102870" cy="2286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Open Sans" pitchFamily="34" charset="0"/>
                <a:ea typeface="Open Sans" pitchFamily="34" charset="-122"/>
                <a:cs typeface="Open Sans" pitchFamily="34" charset="-120"/>
              </a:rPr>
              <a:t>3</a:t>
            </a:r>
            <a:endParaRPr lang="en-US" sz="1200" dirty="0"/>
          </a:p>
        </p:txBody>
      </p:sp>
      <p:sp>
        <p:nvSpPr>
          <p:cNvPr id="27" name="Text 10"/>
          <p:cNvSpPr/>
          <p:nvPr/>
        </p:nvSpPr>
        <p:spPr>
          <a:xfrm>
            <a:off x="800100" y="3467100"/>
            <a:ext cx="48387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9933CC"/>
                </a:solidFill>
                <a:latin typeface="Open Sans" pitchFamily="34" charset="0"/>
                <a:ea typeface="Open Sans" pitchFamily="34" charset="-122"/>
                <a:cs typeface="Open Sans" pitchFamily="34" charset="-120"/>
              </a:rPr>
              <a:t>Propuesta de Métricas</a:t>
            </a:r>
            <a:endParaRPr lang="en-US" sz="1350" dirty="0"/>
          </a:p>
        </p:txBody>
      </p:sp>
      <p:sp>
        <p:nvSpPr>
          <p:cNvPr id="28" name="Text 11"/>
          <p:cNvSpPr/>
          <p:nvPr/>
        </p:nvSpPr>
        <p:spPr>
          <a:xfrm>
            <a:off x="800100" y="3733800"/>
            <a:ext cx="5806440" cy="2286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Open Sans" pitchFamily="34" charset="0"/>
                <a:ea typeface="Open Sans" pitchFamily="34" charset="-122"/>
                <a:cs typeface="Open Sans" pitchFamily="34" charset="-120"/>
              </a:rPr>
              <a:t>Proponer 2 métricas específicas para medir cada subcaracterística.</a:t>
            </a:r>
            <a:endParaRPr lang="en-US" sz="1200" dirty="0"/>
          </a:p>
        </p:txBody>
      </p:sp>
      <p:sp>
        <p:nvSpPr>
          <p:cNvPr id="29" name="Text 12"/>
          <p:cNvSpPr/>
          <p:nvPr/>
        </p:nvSpPr>
        <p:spPr>
          <a:xfrm>
            <a:off x="490538" y="4114800"/>
            <a:ext cx="102870" cy="228600"/>
          </a:xfrm>
          <a:prstGeom prst="rect">
            <a:avLst/>
          </a:prstGeom>
          <a:noFill/>
          <a:ln/>
        </p:spPr>
        <p:txBody>
          <a:bodyPr vert="horz" wrap="square" lIns="0" tIns="0" rIns="0" bIns="0" rtlCol="0" anchor="t"/>
          <a:lstStyle/>
          <a:p>
            <a:pPr marL="0" indent="0">
              <a:lnSpc>
                <a:spcPts val="1800"/>
              </a:lnSpc>
              <a:buNone/>
            </a:pPr>
            <a:r>
              <a:rPr lang="en-US" sz="1200" b="1" dirty="0">
                <a:solidFill>
                  <a:srgbClr val="FFFFFF"/>
                </a:solidFill>
                <a:latin typeface="Open Sans" pitchFamily="34" charset="0"/>
                <a:ea typeface="Open Sans" pitchFamily="34" charset="-122"/>
                <a:cs typeface="Open Sans" pitchFamily="34" charset="-120"/>
              </a:rPr>
              <a:t>4</a:t>
            </a:r>
            <a:endParaRPr lang="en-US" sz="1200" dirty="0"/>
          </a:p>
        </p:txBody>
      </p:sp>
      <p:sp>
        <p:nvSpPr>
          <p:cNvPr id="30" name="Text 13"/>
          <p:cNvSpPr/>
          <p:nvPr/>
        </p:nvSpPr>
        <p:spPr>
          <a:xfrm>
            <a:off x="800100" y="4076700"/>
            <a:ext cx="49911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9933CC"/>
                </a:solidFill>
                <a:latin typeface="Open Sans" pitchFamily="34" charset="0"/>
                <a:ea typeface="Open Sans" pitchFamily="34" charset="-122"/>
                <a:cs typeface="Open Sans" pitchFamily="34" charset="-120"/>
              </a:rPr>
              <a:t>Presentación y Discusión</a:t>
            </a:r>
            <a:endParaRPr lang="en-US" sz="1350" dirty="0"/>
          </a:p>
        </p:txBody>
      </p:sp>
      <p:sp>
        <p:nvSpPr>
          <p:cNvPr id="31" name="Text 14"/>
          <p:cNvSpPr/>
          <p:nvPr/>
        </p:nvSpPr>
        <p:spPr>
          <a:xfrm>
            <a:off x="800100" y="4343400"/>
            <a:ext cx="4991100" cy="4572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Open Sans" pitchFamily="34" charset="0"/>
                <a:ea typeface="Open Sans" pitchFamily="34" charset="-122"/>
                <a:cs typeface="Open Sans" pitchFamily="34" charset="-120"/>
              </a:rPr>
              <a:t>Presentar hallazgos y métricas propuestas. Discutir aplicabilidad y efectividad.</a:t>
            </a:r>
            <a:endParaRPr lang="en-US" sz="1200" dirty="0"/>
          </a:p>
        </p:txBody>
      </p:sp>
      <p:sp>
        <p:nvSpPr>
          <p:cNvPr id="32" name="Text 15"/>
          <p:cNvSpPr/>
          <p:nvPr/>
        </p:nvSpPr>
        <p:spPr>
          <a:xfrm>
            <a:off x="6705600" y="1371600"/>
            <a:ext cx="6492240" cy="304800"/>
          </a:xfrm>
          <a:prstGeom prst="rect">
            <a:avLst/>
          </a:prstGeom>
          <a:noFill/>
          <a:ln/>
        </p:spPr>
        <p:txBody>
          <a:bodyPr vert="horz" wrap="square" lIns="0" tIns="0" rIns="0" bIns="0" rtlCol="0" anchor="t"/>
          <a:lstStyle/>
          <a:p>
            <a:pPr marL="0" indent="0">
              <a:lnSpc>
                <a:spcPts val="2400"/>
              </a:lnSpc>
              <a:buNone/>
            </a:pPr>
            <a:r>
              <a:rPr lang="en-US" sz="1800" b="1" dirty="0">
                <a:solidFill>
                  <a:srgbClr val="00CC99"/>
                </a:solidFill>
                <a:latin typeface="Montserrat" pitchFamily="34" charset="0"/>
                <a:ea typeface="Montserrat" pitchFamily="34" charset="-122"/>
                <a:cs typeface="Montserrat" pitchFamily="34" charset="-120"/>
              </a:rPr>
              <a:t> Características de Calidad</a:t>
            </a:r>
            <a:endParaRPr lang="en-US" sz="1800" dirty="0"/>
          </a:p>
        </p:txBody>
      </p:sp>
      <p:sp>
        <p:nvSpPr>
          <p:cNvPr id="33" name="Text 16"/>
          <p:cNvSpPr/>
          <p:nvPr/>
        </p:nvSpPr>
        <p:spPr>
          <a:xfrm>
            <a:off x="6915150" y="1924050"/>
            <a:ext cx="1577340" cy="266700"/>
          </a:xfrm>
          <a:prstGeom prst="rect">
            <a:avLst/>
          </a:prstGeom>
          <a:noFill/>
          <a:ln/>
        </p:spPr>
        <p:txBody>
          <a:bodyPr vert="horz" wrap="square" lIns="0" tIns="0" rIns="0" bIns="0" rtlCol="0" anchor="t"/>
          <a:lstStyle/>
          <a:p>
            <a:pPr marL="0" indent="0">
              <a:lnSpc>
                <a:spcPts val="2100"/>
              </a:lnSpc>
              <a:buNone/>
            </a:pPr>
            <a:r>
              <a:rPr lang="en-US" sz="1500" b="1" dirty="0">
                <a:solidFill>
                  <a:srgbClr val="FF6600"/>
                </a:solidFill>
                <a:latin typeface="Open Sans" pitchFamily="34" charset="0"/>
                <a:ea typeface="Open Sans" pitchFamily="34" charset="-122"/>
                <a:cs typeface="Open Sans" pitchFamily="34" charset="-120"/>
              </a:rPr>
              <a:t>Funcionalidad</a:t>
            </a:r>
            <a:endParaRPr lang="en-US" sz="1500" dirty="0"/>
          </a:p>
        </p:txBody>
      </p:sp>
      <p:sp>
        <p:nvSpPr>
          <p:cNvPr id="34" name="Text 17"/>
          <p:cNvSpPr/>
          <p:nvPr/>
        </p:nvSpPr>
        <p:spPr>
          <a:xfrm>
            <a:off x="6515100" y="2247900"/>
            <a:ext cx="6217920" cy="2286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Open Sans" pitchFamily="34" charset="0"/>
                <a:ea typeface="Open Sans" pitchFamily="34" charset="-122"/>
                <a:cs typeface="Open Sans" pitchFamily="34" charset="-120"/>
              </a:rPr>
              <a:t>¿Cumple con las funciones básicas de streaming?</a:t>
            </a:r>
            <a:endParaRPr lang="en-US" sz="1200" dirty="0"/>
          </a:p>
        </p:txBody>
      </p:sp>
      <p:sp>
        <p:nvSpPr>
          <p:cNvPr id="35" name="Text 18"/>
          <p:cNvSpPr/>
          <p:nvPr/>
        </p:nvSpPr>
        <p:spPr>
          <a:xfrm>
            <a:off x="6543675" y="2514600"/>
            <a:ext cx="644652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b="1" dirty="0">
                <a:solidFill>
                  <a:srgbClr val="D1D5DB"/>
                </a:solidFill>
                <a:latin typeface="Open Sans" pitchFamily="34" charset="0"/>
                <a:ea typeface="Open Sans" pitchFamily="34" charset="-122"/>
                <a:cs typeface="Open Sans" pitchFamily="34" charset="-120"/>
              </a:rPr>
              <a:t>Adecuación funcional</a:t>
            </a:r>
            <a:r>
              <a:rPr lang="en-US" sz="1200" dirty="0">
                <a:solidFill>
                  <a:srgbClr val="D1D5DB"/>
                </a:solidFill>
                <a:latin typeface="Open Sans" pitchFamily="34" charset="0"/>
                <a:ea typeface="Open Sans" pitchFamily="34" charset="-122"/>
                <a:cs typeface="Open Sans" pitchFamily="34" charset="-120"/>
              </a:rPr>
              <a:t>: Funciones disponibles vs. esperadas</a:t>
            </a:r>
            <a:endParaRPr lang="en-US" sz="1200" dirty="0"/>
          </a:p>
        </p:txBody>
      </p:sp>
      <p:sp>
        <p:nvSpPr>
          <p:cNvPr id="36" name="Text 19"/>
          <p:cNvSpPr/>
          <p:nvPr/>
        </p:nvSpPr>
        <p:spPr>
          <a:xfrm>
            <a:off x="6543675" y="2743200"/>
            <a:ext cx="644652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b="1" dirty="0">
                <a:solidFill>
                  <a:srgbClr val="D1D5DB"/>
                </a:solidFill>
                <a:latin typeface="Open Sans" pitchFamily="34" charset="0"/>
                <a:ea typeface="Open Sans" pitchFamily="34" charset="-122"/>
                <a:cs typeface="Open Sans" pitchFamily="34" charset="-120"/>
              </a:rPr>
              <a:t>Interoperabilidad</a:t>
            </a:r>
            <a:r>
              <a:rPr lang="en-US" sz="1200" dirty="0">
                <a:solidFill>
                  <a:srgbClr val="D1D5DB"/>
                </a:solidFill>
                <a:latin typeface="Open Sans" pitchFamily="34" charset="0"/>
                <a:ea typeface="Open Sans" pitchFamily="34" charset="-122"/>
                <a:cs typeface="Open Sans" pitchFamily="34" charset="-120"/>
              </a:rPr>
              <a:t>: Funcionamiento en diferentes dispositivos</a:t>
            </a:r>
            <a:endParaRPr lang="en-US" sz="1200" dirty="0"/>
          </a:p>
        </p:txBody>
      </p:sp>
      <p:sp>
        <p:nvSpPr>
          <p:cNvPr id="37" name="Text 20"/>
          <p:cNvSpPr/>
          <p:nvPr/>
        </p:nvSpPr>
        <p:spPr>
          <a:xfrm>
            <a:off x="6915150" y="3333750"/>
            <a:ext cx="1177290" cy="266700"/>
          </a:xfrm>
          <a:prstGeom prst="rect">
            <a:avLst/>
          </a:prstGeom>
          <a:noFill/>
          <a:ln/>
        </p:spPr>
        <p:txBody>
          <a:bodyPr vert="horz" wrap="square" lIns="0" tIns="0" rIns="0" bIns="0" rtlCol="0" anchor="t"/>
          <a:lstStyle/>
          <a:p>
            <a:pPr marL="0" indent="0">
              <a:lnSpc>
                <a:spcPts val="2100"/>
              </a:lnSpc>
              <a:buNone/>
            </a:pPr>
            <a:r>
              <a:rPr lang="en-US" sz="1500" b="1" dirty="0">
                <a:solidFill>
                  <a:srgbClr val="00CC99"/>
                </a:solidFill>
                <a:latin typeface="Open Sans" pitchFamily="34" charset="0"/>
                <a:ea typeface="Open Sans" pitchFamily="34" charset="-122"/>
                <a:cs typeface="Open Sans" pitchFamily="34" charset="-120"/>
              </a:rPr>
              <a:t>Usabilidad</a:t>
            </a:r>
            <a:endParaRPr lang="en-US" sz="1500" dirty="0"/>
          </a:p>
        </p:txBody>
      </p:sp>
      <p:sp>
        <p:nvSpPr>
          <p:cNvPr id="38" name="Text 21"/>
          <p:cNvSpPr/>
          <p:nvPr/>
        </p:nvSpPr>
        <p:spPr>
          <a:xfrm>
            <a:off x="6515100" y="3657600"/>
            <a:ext cx="6217920" cy="2286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Open Sans" pitchFamily="34" charset="0"/>
                <a:ea typeface="Open Sans" pitchFamily="34" charset="-122"/>
                <a:cs typeface="Open Sans" pitchFamily="34" charset="-120"/>
              </a:rPr>
              <a:t>¿Es fácil de usar y atractivo para los usuarios?</a:t>
            </a:r>
            <a:endParaRPr lang="en-US" sz="1200" dirty="0"/>
          </a:p>
        </p:txBody>
      </p:sp>
      <p:sp>
        <p:nvSpPr>
          <p:cNvPr id="39" name="Text 22"/>
          <p:cNvSpPr/>
          <p:nvPr/>
        </p:nvSpPr>
        <p:spPr>
          <a:xfrm>
            <a:off x="6543675" y="3924300"/>
            <a:ext cx="644652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b="1" dirty="0">
                <a:solidFill>
                  <a:srgbClr val="D1D5DB"/>
                </a:solidFill>
                <a:latin typeface="Open Sans" pitchFamily="34" charset="0"/>
                <a:ea typeface="Open Sans" pitchFamily="34" charset="-122"/>
                <a:cs typeface="Open Sans" pitchFamily="34" charset="-120"/>
              </a:rPr>
              <a:t>Aprendibilidad</a:t>
            </a:r>
            <a:r>
              <a:rPr lang="en-US" sz="1200" dirty="0">
                <a:solidFill>
                  <a:srgbClr val="D1D5DB"/>
                </a:solidFill>
                <a:latin typeface="Open Sans" pitchFamily="34" charset="0"/>
                <a:ea typeface="Open Sans" pitchFamily="34" charset="-122"/>
                <a:cs typeface="Open Sans" pitchFamily="34" charset="-120"/>
              </a:rPr>
              <a:t>: Tiempo para completar una transferencia</a:t>
            </a:r>
            <a:endParaRPr lang="en-US" sz="1200" dirty="0"/>
          </a:p>
        </p:txBody>
      </p:sp>
      <p:sp>
        <p:nvSpPr>
          <p:cNvPr id="40" name="Text 23"/>
          <p:cNvSpPr/>
          <p:nvPr/>
        </p:nvSpPr>
        <p:spPr>
          <a:xfrm>
            <a:off x="6543675" y="4152900"/>
            <a:ext cx="644652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b="1" dirty="0">
                <a:solidFill>
                  <a:srgbClr val="D1D5DB"/>
                </a:solidFill>
                <a:latin typeface="Open Sans" pitchFamily="34" charset="0"/>
                <a:ea typeface="Open Sans" pitchFamily="34" charset="-122"/>
                <a:cs typeface="Open Sans" pitchFamily="34" charset="-120"/>
              </a:rPr>
              <a:t>Operatividad</a:t>
            </a:r>
            <a:r>
              <a:rPr lang="en-US" sz="1200" dirty="0">
                <a:solidFill>
                  <a:srgbClr val="D1D5DB"/>
                </a:solidFill>
                <a:latin typeface="Open Sans" pitchFamily="34" charset="0"/>
                <a:ea typeface="Open Sans" pitchFamily="34" charset="-122"/>
                <a:cs typeface="Open Sans" pitchFamily="34" charset="-120"/>
              </a:rPr>
              <a:t>: Eficiencia de navegación y reproducción</a:t>
            </a:r>
            <a:endParaRPr lang="en-US" sz="1200" dirty="0"/>
          </a:p>
        </p:txBody>
      </p:sp>
      <p:sp>
        <p:nvSpPr>
          <p:cNvPr id="41" name="Text 24"/>
          <p:cNvSpPr/>
          <p:nvPr/>
        </p:nvSpPr>
        <p:spPr>
          <a:xfrm>
            <a:off x="6886575" y="4743450"/>
            <a:ext cx="1440180" cy="266700"/>
          </a:xfrm>
          <a:prstGeom prst="rect">
            <a:avLst/>
          </a:prstGeom>
          <a:noFill/>
          <a:ln/>
        </p:spPr>
        <p:txBody>
          <a:bodyPr vert="horz" wrap="square" lIns="0" tIns="0" rIns="0" bIns="0" rtlCol="0" anchor="t"/>
          <a:lstStyle/>
          <a:p>
            <a:pPr marL="0" indent="0">
              <a:lnSpc>
                <a:spcPts val="2100"/>
              </a:lnSpc>
              <a:buNone/>
            </a:pPr>
            <a:r>
              <a:rPr lang="en-US" sz="1500" b="1" dirty="0">
                <a:solidFill>
                  <a:srgbClr val="9933CC"/>
                </a:solidFill>
                <a:latin typeface="Open Sans" pitchFamily="34" charset="0"/>
                <a:ea typeface="Open Sans" pitchFamily="34" charset="-122"/>
                <a:cs typeface="Open Sans" pitchFamily="34" charset="-120"/>
              </a:rPr>
              <a:t>Rendimiento</a:t>
            </a:r>
            <a:endParaRPr lang="en-US" sz="1500" dirty="0"/>
          </a:p>
        </p:txBody>
      </p:sp>
      <p:sp>
        <p:nvSpPr>
          <p:cNvPr id="42" name="Text 25"/>
          <p:cNvSpPr/>
          <p:nvPr/>
        </p:nvSpPr>
        <p:spPr>
          <a:xfrm>
            <a:off x="6515100" y="5067300"/>
            <a:ext cx="6217920" cy="2286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Open Sans" pitchFamily="34" charset="0"/>
                <a:ea typeface="Open Sans" pitchFamily="34" charset="-122"/>
                <a:cs typeface="Open Sans" pitchFamily="34" charset="-120"/>
              </a:rPr>
              <a:t>¿Proporciona una experiencia fluida y rápida?</a:t>
            </a:r>
            <a:endParaRPr lang="en-US" sz="1200" dirty="0"/>
          </a:p>
        </p:txBody>
      </p:sp>
      <p:sp>
        <p:nvSpPr>
          <p:cNvPr id="43" name="Text 26"/>
          <p:cNvSpPr/>
          <p:nvPr/>
        </p:nvSpPr>
        <p:spPr>
          <a:xfrm>
            <a:off x="6543675" y="5334000"/>
            <a:ext cx="644652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b="1" dirty="0">
                <a:solidFill>
                  <a:srgbClr val="D1D5DB"/>
                </a:solidFill>
                <a:latin typeface="Open Sans" pitchFamily="34" charset="0"/>
                <a:ea typeface="Open Sans" pitchFamily="34" charset="-122"/>
                <a:cs typeface="Open Sans" pitchFamily="34" charset="-120"/>
              </a:rPr>
              <a:t>Comportamiento en el tiempo</a:t>
            </a:r>
            <a:r>
              <a:rPr lang="en-US" sz="1200" dirty="0">
                <a:solidFill>
                  <a:srgbClr val="D1D5DB"/>
                </a:solidFill>
                <a:latin typeface="Open Sans" pitchFamily="34" charset="0"/>
                <a:ea typeface="Open Sans" pitchFamily="34" charset="-122"/>
                <a:cs typeface="Open Sans" pitchFamily="34" charset="-120"/>
              </a:rPr>
              <a:t>: Tiempos de carga</a:t>
            </a:r>
            <a:endParaRPr lang="en-US" sz="1200" dirty="0"/>
          </a:p>
        </p:txBody>
      </p:sp>
      <p:sp>
        <p:nvSpPr>
          <p:cNvPr id="44" name="Text 27"/>
          <p:cNvSpPr/>
          <p:nvPr/>
        </p:nvSpPr>
        <p:spPr>
          <a:xfrm>
            <a:off x="6543675" y="5562600"/>
            <a:ext cx="644652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b="1" dirty="0">
                <a:solidFill>
                  <a:srgbClr val="D1D5DB"/>
                </a:solidFill>
                <a:latin typeface="Open Sans" pitchFamily="34" charset="0"/>
                <a:ea typeface="Open Sans" pitchFamily="34" charset="-122"/>
                <a:cs typeface="Open Sans" pitchFamily="34" charset="-120"/>
              </a:rPr>
              <a:t>Utilización de recursos</a:t>
            </a:r>
            <a:r>
              <a:rPr lang="en-US" sz="1200" dirty="0">
                <a:solidFill>
                  <a:srgbClr val="D1D5DB"/>
                </a:solidFill>
                <a:latin typeface="Open Sans" pitchFamily="34" charset="0"/>
                <a:ea typeface="Open Sans" pitchFamily="34" charset="-122"/>
                <a:cs typeface="Open Sans" pitchFamily="34" charset="-120"/>
              </a:rPr>
              <a:t>: Consumo de batería y datos</a:t>
            </a:r>
            <a:endParaRPr lang="en-US" sz="1200" dirty="0"/>
          </a:p>
        </p:txBody>
      </p:sp>
      <p:sp>
        <p:nvSpPr>
          <p:cNvPr id="45" name="Text 28"/>
          <p:cNvSpPr/>
          <p:nvPr/>
        </p:nvSpPr>
        <p:spPr>
          <a:xfrm>
            <a:off x="523875" y="6286500"/>
            <a:ext cx="5520690"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Open Sans" pitchFamily="34" charset="0"/>
                <a:ea typeface="Open Sans" pitchFamily="34" charset="-122"/>
                <a:cs typeface="Open Sans" pitchFamily="34" charset="-120"/>
              </a:rPr>
              <a:t> Sugerencia: Utilizar métricas cuantificables para resultados objetivos</a:t>
            </a:r>
            <a:endParaRPr lang="en-US" sz="1050" dirty="0"/>
          </a:p>
        </p:txBody>
      </p:sp>
      <p:sp>
        <p:nvSpPr>
          <p:cNvPr id="46" name="Text 29"/>
          <p:cNvSpPr/>
          <p:nvPr/>
        </p:nvSpPr>
        <p:spPr>
          <a:xfrm>
            <a:off x="10801350" y="6286500"/>
            <a:ext cx="1211580"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Open Sans" pitchFamily="34" charset="0"/>
                <a:ea typeface="Open Sans" pitchFamily="34" charset="-122"/>
                <a:cs typeface="Open Sans" pitchFamily="34" charset="-120"/>
              </a:rPr>
              <a:t>Página 20 de 25</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914400"/>
            <a:ext cx="914400" cy="38100"/>
          </a:xfrm>
          <a:prstGeom prst="rect">
            <a:avLst/>
          </a:prstGeom>
        </p:spPr>
      </p:pic>
      <p:pic>
        <p:nvPicPr>
          <p:cNvPr id="4" name="Image 2" descr="preencoded.png"/>
          <p:cNvPicPr>
            <a:picLocks noChangeAspect="1"/>
          </p:cNvPicPr>
          <p:nvPr/>
        </p:nvPicPr>
        <p:blipFill>
          <a:blip r:embed="rId5"/>
          <a:stretch>
            <a:fillRect/>
          </a:stretch>
        </p:blipFill>
        <p:spPr>
          <a:xfrm>
            <a:off x="457200" y="1524000"/>
            <a:ext cx="457200" cy="457200"/>
          </a:xfrm>
          <a:prstGeom prst="rect">
            <a:avLst/>
          </a:prstGeom>
        </p:spPr>
      </p:pic>
      <p:pic>
        <p:nvPicPr>
          <p:cNvPr id="5" name="Image 3" descr="preencoded.png"/>
          <p:cNvPicPr>
            <a:picLocks noChangeAspect="1"/>
          </p:cNvPicPr>
          <p:nvPr/>
        </p:nvPicPr>
        <p:blipFill>
          <a:blip r:embed="rId6"/>
          <a:stretch>
            <a:fillRect/>
          </a:stretch>
        </p:blipFill>
        <p:spPr>
          <a:xfrm>
            <a:off x="614363" y="1619250"/>
            <a:ext cx="142875" cy="266700"/>
          </a:xfrm>
          <a:prstGeom prst="rect">
            <a:avLst/>
          </a:prstGeom>
        </p:spPr>
      </p:pic>
      <p:pic>
        <p:nvPicPr>
          <p:cNvPr id="6" name="Image 4" descr="preencoded.png"/>
          <p:cNvPicPr>
            <a:picLocks noChangeAspect="1"/>
          </p:cNvPicPr>
          <p:nvPr/>
        </p:nvPicPr>
        <p:blipFill>
          <a:blip r:embed="rId7"/>
          <a:stretch>
            <a:fillRect/>
          </a:stretch>
        </p:blipFill>
        <p:spPr>
          <a:xfrm>
            <a:off x="457200" y="2857500"/>
            <a:ext cx="457200" cy="457200"/>
          </a:xfrm>
          <a:prstGeom prst="rect">
            <a:avLst/>
          </a:prstGeom>
        </p:spPr>
      </p:pic>
      <p:pic>
        <p:nvPicPr>
          <p:cNvPr id="7" name="Image 5" descr="preencoded.png"/>
          <p:cNvPicPr>
            <a:picLocks noChangeAspect="1"/>
          </p:cNvPicPr>
          <p:nvPr/>
        </p:nvPicPr>
        <p:blipFill>
          <a:blip r:embed="rId8"/>
          <a:stretch>
            <a:fillRect/>
          </a:stretch>
        </p:blipFill>
        <p:spPr>
          <a:xfrm>
            <a:off x="590550" y="2952750"/>
            <a:ext cx="190500" cy="266700"/>
          </a:xfrm>
          <a:prstGeom prst="rect">
            <a:avLst/>
          </a:prstGeom>
        </p:spPr>
      </p:pic>
      <p:pic>
        <p:nvPicPr>
          <p:cNvPr id="8" name="Image 6" descr="preencoded.png"/>
          <p:cNvPicPr>
            <a:picLocks noChangeAspect="1"/>
          </p:cNvPicPr>
          <p:nvPr/>
        </p:nvPicPr>
        <p:blipFill>
          <a:blip r:embed="rId9"/>
          <a:stretch>
            <a:fillRect/>
          </a:stretch>
        </p:blipFill>
        <p:spPr>
          <a:xfrm>
            <a:off x="457200" y="4191000"/>
            <a:ext cx="457200" cy="457200"/>
          </a:xfrm>
          <a:prstGeom prst="rect">
            <a:avLst/>
          </a:prstGeom>
        </p:spPr>
      </p:pic>
      <p:pic>
        <p:nvPicPr>
          <p:cNvPr id="9" name="Image 7" descr="preencoded.png"/>
          <p:cNvPicPr>
            <a:picLocks noChangeAspect="1"/>
          </p:cNvPicPr>
          <p:nvPr/>
        </p:nvPicPr>
        <p:blipFill>
          <a:blip r:embed="rId10"/>
          <a:stretch>
            <a:fillRect/>
          </a:stretch>
        </p:blipFill>
        <p:spPr>
          <a:xfrm>
            <a:off x="590550" y="4286250"/>
            <a:ext cx="190500" cy="266700"/>
          </a:xfrm>
          <a:prstGeom prst="rect">
            <a:avLst/>
          </a:prstGeom>
        </p:spPr>
      </p:pic>
      <p:pic>
        <p:nvPicPr>
          <p:cNvPr id="10" name="Image 8" descr="preencoded.png"/>
          <p:cNvPicPr>
            <a:picLocks noChangeAspect="1"/>
          </p:cNvPicPr>
          <p:nvPr/>
        </p:nvPicPr>
        <p:blipFill>
          <a:blip r:embed="rId11"/>
          <a:stretch>
            <a:fillRect/>
          </a:stretch>
        </p:blipFill>
        <p:spPr>
          <a:xfrm>
            <a:off x="6248400" y="1524000"/>
            <a:ext cx="457200" cy="457200"/>
          </a:xfrm>
          <a:prstGeom prst="rect">
            <a:avLst/>
          </a:prstGeom>
        </p:spPr>
      </p:pic>
      <p:pic>
        <p:nvPicPr>
          <p:cNvPr id="11" name="Image 9" descr="preencoded.png"/>
          <p:cNvPicPr>
            <a:picLocks noChangeAspect="1"/>
          </p:cNvPicPr>
          <p:nvPr/>
        </p:nvPicPr>
        <p:blipFill>
          <a:blip r:embed="rId12"/>
          <a:stretch>
            <a:fillRect/>
          </a:stretch>
        </p:blipFill>
        <p:spPr>
          <a:xfrm>
            <a:off x="6381750" y="1619250"/>
            <a:ext cx="190500" cy="266700"/>
          </a:xfrm>
          <a:prstGeom prst="rect">
            <a:avLst/>
          </a:prstGeom>
        </p:spPr>
      </p:pic>
      <p:pic>
        <p:nvPicPr>
          <p:cNvPr id="12" name="Image 10" descr="preencoded.png"/>
          <p:cNvPicPr>
            <a:picLocks noChangeAspect="1"/>
          </p:cNvPicPr>
          <p:nvPr/>
        </p:nvPicPr>
        <p:blipFill>
          <a:blip r:embed="rId13"/>
          <a:stretch>
            <a:fillRect/>
          </a:stretch>
        </p:blipFill>
        <p:spPr>
          <a:xfrm>
            <a:off x="6248400" y="2857500"/>
            <a:ext cx="457200" cy="457200"/>
          </a:xfrm>
          <a:prstGeom prst="rect">
            <a:avLst/>
          </a:prstGeom>
        </p:spPr>
      </p:pic>
      <p:pic>
        <p:nvPicPr>
          <p:cNvPr id="13" name="Image 11" descr="preencoded.png"/>
          <p:cNvPicPr>
            <a:picLocks noChangeAspect="1"/>
          </p:cNvPicPr>
          <p:nvPr/>
        </p:nvPicPr>
        <p:blipFill>
          <a:blip r:embed="rId14"/>
          <a:stretch>
            <a:fillRect/>
          </a:stretch>
        </p:blipFill>
        <p:spPr>
          <a:xfrm>
            <a:off x="6357938" y="2952750"/>
            <a:ext cx="238125" cy="266700"/>
          </a:xfrm>
          <a:prstGeom prst="rect">
            <a:avLst/>
          </a:prstGeom>
        </p:spPr>
      </p:pic>
      <p:pic>
        <p:nvPicPr>
          <p:cNvPr id="14" name="Image 12" descr="preencoded.png"/>
          <p:cNvPicPr>
            <a:picLocks noChangeAspect="1"/>
          </p:cNvPicPr>
          <p:nvPr/>
        </p:nvPicPr>
        <p:blipFill>
          <a:blip r:embed="rId15"/>
          <a:stretch>
            <a:fillRect/>
          </a:stretch>
        </p:blipFill>
        <p:spPr>
          <a:xfrm>
            <a:off x="6248400" y="4191000"/>
            <a:ext cx="5486400" cy="1333500"/>
          </a:xfrm>
          <a:prstGeom prst="rect">
            <a:avLst/>
          </a:prstGeom>
        </p:spPr>
      </p:pic>
      <p:pic>
        <p:nvPicPr>
          <p:cNvPr id="15" name="Image 13" descr="preencoded.png"/>
          <p:cNvPicPr>
            <a:picLocks noChangeAspect="1"/>
          </p:cNvPicPr>
          <p:nvPr/>
        </p:nvPicPr>
        <p:blipFill>
          <a:blip r:embed="rId16"/>
          <a:stretch>
            <a:fillRect/>
          </a:stretch>
        </p:blipFill>
        <p:spPr>
          <a:xfrm>
            <a:off x="6400800" y="4391025"/>
            <a:ext cx="133350" cy="171450"/>
          </a:xfrm>
          <a:prstGeom prst="rect">
            <a:avLst/>
          </a:prstGeom>
        </p:spPr>
      </p:pic>
      <p:sp>
        <p:nvSpPr>
          <p:cNvPr id="16" name="Text 0"/>
          <p:cNvSpPr/>
          <p:nvPr/>
        </p:nvSpPr>
        <p:spPr>
          <a:xfrm>
            <a:off x="457200" y="457200"/>
            <a:ext cx="1353312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97316"/>
                </a:solidFill>
                <a:latin typeface="ui-sans-serif" pitchFamily="34" charset="0"/>
                <a:ea typeface="ui-sans-serif" pitchFamily="34" charset="-122"/>
                <a:cs typeface="ui-sans-serif" pitchFamily="34" charset="-120"/>
              </a:rPr>
              <a:t>Desarrollo del Ejercicio Práctico</a:t>
            </a:r>
            <a:endParaRPr lang="en-US" sz="2700" dirty="0"/>
          </a:p>
        </p:txBody>
      </p:sp>
      <p:sp>
        <p:nvSpPr>
          <p:cNvPr id="17" name="Text 1"/>
          <p:cNvSpPr/>
          <p:nvPr/>
        </p:nvSpPr>
        <p:spPr>
          <a:xfrm>
            <a:off x="457200" y="1066800"/>
            <a:ext cx="13533120" cy="2286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Metodología para el análisis de calidad de aplicaciones móviles</a:t>
            </a:r>
            <a:endParaRPr lang="en-US" sz="1200" dirty="0"/>
          </a:p>
        </p:txBody>
      </p:sp>
      <p:sp>
        <p:nvSpPr>
          <p:cNvPr id="18" name="Text 2"/>
          <p:cNvSpPr/>
          <p:nvPr/>
        </p:nvSpPr>
        <p:spPr>
          <a:xfrm>
            <a:off x="1066800" y="1524000"/>
            <a:ext cx="5293876" cy="266700"/>
          </a:xfrm>
          <a:prstGeom prst="rect">
            <a:avLst/>
          </a:prstGeom>
          <a:noFill/>
          <a:ln/>
        </p:spPr>
        <p:txBody>
          <a:bodyPr vert="horz" wrap="square" lIns="0" tIns="0" rIns="0" bIns="0" rtlCol="0" anchor="t"/>
          <a:lstStyle/>
          <a:p>
            <a:pPr marL="0" indent="0">
              <a:lnSpc>
                <a:spcPts val="2100"/>
              </a:lnSpc>
              <a:buNone/>
            </a:pPr>
            <a:r>
              <a:rPr lang="en-US" sz="1500" b="1" dirty="0">
                <a:solidFill>
                  <a:srgbClr val="FB923C"/>
                </a:solidFill>
                <a:latin typeface="ui-sans-serif" pitchFamily="34" charset="0"/>
                <a:ea typeface="ui-sans-serif" pitchFamily="34" charset="-122"/>
                <a:cs typeface="ui-sans-serif" pitchFamily="34" charset="-120"/>
              </a:rPr>
              <a:t>1. Selección de la Aplicación</a:t>
            </a:r>
            <a:endParaRPr lang="en-US" sz="1500" dirty="0"/>
          </a:p>
        </p:txBody>
      </p:sp>
      <p:sp>
        <p:nvSpPr>
          <p:cNvPr id="19" name="Text 3"/>
          <p:cNvSpPr/>
          <p:nvPr/>
        </p:nvSpPr>
        <p:spPr>
          <a:xfrm>
            <a:off x="1085850" y="1866900"/>
            <a:ext cx="5522476"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ui-sans-serif" pitchFamily="34" charset="0"/>
                <a:ea typeface="ui-sans-serif" pitchFamily="34" charset="-122"/>
                <a:cs typeface="ui-sans-serif" pitchFamily="34" charset="-120"/>
              </a:rPr>
              <a:t>Elija una aplicación móvil de banca familiar</a:t>
            </a:r>
            <a:endParaRPr lang="en-US" sz="1200" dirty="0"/>
          </a:p>
        </p:txBody>
      </p:sp>
      <p:sp>
        <p:nvSpPr>
          <p:cNvPr id="20" name="Text 4"/>
          <p:cNvSpPr/>
          <p:nvPr/>
        </p:nvSpPr>
        <p:spPr>
          <a:xfrm>
            <a:off x="1085850" y="2133600"/>
            <a:ext cx="5522476"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ui-sans-serif" pitchFamily="34" charset="0"/>
                <a:ea typeface="ui-sans-serif" pitchFamily="34" charset="-122"/>
                <a:cs typeface="ui-sans-serif" pitchFamily="34" charset="-120"/>
              </a:rPr>
              <a:t>Garantice acceso igualitario para todos los estudiantes</a:t>
            </a:r>
            <a:endParaRPr lang="en-US" sz="1200" dirty="0"/>
          </a:p>
        </p:txBody>
      </p:sp>
      <p:sp>
        <p:nvSpPr>
          <p:cNvPr id="21" name="Text 5"/>
          <p:cNvSpPr/>
          <p:nvPr/>
        </p:nvSpPr>
        <p:spPr>
          <a:xfrm>
            <a:off x="1085850" y="2400300"/>
            <a:ext cx="5522476"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ui-sans-serif" pitchFamily="34" charset="0"/>
                <a:ea typeface="ui-sans-serif" pitchFamily="34" charset="-122"/>
                <a:cs typeface="ui-sans-serif" pitchFamily="34" charset="-120"/>
              </a:rPr>
              <a:t>Preferiblemente aplicaciones populares del mercado</a:t>
            </a:r>
            <a:endParaRPr lang="en-US" sz="1200" dirty="0"/>
          </a:p>
        </p:txBody>
      </p:sp>
      <p:sp>
        <p:nvSpPr>
          <p:cNvPr id="22" name="Text 6"/>
          <p:cNvSpPr/>
          <p:nvPr/>
        </p:nvSpPr>
        <p:spPr>
          <a:xfrm>
            <a:off x="1066800" y="2857500"/>
            <a:ext cx="5752683" cy="266700"/>
          </a:xfrm>
          <a:prstGeom prst="rect">
            <a:avLst/>
          </a:prstGeom>
          <a:noFill/>
          <a:ln/>
        </p:spPr>
        <p:txBody>
          <a:bodyPr vert="horz" wrap="square" lIns="0" tIns="0" rIns="0" bIns="0" rtlCol="0" anchor="t"/>
          <a:lstStyle/>
          <a:p>
            <a:pPr marL="0" indent="0">
              <a:lnSpc>
                <a:spcPts val="2100"/>
              </a:lnSpc>
              <a:buNone/>
            </a:pPr>
            <a:r>
              <a:rPr lang="en-US" sz="1500" b="1" dirty="0">
                <a:solidFill>
                  <a:srgbClr val="4ADE80"/>
                </a:solidFill>
                <a:latin typeface="ui-sans-serif" pitchFamily="34" charset="0"/>
                <a:ea typeface="ui-sans-serif" pitchFamily="34" charset="-122"/>
                <a:cs typeface="ui-sans-serif" pitchFamily="34" charset="-120"/>
              </a:rPr>
              <a:t>2. Definición de Objetivos de Calidad</a:t>
            </a:r>
            <a:endParaRPr lang="en-US" sz="1500" dirty="0"/>
          </a:p>
        </p:txBody>
      </p:sp>
      <p:sp>
        <p:nvSpPr>
          <p:cNvPr id="23" name="Text 7"/>
          <p:cNvSpPr/>
          <p:nvPr/>
        </p:nvSpPr>
        <p:spPr>
          <a:xfrm>
            <a:off x="1085850" y="3200400"/>
            <a:ext cx="5981283"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ui-sans-serif" pitchFamily="34" charset="0"/>
                <a:ea typeface="ui-sans-serif" pitchFamily="34" charset="-122"/>
                <a:cs typeface="ui-sans-serif" pitchFamily="34" charset="-120"/>
              </a:rPr>
              <a:t>2-3 objetivos específicos alineados con ISO/IEC 9126 o CISQ</a:t>
            </a:r>
            <a:endParaRPr lang="en-US" sz="1200" dirty="0"/>
          </a:p>
        </p:txBody>
      </p:sp>
      <p:sp>
        <p:nvSpPr>
          <p:cNvPr id="24" name="Text 8"/>
          <p:cNvSpPr/>
          <p:nvPr/>
        </p:nvSpPr>
        <p:spPr>
          <a:xfrm>
            <a:off x="1085850" y="3467100"/>
            <a:ext cx="5981283"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ui-sans-serif" pitchFamily="34" charset="0"/>
                <a:ea typeface="ui-sans-serif" pitchFamily="34" charset="-122"/>
                <a:cs typeface="ui-sans-serif" pitchFamily="34" charset="-120"/>
              </a:rPr>
              <a:t>Ejemplos: Usabilidad, Seguridad, Eficiencia</a:t>
            </a:r>
            <a:endParaRPr lang="en-US" sz="1200" dirty="0"/>
          </a:p>
        </p:txBody>
      </p:sp>
      <p:sp>
        <p:nvSpPr>
          <p:cNvPr id="25" name="Text 9"/>
          <p:cNvSpPr/>
          <p:nvPr/>
        </p:nvSpPr>
        <p:spPr>
          <a:xfrm>
            <a:off x="1085850" y="3733800"/>
            <a:ext cx="5981283"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ui-sans-serif" pitchFamily="34" charset="0"/>
                <a:ea typeface="ui-sans-serif" pitchFamily="34" charset="-122"/>
                <a:cs typeface="ui-sans-serif" pitchFamily="34" charset="-120"/>
              </a:rPr>
              <a:t>Formule objetivos medibles y relevantes</a:t>
            </a:r>
            <a:endParaRPr lang="en-US" sz="1200" dirty="0"/>
          </a:p>
        </p:txBody>
      </p:sp>
      <p:sp>
        <p:nvSpPr>
          <p:cNvPr id="26" name="Text 10"/>
          <p:cNvSpPr/>
          <p:nvPr/>
        </p:nvSpPr>
        <p:spPr>
          <a:xfrm>
            <a:off x="1066800" y="4191000"/>
            <a:ext cx="5794653" cy="266700"/>
          </a:xfrm>
          <a:prstGeom prst="rect">
            <a:avLst/>
          </a:prstGeom>
          <a:noFill/>
          <a:ln/>
        </p:spPr>
        <p:txBody>
          <a:bodyPr vert="horz" wrap="square" lIns="0" tIns="0" rIns="0" bIns="0" rtlCol="0" anchor="t"/>
          <a:lstStyle/>
          <a:p>
            <a:pPr marL="0" indent="0">
              <a:lnSpc>
                <a:spcPts val="2100"/>
              </a:lnSpc>
              <a:buNone/>
            </a:pPr>
            <a:r>
              <a:rPr lang="en-US" sz="1500" b="1" dirty="0">
                <a:solidFill>
                  <a:srgbClr val="C084FC"/>
                </a:solidFill>
                <a:latin typeface="ui-sans-serif" pitchFamily="34" charset="0"/>
                <a:ea typeface="ui-sans-serif" pitchFamily="34" charset="-122"/>
                <a:cs typeface="ui-sans-serif" pitchFamily="34" charset="-120"/>
              </a:rPr>
              <a:t>3. Identificación de Métricas Aplicables</a:t>
            </a:r>
            <a:endParaRPr lang="en-US" sz="1500" dirty="0"/>
          </a:p>
        </p:txBody>
      </p:sp>
      <p:sp>
        <p:nvSpPr>
          <p:cNvPr id="27" name="Text 11"/>
          <p:cNvSpPr/>
          <p:nvPr/>
        </p:nvSpPr>
        <p:spPr>
          <a:xfrm>
            <a:off x="1085850" y="4533900"/>
            <a:ext cx="6023253"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ui-sans-serif" pitchFamily="34" charset="0"/>
                <a:ea typeface="ui-sans-serif" pitchFamily="34" charset="-122"/>
                <a:cs typeface="ui-sans-serif" pitchFamily="34" charset="-120"/>
              </a:rPr>
              <a:t>Basadas en los objetivos de calidad definidos</a:t>
            </a:r>
            <a:endParaRPr lang="en-US" sz="1200" dirty="0"/>
          </a:p>
        </p:txBody>
      </p:sp>
      <p:sp>
        <p:nvSpPr>
          <p:cNvPr id="28" name="Text 12"/>
          <p:cNvSpPr/>
          <p:nvPr/>
        </p:nvSpPr>
        <p:spPr>
          <a:xfrm>
            <a:off x="1085850" y="4800600"/>
            <a:ext cx="6023253"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ui-sans-serif" pitchFamily="34" charset="0"/>
                <a:ea typeface="ui-sans-serif" pitchFamily="34" charset="-122"/>
                <a:cs typeface="ui-sans-serif" pitchFamily="34" charset="-120"/>
              </a:rPr>
              <a:t>Métricas concretas y medibles</a:t>
            </a:r>
            <a:endParaRPr lang="en-US" sz="1200" dirty="0"/>
          </a:p>
        </p:txBody>
      </p:sp>
      <p:sp>
        <p:nvSpPr>
          <p:cNvPr id="29" name="Text 13"/>
          <p:cNvSpPr/>
          <p:nvPr/>
        </p:nvSpPr>
        <p:spPr>
          <a:xfrm>
            <a:off x="1085850" y="5067300"/>
            <a:ext cx="6023253"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ui-sans-serif" pitchFamily="34" charset="0"/>
                <a:ea typeface="ui-sans-serif" pitchFamily="34" charset="-122"/>
                <a:cs typeface="ui-sans-serif" pitchFamily="34" charset="-120"/>
              </a:rPr>
              <a:t>Ejemplos: Tiempo de carga, complejidad de contraseña, etc.</a:t>
            </a:r>
            <a:endParaRPr lang="en-US" sz="1200" dirty="0"/>
          </a:p>
        </p:txBody>
      </p:sp>
      <p:sp>
        <p:nvSpPr>
          <p:cNvPr id="30" name="Text 14"/>
          <p:cNvSpPr/>
          <p:nvPr/>
        </p:nvSpPr>
        <p:spPr>
          <a:xfrm>
            <a:off x="6858000" y="1524000"/>
            <a:ext cx="5625882" cy="266700"/>
          </a:xfrm>
          <a:prstGeom prst="rect">
            <a:avLst/>
          </a:prstGeom>
          <a:noFill/>
          <a:ln/>
        </p:spPr>
        <p:txBody>
          <a:bodyPr vert="horz" wrap="square" lIns="0" tIns="0" rIns="0" bIns="0" rtlCol="0" anchor="t"/>
          <a:lstStyle/>
          <a:p>
            <a:pPr marL="0" indent="0">
              <a:lnSpc>
                <a:spcPts val="2100"/>
              </a:lnSpc>
              <a:buNone/>
            </a:pPr>
            <a:r>
              <a:rPr lang="en-US" sz="1500" b="1" dirty="0">
                <a:solidFill>
                  <a:srgbClr val="60A5FA"/>
                </a:solidFill>
                <a:latin typeface="ui-sans-serif" pitchFamily="34" charset="0"/>
                <a:ea typeface="ui-sans-serif" pitchFamily="34" charset="-122"/>
                <a:cs typeface="ui-sans-serif" pitchFamily="34" charset="-120"/>
              </a:rPr>
              <a:t>4. Recolección de Datos y Análisis</a:t>
            </a:r>
            <a:endParaRPr lang="en-US" sz="1500" dirty="0"/>
          </a:p>
        </p:txBody>
      </p:sp>
      <p:sp>
        <p:nvSpPr>
          <p:cNvPr id="31" name="Text 15"/>
          <p:cNvSpPr/>
          <p:nvPr/>
        </p:nvSpPr>
        <p:spPr>
          <a:xfrm>
            <a:off x="6877050" y="1866900"/>
            <a:ext cx="5854482"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ui-sans-serif" pitchFamily="34" charset="0"/>
                <a:ea typeface="ui-sans-serif" pitchFamily="34" charset="-122"/>
                <a:cs typeface="ui-sans-serif" pitchFamily="34" charset="-120"/>
              </a:rPr>
              <a:t>Pruebas manuales o simulaciones para recolectar datos</a:t>
            </a:r>
            <a:endParaRPr lang="en-US" sz="1200" dirty="0"/>
          </a:p>
        </p:txBody>
      </p:sp>
      <p:sp>
        <p:nvSpPr>
          <p:cNvPr id="32" name="Text 16"/>
          <p:cNvSpPr/>
          <p:nvPr/>
        </p:nvSpPr>
        <p:spPr>
          <a:xfrm>
            <a:off x="6877050" y="2133600"/>
            <a:ext cx="5854482"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ui-sans-serif" pitchFamily="34" charset="0"/>
                <a:ea typeface="ui-sans-serif" pitchFamily="34" charset="-122"/>
                <a:cs typeface="ui-sans-serif" pitchFamily="34" charset="-120"/>
              </a:rPr>
              <a:t>Uso de herramientas simples (cronómetros, observadores)</a:t>
            </a:r>
            <a:endParaRPr lang="en-US" sz="1200" dirty="0"/>
          </a:p>
        </p:txBody>
      </p:sp>
      <p:sp>
        <p:nvSpPr>
          <p:cNvPr id="33" name="Text 17"/>
          <p:cNvSpPr/>
          <p:nvPr/>
        </p:nvSpPr>
        <p:spPr>
          <a:xfrm>
            <a:off x="6877050" y="2400300"/>
            <a:ext cx="5854482"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ui-sans-serif" pitchFamily="34" charset="0"/>
                <a:ea typeface="ui-sans-serif" pitchFamily="34" charset="-122"/>
                <a:cs typeface="ui-sans-serif" pitchFamily="34" charset="-120"/>
              </a:rPr>
              <a:t>Comparación con expectativas o con otras aplicaciones</a:t>
            </a:r>
            <a:endParaRPr lang="en-US" sz="1200" dirty="0"/>
          </a:p>
        </p:txBody>
      </p:sp>
      <p:sp>
        <p:nvSpPr>
          <p:cNvPr id="34" name="Text 18"/>
          <p:cNvSpPr/>
          <p:nvPr/>
        </p:nvSpPr>
        <p:spPr>
          <a:xfrm>
            <a:off x="6858000" y="2857500"/>
            <a:ext cx="5272445" cy="266700"/>
          </a:xfrm>
          <a:prstGeom prst="rect">
            <a:avLst/>
          </a:prstGeom>
          <a:noFill/>
          <a:ln/>
        </p:spPr>
        <p:txBody>
          <a:bodyPr vert="horz" wrap="square" lIns="0" tIns="0" rIns="0" bIns="0" rtlCol="0" anchor="t"/>
          <a:lstStyle/>
          <a:p>
            <a:pPr marL="0" indent="0">
              <a:lnSpc>
                <a:spcPts val="2100"/>
              </a:lnSpc>
              <a:buNone/>
            </a:pPr>
            <a:r>
              <a:rPr lang="en-US" sz="1500" b="1" dirty="0">
                <a:solidFill>
                  <a:srgbClr val="F87171"/>
                </a:solidFill>
                <a:latin typeface="ui-sans-serif" pitchFamily="34" charset="0"/>
                <a:ea typeface="ui-sans-serif" pitchFamily="34" charset="-122"/>
                <a:cs typeface="ui-sans-serif" pitchFamily="34" charset="-120"/>
              </a:rPr>
              <a:t>5. Discusión y Mejoras Propuestas</a:t>
            </a:r>
            <a:endParaRPr lang="en-US" sz="1500" dirty="0"/>
          </a:p>
        </p:txBody>
      </p:sp>
      <p:sp>
        <p:nvSpPr>
          <p:cNvPr id="35" name="Text 19"/>
          <p:cNvSpPr/>
          <p:nvPr/>
        </p:nvSpPr>
        <p:spPr>
          <a:xfrm>
            <a:off x="6877050" y="3200400"/>
            <a:ext cx="5501045"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ui-sans-serif" pitchFamily="34" charset="0"/>
                <a:ea typeface="ui-sans-serif" pitchFamily="34" charset="-122"/>
                <a:cs typeface="ui-sans-serif" pitchFamily="34" charset="-120"/>
              </a:rPr>
              <a:t>Presentación de hallazgos por parte de los estudiantes</a:t>
            </a:r>
            <a:endParaRPr lang="en-US" sz="1200" dirty="0"/>
          </a:p>
        </p:txBody>
      </p:sp>
      <p:sp>
        <p:nvSpPr>
          <p:cNvPr id="36" name="Text 20"/>
          <p:cNvSpPr/>
          <p:nvPr/>
        </p:nvSpPr>
        <p:spPr>
          <a:xfrm>
            <a:off x="6877050" y="3467100"/>
            <a:ext cx="5501045"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ui-sans-serif" pitchFamily="34" charset="0"/>
                <a:ea typeface="ui-sans-serif" pitchFamily="34" charset="-122"/>
                <a:cs typeface="ui-sans-serif" pitchFamily="34" charset="-120"/>
              </a:rPr>
              <a:t>Identificación de áreas de mejora</a:t>
            </a:r>
            <a:endParaRPr lang="en-US" sz="1200" dirty="0"/>
          </a:p>
        </p:txBody>
      </p:sp>
      <p:sp>
        <p:nvSpPr>
          <p:cNvPr id="37" name="Text 21"/>
          <p:cNvSpPr/>
          <p:nvPr/>
        </p:nvSpPr>
        <p:spPr>
          <a:xfrm>
            <a:off x="6877050" y="3733800"/>
            <a:ext cx="5501045"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ui-sans-serif" pitchFamily="34" charset="0"/>
                <a:ea typeface="ui-sans-serif" pitchFamily="34" charset="-122"/>
                <a:cs typeface="ui-sans-serif" pitchFamily="34" charset="-120"/>
              </a:rPr>
              <a:t>Propuesta de soluciones justificadas con datos</a:t>
            </a:r>
            <a:endParaRPr lang="en-US" sz="1200" dirty="0"/>
          </a:p>
        </p:txBody>
      </p:sp>
      <p:sp>
        <p:nvSpPr>
          <p:cNvPr id="38" name="Text 22"/>
          <p:cNvSpPr/>
          <p:nvPr/>
        </p:nvSpPr>
        <p:spPr>
          <a:xfrm>
            <a:off x="6610350" y="4343400"/>
            <a:ext cx="51816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FACC15"/>
                </a:solidFill>
                <a:latin typeface="ui-sans-serif" pitchFamily="34" charset="0"/>
                <a:ea typeface="ui-sans-serif" pitchFamily="34" charset="-122"/>
                <a:cs typeface="ui-sans-serif" pitchFamily="34" charset="-120"/>
              </a:rPr>
              <a:t>Consejo para el Docente</a:t>
            </a:r>
            <a:endParaRPr lang="en-US" sz="1350" dirty="0"/>
          </a:p>
        </p:txBody>
      </p:sp>
      <p:sp>
        <p:nvSpPr>
          <p:cNvPr id="39" name="Text 23"/>
          <p:cNvSpPr/>
          <p:nvPr/>
        </p:nvSpPr>
        <p:spPr>
          <a:xfrm>
            <a:off x="6400800" y="4686300"/>
            <a:ext cx="5181600" cy="6858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Enfatice cómo la aplicación de estándares ayuda a objetivar la evaluación y a comunicar la calidad de manera efectiva. Establezca un tiempo límite para cada fase del ejercicio.</a:t>
            </a:r>
            <a:endParaRPr lang="en-US" sz="1200" dirty="0"/>
          </a:p>
        </p:txBody>
      </p:sp>
      <p:sp>
        <p:nvSpPr>
          <p:cNvPr id="40" name="Text 24"/>
          <p:cNvSpPr/>
          <p:nvPr/>
        </p:nvSpPr>
        <p:spPr>
          <a:xfrm>
            <a:off x="457200" y="6210300"/>
            <a:ext cx="2577286"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Ejercicio Práctico para Docentes</a:t>
            </a:r>
            <a:endParaRPr lang="en-US" sz="1050" dirty="0"/>
          </a:p>
        </p:txBody>
      </p:sp>
      <p:sp>
        <p:nvSpPr>
          <p:cNvPr id="41" name="Text 25"/>
          <p:cNvSpPr/>
          <p:nvPr/>
        </p:nvSpPr>
        <p:spPr>
          <a:xfrm>
            <a:off x="10657433" y="6210300"/>
            <a:ext cx="1292840"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Página 21 de 25</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914400"/>
            <a:ext cx="914400" cy="38100"/>
          </a:xfrm>
          <a:prstGeom prst="rect">
            <a:avLst/>
          </a:prstGeom>
        </p:spPr>
      </p:pic>
      <p:pic>
        <p:nvPicPr>
          <p:cNvPr id="4" name="Image 2" descr="preencoded.png"/>
          <p:cNvPicPr>
            <a:picLocks noChangeAspect="1"/>
          </p:cNvPicPr>
          <p:nvPr/>
        </p:nvPicPr>
        <p:blipFill>
          <a:blip r:embed="rId5"/>
          <a:stretch>
            <a:fillRect/>
          </a:stretch>
        </p:blipFill>
        <p:spPr>
          <a:xfrm>
            <a:off x="457200" y="1181100"/>
            <a:ext cx="457200" cy="457200"/>
          </a:xfrm>
          <a:prstGeom prst="rect">
            <a:avLst/>
          </a:prstGeom>
        </p:spPr>
      </p:pic>
      <p:pic>
        <p:nvPicPr>
          <p:cNvPr id="5" name="Image 3" descr="preencoded.png"/>
          <p:cNvPicPr>
            <a:picLocks noChangeAspect="1"/>
          </p:cNvPicPr>
          <p:nvPr/>
        </p:nvPicPr>
        <p:blipFill>
          <a:blip r:embed="rId6"/>
          <a:stretch>
            <a:fillRect/>
          </a:stretch>
        </p:blipFill>
        <p:spPr>
          <a:xfrm>
            <a:off x="457200" y="2895600"/>
            <a:ext cx="457200" cy="457200"/>
          </a:xfrm>
          <a:prstGeom prst="rect">
            <a:avLst/>
          </a:prstGeom>
        </p:spPr>
      </p:pic>
      <p:pic>
        <p:nvPicPr>
          <p:cNvPr id="6" name="Image 4" descr="preencoded.png"/>
          <p:cNvPicPr>
            <a:picLocks noChangeAspect="1"/>
          </p:cNvPicPr>
          <p:nvPr/>
        </p:nvPicPr>
        <p:blipFill>
          <a:blip r:embed="rId7"/>
          <a:stretch>
            <a:fillRect/>
          </a:stretch>
        </p:blipFill>
        <p:spPr>
          <a:xfrm>
            <a:off x="6096000" y="1181100"/>
            <a:ext cx="5638800" cy="4876800"/>
          </a:xfrm>
          <a:prstGeom prst="rect">
            <a:avLst/>
          </a:prstGeom>
        </p:spPr>
      </p:pic>
      <p:pic>
        <p:nvPicPr>
          <p:cNvPr id="7" name="Image 5" descr="preencoded.png"/>
          <p:cNvPicPr>
            <a:picLocks noChangeAspect="1"/>
          </p:cNvPicPr>
          <p:nvPr/>
        </p:nvPicPr>
        <p:blipFill>
          <a:blip r:embed="rId8"/>
          <a:stretch>
            <a:fillRect/>
          </a:stretch>
        </p:blipFill>
        <p:spPr>
          <a:xfrm>
            <a:off x="6400800" y="1181100"/>
            <a:ext cx="457200" cy="457200"/>
          </a:xfrm>
          <a:prstGeom prst="rect">
            <a:avLst/>
          </a:prstGeom>
        </p:spPr>
      </p:pic>
      <p:pic>
        <p:nvPicPr>
          <p:cNvPr id="8" name="Image 6" descr="preencoded.png"/>
          <p:cNvPicPr>
            <a:picLocks noChangeAspect="1"/>
          </p:cNvPicPr>
          <p:nvPr/>
        </p:nvPicPr>
        <p:blipFill>
          <a:blip r:embed="rId9"/>
          <a:stretch>
            <a:fillRect/>
          </a:stretch>
        </p:blipFill>
        <p:spPr>
          <a:xfrm>
            <a:off x="6400800" y="3390900"/>
            <a:ext cx="457200" cy="457200"/>
          </a:xfrm>
          <a:prstGeom prst="rect">
            <a:avLst/>
          </a:prstGeom>
        </p:spPr>
      </p:pic>
      <p:sp>
        <p:nvSpPr>
          <p:cNvPr id="9" name="Text 0"/>
          <p:cNvSpPr/>
          <p:nvPr/>
        </p:nvSpPr>
        <p:spPr>
          <a:xfrm>
            <a:off x="457200" y="457200"/>
            <a:ext cx="1353312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97316"/>
                </a:solidFill>
                <a:latin typeface="ui-sans-serif" pitchFamily="34" charset="0"/>
                <a:ea typeface="ui-sans-serif" pitchFamily="34" charset="-122"/>
                <a:cs typeface="ui-sans-serif" pitchFamily="34" charset="-120"/>
              </a:rPr>
              <a:t>Implementación del Taller Estudiantil</a:t>
            </a:r>
            <a:endParaRPr lang="en-US" sz="2700" dirty="0"/>
          </a:p>
        </p:txBody>
      </p:sp>
      <p:sp>
        <p:nvSpPr>
          <p:cNvPr id="10" name="Text 1"/>
          <p:cNvSpPr/>
          <p:nvPr/>
        </p:nvSpPr>
        <p:spPr>
          <a:xfrm>
            <a:off x="619423" y="1276350"/>
            <a:ext cx="159127" cy="266700"/>
          </a:xfrm>
          <a:prstGeom prst="rect">
            <a:avLst/>
          </a:prstGeom>
          <a:noFill/>
          <a:ln/>
        </p:spPr>
        <p:txBody>
          <a:bodyPr vert="horz" wrap="square" lIns="0" tIns="0" rIns="0" bIns="0" rtlCol="0" anchor="t"/>
          <a:lstStyle/>
          <a:p>
            <a:pPr marL="0" indent="0">
              <a:lnSpc>
                <a:spcPts val="2100"/>
              </a:lnSpc>
              <a:buNone/>
            </a:pPr>
            <a:r>
              <a:rPr lang="en-US" sz="1500" b="1" dirty="0">
                <a:solidFill>
                  <a:srgbClr val="FFFFFF"/>
                </a:solidFill>
                <a:latin typeface="ui-sans-serif" pitchFamily="34" charset="0"/>
                <a:ea typeface="ui-sans-serif" pitchFamily="34" charset="-122"/>
                <a:cs typeface="ui-sans-serif" pitchFamily="34" charset="-120"/>
              </a:rPr>
              <a:t>1</a:t>
            </a:r>
            <a:endParaRPr lang="en-US" sz="1500" dirty="0"/>
          </a:p>
        </p:txBody>
      </p:sp>
      <p:sp>
        <p:nvSpPr>
          <p:cNvPr id="11" name="Text 2"/>
          <p:cNvSpPr/>
          <p:nvPr/>
        </p:nvSpPr>
        <p:spPr>
          <a:xfrm>
            <a:off x="1066800" y="1181100"/>
            <a:ext cx="47244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C084FC"/>
                </a:solidFill>
                <a:latin typeface="ui-sans-serif" pitchFamily="34" charset="0"/>
                <a:ea typeface="ui-sans-serif" pitchFamily="34" charset="-122"/>
                <a:cs typeface="ui-sans-serif" pitchFamily="34" charset="-120"/>
              </a:rPr>
              <a:t>Formación de Grupos</a:t>
            </a:r>
            <a:endParaRPr lang="en-US" sz="1500" dirty="0"/>
          </a:p>
        </p:txBody>
      </p:sp>
      <p:sp>
        <p:nvSpPr>
          <p:cNvPr id="12" name="Text 3"/>
          <p:cNvSpPr/>
          <p:nvPr/>
        </p:nvSpPr>
        <p:spPr>
          <a:xfrm>
            <a:off x="1162050" y="1524000"/>
            <a:ext cx="580644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ui-sans-serif" pitchFamily="34" charset="0"/>
                <a:ea typeface="ui-sans-serif" pitchFamily="34" charset="-122"/>
                <a:cs typeface="ui-sans-serif" pitchFamily="34" charset="-120"/>
              </a:rPr>
              <a:t>Dividir la clase en grupos pequeños (3-4 estudiantes)</a:t>
            </a:r>
            <a:endParaRPr lang="en-US" sz="1200" dirty="0"/>
          </a:p>
        </p:txBody>
      </p:sp>
      <p:sp>
        <p:nvSpPr>
          <p:cNvPr id="13" name="Text 4"/>
          <p:cNvSpPr/>
          <p:nvPr/>
        </p:nvSpPr>
        <p:spPr>
          <a:xfrm>
            <a:off x="1162050" y="1752600"/>
            <a:ext cx="4838700" cy="4572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ui-sans-serif" pitchFamily="34" charset="0"/>
                <a:ea typeface="ui-sans-serif" pitchFamily="34" charset="-122"/>
                <a:cs typeface="ui-sans-serif" pitchFamily="34" charset="-120"/>
              </a:rPr>
              <a:t>Cada grupo seleccionará una plataforma de streaming (Netflix, Spotify, etc.)</a:t>
            </a:r>
            <a:endParaRPr lang="en-US" sz="1200" dirty="0"/>
          </a:p>
        </p:txBody>
      </p:sp>
      <p:sp>
        <p:nvSpPr>
          <p:cNvPr id="14" name="Text 5"/>
          <p:cNvSpPr/>
          <p:nvPr/>
        </p:nvSpPr>
        <p:spPr>
          <a:xfrm>
            <a:off x="1162050" y="2209800"/>
            <a:ext cx="4838700" cy="4572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ui-sans-serif" pitchFamily="34" charset="0"/>
                <a:ea typeface="ui-sans-serif" pitchFamily="34" charset="-122"/>
                <a:cs typeface="ui-sans-serif" pitchFamily="34" charset="-120"/>
              </a:rPr>
              <a:t>Asignar una característica de calidad principal a cada grupo (Funcionalidad, Usabilidad, Rendimiento)</a:t>
            </a:r>
            <a:endParaRPr lang="en-US" sz="1200" dirty="0"/>
          </a:p>
        </p:txBody>
      </p:sp>
      <p:sp>
        <p:nvSpPr>
          <p:cNvPr id="15" name="Text 6"/>
          <p:cNvSpPr/>
          <p:nvPr/>
        </p:nvSpPr>
        <p:spPr>
          <a:xfrm>
            <a:off x="619423" y="2990850"/>
            <a:ext cx="159127" cy="266700"/>
          </a:xfrm>
          <a:prstGeom prst="rect">
            <a:avLst/>
          </a:prstGeom>
          <a:noFill/>
          <a:ln/>
        </p:spPr>
        <p:txBody>
          <a:bodyPr vert="horz" wrap="square" lIns="0" tIns="0" rIns="0" bIns="0" rtlCol="0" anchor="t"/>
          <a:lstStyle/>
          <a:p>
            <a:pPr marL="0" indent="0">
              <a:lnSpc>
                <a:spcPts val="2100"/>
              </a:lnSpc>
              <a:buNone/>
            </a:pPr>
            <a:r>
              <a:rPr lang="en-US" sz="1500" b="1" dirty="0">
                <a:solidFill>
                  <a:srgbClr val="FFFFFF"/>
                </a:solidFill>
                <a:latin typeface="ui-sans-serif" pitchFamily="34" charset="0"/>
                <a:ea typeface="ui-sans-serif" pitchFamily="34" charset="-122"/>
                <a:cs typeface="ui-sans-serif" pitchFamily="34" charset="-120"/>
              </a:rPr>
              <a:t>2</a:t>
            </a:r>
            <a:endParaRPr lang="en-US" sz="1500" dirty="0"/>
          </a:p>
        </p:txBody>
      </p:sp>
      <p:sp>
        <p:nvSpPr>
          <p:cNvPr id="16" name="Text 7"/>
          <p:cNvSpPr/>
          <p:nvPr/>
        </p:nvSpPr>
        <p:spPr>
          <a:xfrm>
            <a:off x="1066800" y="2895600"/>
            <a:ext cx="5669280" cy="266700"/>
          </a:xfrm>
          <a:prstGeom prst="rect">
            <a:avLst/>
          </a:prstGeom>
          <a:noFill/>
          <a:ln/>
        </p:spPr>
        <p:txBody>
          <a:bodyPr vert="horz" wrap="square" lIns="0" tIns="0" rIns="0" bIns="0" rtlCol="0" anchor="t"/>
          <a:lstStyle/>
          <a:p>
            <a:pPr marL="0" indent="0">
              <a:lnSpc>
                <a:spcPts val="2100"/>
              </a:lnSpc>
              <a:buNone/>
            </a:pPr>
            <a:r>
              <a:rPr lang="en-US" sz="1500" b="1" dirty="0">
                <a:solidFill>
                  <a:srgbClr val="FB923C"/>
                </a:solidFill>
                <a:latin typeface="ui-sans-serif" pitchFamily="34" charset="0"/>
                <a:ea typeface="ui-sans-serif" pitchFamily="34" charset="-122"/>
                <a:cs typeface="ui-sans-serif" pitchFamily="34" charset="-120"/>
              </a:rPr>
              <a:t>Identificación de Subcaracterísticas</a:t>
            </a:r>
            <a:endParaRPr lang="en-US" sz="1500" dirty="0"/>
          </a:p>
        </p:txBody>
      </p:sp>
      <p:sp>
        <p:nvSpPr>
          <p:cNvPr id="17" name="Text 8"/>
          <p:cNvSpPr/>
          <p:nvPr/>
        </p:nvSpPr>
        <p:spPr>
          <a:xfrm>
            <a:off x="1162050" y="3238500"/>
            <a:ext cx="4838700" cy="4572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ui-sans-serif" pitchFamily="34" charset="0"/>
                <a:ea typeface="ui-sans-serif" pitchFamily="34" charset="-122"/>
                <a:cs typeface="ui-sans-serif" pitchFamily="34" charset="-120"/>
              </a:rPr>
              <a:t>Dentro de la característica asignada, cada grupo identificará 3 subcaracterísticas clave</a:t>
            </a:r>
            <a:endParaRPr lang="en-US" sz="1200" dirty="0"/>
          </a:p>
        </p:txBody>
      </p:sp>
      <p:sp>
        <p:nvSpPr>
          <p:cNvPr id="18" name="Text 9"/>
          <p:cNvSpPr/>
          <p:nvPr/>
        </p:nvSpPr>
        <p:spPr>
          <a:xfrm>
            <a:off x="1162050" y="3695700"/>
            <a:ext cx="4838700" cy="14097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ui-sans-serif" pitchFamily="34" charset="0"/>
                <a:ea typeface="ui-sans-serif" pitchFamily="34" charset="-122"/>
                <a:cs typeface="ui-sans-serif" pitchFamily="34" charset="-120"/>
              </a:rPr>
              <a:t>Ejemplos para cada característica:</a:t>
            </a:r>
            <a:endParaRPr lang="en-US" sz="1200" dirty="0"/>
          </a:p>
        </p:txBody>
      </p:sp>
      <p:sp>
        <p:nvSpPr>
          <p:cNvPr id="19" name="Text 10"/>
          <p:cNvSpPr/>
          <p:nvPr/>
        </p:nvSpPr>
        <p:spPr>
          <a:xfrm>
            <a:off x="6563023" y="1276350"/>
            <a:ext cx="159127" cy="266700"/>
          </a:xfrm>
          <a:prstGeom prst="rect">
            <a:avLst/>
          </a:prstGeom>
          <a:noFill/>
          <a:ln/>
        </p:spPr>
        <p:txBody>
          <a:bodyPr vert="horz" wrap="square" lIns="0" tIns="0" rIns="0" bIns="0" rtlCol="0" anchor="t"/>
          <a:lstStyle/>
          <a:p>
            <a:pPr marL="0" indent="0">
              <a:lnSpc>
                <a:spcPts val="2100"/>
              </a:lnSpc>
              <a:buNone/>
            </a:pPr>
            <a:r>
              <a:rPr lang="en-US" sz="1500" b="1" dirty="0">
                <a:solidFill>
                  <a:srgbClr val="FFFFFF"/>
                </a:solidFill>
                <a:latin typeface="ui-sans-serif" pitchFamily="34" charset="0"/>
                <a:ea typeface="ui-sans-serif" pitchFamily="34" charset="-122"/>
                <a:cs typeface="ui-sans-serif" pitchFamily="34" charset="-120"/>
              </a:rPr>
              <a:t>3</a:t>
            </a:r>
            <a:endParaRPr lang="en-US" sz="1500" dirty="0"/>
          </a:p>
        </p:txBody>
      </p:sp>
      <p:sp>
        <p:nvSpPr>
          <p:cNvPr id="20" name="Text 11"/>
          <p:cNvSpPr/>
          <p:nvPr/>
        </p:nvSpPr>
        <p:spPr>
          <a:xfrm>
            <a:off x="7010400" y="1181100"/>
            <a:ext cx="5669280" cy="266700"/>
          </a:xfrm>
          <a:prstGeom prst="rect">
            <a:avLst/>
          </a:prstGeom>
          <a:noFill/>
          <a:ln/>
        </p:spPr>
        <p:txBody>
          <a:bodyPr vert="horz" wrap="square" lIns="0" tIns="0" rIns="0" bIns="0" rtlCol="0" anchor="t"/>
          <a:lstStyle/>
          <a:p>
            <a:pPr marL="0" indent="0">
              <a:lnSpc>
                <a:spcPts val="2100"/>
              </a:lnSpc>
              <a:buNone/>
            </a:pPr>
            <a:r>
              <a:rPr lang="en-US" sz="1500" b="1" dirty="0">
                <a:solidFill>
                  <a:srgbClr val="4ADE80"/>
                </a:solidFill>
                <a:latin typeface="ui-sans-serif" pitchFamily="34" charset="0"/>
                <a:ea typeface="ui-sans-serif" pitchFamily="34" charset="-122"/>
                <a:cs typeface="ui-sans-serif" pitchFamily="34" charset="-120"/>
              </a:rPr>
              <a:t>Propuesta de Métricas</a:t>
            </a:r>
            <a:endParaRPr lang="en-US" sz="1500" dirty="0"/>
          </a:p>
        </p:txBody>
      </p:sp>
      <p:sp>
        <p:nvSpPr>
          <p:cNvPr id="21" name="Text 12"/>
          <p:cNvSpPr/>
          <p:nvPr/>
        </p:nvSpPr>
        <p:spPr>
          <a:xfrm>
            <a:off x="7105650" y="1524000"/>
            <a:ext cx="4838700" cy="4572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ui-sans-serif" pitchFamily="34" charset="0"/>
                <a:ea typeface="ui-sans-serif" pitchFamily="34" charset="-122"/>
                <a:cs typeface="ui-sans-serif" pitchFamily="34" charset="-120"/>
              </a:rPr>
              <a:t>Para cada una de las 3 subcaracterísticas identificadas, el grupo propondrá 2 métricas específicas</a:t>
            </a:r>
            <a:endParaRPr lang="en-US" sz="1200" dirty="0"/>
          </a:p>
        </p:txBody>
      </p:sp>
      <p:sp>
        <p:nvSpPr>
          <p:cNvPr id="22" name="Text 13"/>
          <p:cNvSpPr/>
          <p:nvPr/>
        </p:nvSpPr>
        <p:spPr>
          <a:xfrm>
            <a:off x="7105650" y="1981200"/>
            <a:ext cx="4838700" cy="4572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ui-sans-serif" pitchFamily="34" charset="0"/>
                <a:ea typeface="ui-sans-serif" pitchFamily="34" charset="-122"/>
                <a:cs typeface="ui-sans-serif" pitchFamily="34" charset="-120"/>
              </a:rPr>
              <a:t>Las métricas deben ser cuantificables y realistas para una evaluación heurística</a:t>
            </a:r>
            <a:endParaRPr lang="en-US" sz="1200" dirty="0"/>
          </a:p>
        </p:txBody>
      </p:sp>
      <p:sp>
        <p:nvSpPr>
          <p:cNvPr id="23" name="Text 14"/>
          <p:cNvSpPr/>
          <p:nvPr/>
        </p:nvSpPr>
        <p:spPr>
          <a:xfrm>
            <a:off x="7105650" y="2438400"/>
            <a:ext cx="4838700" cy="7239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ui-sans-serif" pitchFamily="34" charset="0"/>
                <a:ea typeface="ui-sans-serif" pitchFamily="34" charset="-122"/>
                <a:cs typeface="ui-sans-serif" pitchFamily="34" charset="-120"/>
              </a:rPr>
              <a:t>Ejemplos para Funcionalidad - Adecuación funcional:</a:t>
            </a:r>
            <a:endParaRPr lang="en-US" sz="1200" dirty="0"/>
          </a:p>
        </p:txBody>
      </p:sp>
      <p:sp>
        <p:nvSpPr>
          <p:cNvPr id="24" name="Text 15"/>
          <p:cNvSpPr/>
          <p:nvPr/>
        </p:nvSpPr>
        <p:spPr>
          <a:xfrm>
            <a:off x="6563023" y="3486150"/>
            <a:ext cx="159127" cy="266700"/>
          </a:xfrm>
          <a:prstGeom prst="rect">
            <a:avLst/>
          </a:prstGeom>
          <a:noFill/>
          <a:ln/>
        </p:spPr>
        <p:txBody>
          <a:bodyPr vert="horz" wrap="square" lIns="0" tIns="0" rIns="0" bIns="0" rtlCol="0" anchor="t"/>
          <a:lstStyle/>
          <a:p>
            <a:pPr marL="0" indent="0">
              <a:lnSpc>
                <a:spcPts val="2100"/>
              </a:lnSpc>
              <a:buNone/>
            </a:pPr>
            <a:r>
              <a:rPr lang="en-US" sz="1500" b="1" dirty="0">
                <a:solidFill>
                  <a:srgbClr val="FFFFFF"/>
                </a:solidFill>
                <a:latin typeface="ui-sans-serif" pitchFamily="34" charset="0"/>
                <a:ea typeface="ui-sans-serif" pitchFamily="34" charset="-122"/>
                <a:cs typeface="ui-sans-serif" pitchFamily="34" charset="-120"/>
              </a:rPr>
              <a:t>4</a:t>
            </a:r>
            <a:endParaRPr lang="en-US" sz="1500" dirty="0"/>
          </a:p>
        </p:txBody>
      </p:sp>
      <p:sp>
        <p:nvSpPr>
          <p:cNvPr id="25" name="Text 16"/>
          <p:cNvSpPr/>
          <p:nvPr/>
        </p:nvSpPr>
        <p:spPr>
          <a:xfrm>
            <a:off x="7010400" y="3390900"/>
            <a:ext cx="5669280" cy="266700"/>
          </a:xfrm>
          <a:prstGeom prst="rect">
            <a:avLst/>
          </a:prstGeom>
          <a:noFill/>
          <a:ln/>
        </p:spPr>
        <p:txBody>
          <a:bodyPr vert="horz" wrap="square" lIns="0" tIns="0" rIns="0" bIns="0" rtlCol="0" anchor="t"/>
          <a:lstStyle/>
          <a:p>
            <a:pPr marL="0" indent="0">
              <a:lnSpc>
                <a:spcPts val="2100"/>
              </a:lnSpc>
              <a:buNone/>
            </a:pPr>
            <a:r>
              <a:rPr lang="en-US" sz="1500" b="1" dirty="0">
                <a:solidFill>
                  <a:srgbClr val="60A5FA"/>
                </a:solidFill>
                <a:latin typeface="ui-sans-serif" pitchFamily="34" charset="0"/>
                <a:ea typeface="ui-sans-serif" pitchFamily="34" charset="-122"/>
                <a:cs typeface="ui-sans-serif" pitchFamily="34" charset="-120"/>
              </a:rPr>
              <a:t>Presentación y Discusión</a:t>
            </a:r>
            <a:endParaRPr lang="en-US" sz="1500" dirty="0"/>
          </a:p>
        </p:txBody>
      </p:sp>
      <p:sp>
        <p:nvSpPr>
          <p:cNvPr id="26" name="Text 17"/>
          <p:cNvSpPr/>
          <p:nvPr/>
        </p:nvSpPr>
        <p:spPr>
          <a:xfrm>
            <a:off x="7105650" y="3733800"/>
            <a:ext cx="4838700" cy="4572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ui-sans-serif" pitchFamily="34" charset="0"/>
                <a:ea typeface="ui-sans-serif" pitchFamily="34" charset="-122"/>
                <a:cs typeface="ui-sans-serif" pitchFamily="34" charset="-120"/>
              </a:rPr>
              <a:t>Cada grupo presentará sus hallazgos y métricas propuestas</a:t>
            </a:r>
            <a:endParaRPr lang="en-US" sz="1200" dirty="0"/>
          </a:p>
        </p:txBody>
      </p:sp>
      <p:sp>
        <p:nvSpPr>
          <p:cNvPr id="27" name="Text 18"/>
          <p:cNvSpPr/>
          <p:nvPr/>
        </p:nvSpPr>
        <p:spPr>
          <a:xfrm>
            <a:off x="7105650" y="4191000"/>
            <a:ext cx="4838700" cy="4572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ui-sans-serif" pitchFamily="34" charset="0"/>
                <a:ea typeface="ui-sans-serif" pitchFamily="34" charset="-122"/>
                <a:cs typeface="ui-sans-serif" pitchFamily="34" charset="-120"/>
              </a:rPr>
              <a:t>Realizar discusión grupal para comparar enfoques y métricas</a:t>
            </a:r>
            <a:endParaRPr lang="en-US" sz="1200" dirty="0"/>
          </a:p>
        </p:txBody>
      </p:sp>
      <p:sp>
        <p:nvSpPr>
          <p:cNvPr id="28" name="Text 19"/>
          <p:cNvSpPr/>
          <p:nvPr/>
        </p:nvSpPr>
        <p:spPr>
          <a:xfrm>
            <a:off x="7105650" y="4648200"/>
            <a:ext cx="580644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D1D5DB"/>
                </a:solidFill>
                <a:latin typeface="ui-sans-serif" pitchFamily="34" charset="0"/>
                <a:ea typeface="ui-sans-serif" pitchFamily="34" charset="-122"/>
                <a:cs typeface="ui-sans-serif" pitchFamily="34" charset="-120"/>
              </a:rPr>
              <a:t>Documentar resultados y conclusiones para informe final</a:t>
            </a:r>
            <a:endParaRPr lang="en-US" sz="1200" dirty="0"/>
          </a:p>
        </p:txBody>
      </p:sp>
      <p:sp>
        <p:nvSpPr>
          <p:cNvPr id="29" name="Text 20"/>
          <p:cNvSpPr/>
          <p:nvPr/>
        </p:nvSpPr>
        <p:spPr>
          <a:xfrm>
            <a:off x="457200" y="6210300"/>
            <a:ext cx="2087761"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24 de Noviembre de 2025</a:t>
            </a:r>
            <a:endParaRPr lang="en-US" sz="1050" dirty="0"/>
          </a:p>
        </p:txBody>
      </p:sp>
      <p:sp>
        <p:nvSpPr>
          <p:cNvPr id="30" name="Text 21"/>
          <p:cNvSpPr/>
          <p:nvPr/>
        </p:nvSpPr>
        <p:spPr>
          <a:xfrm>
            <a:off x="10657433" y="6210300"/>
            <a:ext cx="1292840"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Página 22 de 25</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914400"/>
            <a:ext cx="914400" cy="38100"/>
          </a:xfrm>
          <a:prstGeom prst="rect">
            <a:avLst/>
          </a:prstGeom>
        </p:spPr>
      </p:pic>
      <p:pic>
        <p:nvPicPr>
          <p:cNvPr id="4" name="Image 2" descr="preencoded.png"/>
          <p:cNvPicPr>
            <a:picLocks noChangeAspect="1"/>
          </p:cNvPicPr>
          <p:nvPr/>
        </p:nvPicPr>
        <p:blipFill>
          <a:blip r:embed="rId5"/>
          <a:stretch>
            <a:fillRect/>
          </a:stretch>
        </p:blipFill>
        <p:spPr>
          <a:xfrm>
            <a:off x="457200" y="1181100"/>
            <a:ext cx="5524500" cy="4800600"/>
          </a:xfrm>
          <a:prstGeom prst="rect">
            <a:avLst/>
          </a:prstGeom>
        </p:spPr>
      </p:pic>
      <p:pic>
        <p:nvPicPr>
          <p:cNvPr id="5" name="Image 3" descr="preencoded.png"/>
          <p:cNvPicPr>
            <a:picLocks noChangeAspect="1"/>
          </p:cNvPicPr>
          <p:nvPr/>
        </p:nvPicPr>
        <p:blipFill>
          <a:blip r:embed="rId6"/>
          <a:stretch>
            <a:fillRect/>
          </a:stretch>
        </p:blipFill>
        <p:spPr>
          <a:xfrm>
            <a:off x="685800" y="1438275"/>
            <a:ext cx="171450" cy="228600"/>
          </a:xfrm>
          <a:prstGeom prst="rect">
            <a:avLst/>
          </a:prstGeom>
        </p:spPr>
      </p:pic>
      <p:pic>
        <p:nvPicPr>
          <p:cNvPr id="6" name="Image 4" descr="preencoded.png"/>
          <p:cNvPicPr>
            <a:picLocks noChangeAspect="1"/>
          </p:cNvPicPr>
          <p:nvPr/>
        </p:nvPicPr>
        <p:blipFill>
          <a:blip r:embed="rId7"/>
          <a:stretch>
            <a:fillRect/>
          </a:stretch>
        </p:blipFill>
        <p:spPr>
          <a:xfrm>
            <a:off x="685800" y="1905000"/>
            <a:ext cx="381000" cy="381000"/>
          </a:xfrm>
          <a:prstGeom prst="rect">
            <a:avLst/>
          </a:prstGeom>
        </p:spPr>
      </p:pic>
      <p:pic>
        <p:nvPicPr>
          <p:cNvPr id="7" name="Image 5" descr="preencoded.png"/>
          <p:cNvPicPr>
            <a:picLocks noChangeAspect="1"/>
          </p:cNvPicPr>
          <p:nvPr/>
        </p:nvPicPr>
        <p:blipFill>
          <a:blip r:embed="rId8"/>
          <a:stretch>
            <a:fillRect/>
          </a:stretch>
        </p:blipFill>
        <p:spPr>
          <a:xfrm>
            <a:off x="800100" y="2019300"/>
            <a:ext cx="152400" cy="152400"/>
          </a:xfrm>
          <a:prstGeom prst="rect">
            <a:avLst/>
          </a:prstGeom>
        </p:spPr>
      </p:pic>
      <p:pic>
        <p:nvPicPr>
          <p:cNvPr id="8" name="Image 6" descr="preencoded.png"/>
          <p:cNvPicPr>
            <a:picLocks noChangeAspect="1"/>
          </p:cNvPicPr>
          <p:nvPr/>
        </p:nvPicPr>
        <p:blipFill>
          <a:blip r:embed="rId9"/>
          <a:stretch>
            <a:fillRect/>
          </a:stretch>
        </p:blipFill>
        <p:spPr>
          <a:xfrm>
            <a:off x="685800" y="2781300"/>
            <a:ext cx="381000" cy="381000"/>
          </a:xfrm>
          <a:prstGeom prst="rect">
            <a:avLst/>
          </a:prstGeom>
        </p:spPr>
      </p:pic>
      <p:pic>
        <p:nvPicPr>
          <p:cNvPr id="9" name="Image 7" descr="preencoded.png"/>
          <p:cNvPicPr>
            <a:picLocks noChangeAspect="1"/>
          </p:cNvPicPr>
          <p:nvPr/>
        </p:nvPicPr>
        <p:blipFill>
          <a:blip r:embed="rId10"/>
          <a:stretch>
            <a:fillRect/>
          </a:stretch>
        </p:blipFill>
        <p:spPr>
          <a:xfrm>
            <a:off x="800100" y="2895600"/>
            <a:ext cx="152400" cy="152400"/>
          </a:xfrm>
          <a:prstGeom prst="rect">
            <a:avLst/>
          </a:prstGeom>
        </p:spPr>
      </p:pic>
      <p:pic>
        <p:nvPicPr>
          <p:cNvPr id="10" name="Image 8" descr="preencoded.png"/>
          <p:cNvPicPr>
            <a:picLocks noChangeAspect="1"/>
          </p:cNvPicPr>
          <p:nvPr/>
        </p:nvPicPr>
        <p:blipFill>
          <a:blip r:embed="rId11"/>
          <a:stretch>
            <a:fillRect/>
          </a:stretch>
        </p:blipFill>
        <p:spPr>
          <a:xfrm>
            <a:off x="685800" y="3657600"/>
            <a:ext cx="381000" cy="381000"/>
          </a:xfrm>
          <a:prstGeom prst="rect">
            <a:avLst/>
          </a:prstGeom>
        </p:spPr>
      </p:pic>
      <p:pic>
        <p:nvPicPr>
          <p:cNvPr id="11" name="Image 9" descr="preencoded.png"/>
          <p:cNvPicPr>
            <a:picLocks noChangeAspect="1"/>
          </p:cNvPicPr>
          <p:nvPr/>
        </p:nvPicPr>
        <p:blipFill>
          <a:blip r:embed="rId12"/>
          <a:stretch>
            <a:fillRect/>
          </a:stretch>
        </p:blipFill>
        <p:spPr>
          <a:xfrm>
            <a:off x="819150" y="3771900"/>
            <a:ext cx="114300" cy="152400"/>
          </a:xfrm>
          <a:prstGeom prst="rect">
            <a:avLst/>
          </a:prstGeom>
        </p:spPr>
      </p:pic>
      <p:pic>
        <p:nvPicPr>
          <p:cNvPr id="12" name="Image 10" descr="preencoded.png"/>
          <p:cNvPicPr>
            <a:picLocks noChangeAspect="1"/>
          </p:cNvPicPr>
          <p:nvPr/>
        </p:nvPicPr>
        <p:blipFill>
          <a:blip r:embed="rId5"/>
          <a:stretch>
            <a:fillRect/>
          </a:stretch>
        </p:blipFill>
        <p:spPr>
          <a:xfrm>
            <a:off x="6210300" y="1181100"/>
            <a:ext cx="5524500" cy="4800600"/>
          </a:xfrm>
          <a:prstGeom prst="rect">
            <a:avLst/>
          </a:prstGeom>
        </p:spPr>
      </p:pic>
      <p:pic>
        <p:nvPicPr>
          <p:cNvPr id="13" name="Image 11" descr="preencoded.png"/>
          <p:cNvPicPr>
            <a:picLocks noChangeAspect="1"/>
          </p:cNvPicPr>
          <p:nvPr/>
        </p:nvPicPr>
        <p:blipFill>
          <a:blip r:embed="rId13"/>
          <a:stretch>
            <a:fillRect/>
          </a:stretch>
        </p:blipFill>
        <p:spPr>
          <a:xfrm>
            <a:off x="6438900" y="1438275"/>
            <a:ext cx="257175" cy="228600"/>
          </a:xfrm>
          <a:prstGeom prst="rect">
            <a:avLst/>
          </a:prstGeom>
        </p:spPr>
      </p:pic>
      <p:pic>
        <p:nvPicPr>
          <p:cNvPr id="14" name="Image 12" descr="preencoded.png"/>
          <p:cNvPicPr>
            <a:picLocks noChangeAspect="1"/>
          </p:cNvPicPr>
          <p:nvPr/>
        </p:nvPicPr>
        <p:blipFill>
          <a:blip r:embed="rId14"/>
          <a:stretch>
            <a:fillRect/>
          </a:stretch>
        </p:blipFill>
        <p:spPr>
          <a:xfrm>
            <a:off x="6438900" y="1866900"/>
            <a:ext cx="2457450" cy="1219200"/>
          </a:xfrm>
          <a:prstGeom prst="rect">
            <a:avLst/>
          </a:prstGeom>
        </p:spPr>
      </p:pic>
      <p:pic>
        <p:nvPicPr>
          <p:cNvPr id="15" name="Image 13" descr="preencoded.png"/>
          <p:cNvPicPr>
            <a:picLocks noChangeAspect="1"/>
          </p:cNvPicPr>
          <p:nvPr/>
        </p:nvPicPr>
        <p:blipFill>
          <a:blip r:embed="rId15"/>
          <a:stretch>
            <a:fillRect/>
          </a:stretch>
        </p:blipFill>
        <p:spPr>
          <a:xfrm>
            <a:off x="6591300" y="2019300"/>
            <a:ext cx="238125" cy="266700"/>
          </a:xfrm>
          <a:prstGeom prst="rect">
            <a:avLst/>
          </a:prstGeom>
        </p:spPr>
      </p:pic>
      <p:pic>
        <p:nvPicPr>
          <p:cNvPr id="16" name="Image 14" descr="preencoded.png"/>
          <p:cNvPicPr>
            <a:picLocks noChangeAspect="1"/>
          </p:cNvPicPr>
          <p:nvPr/>
        </p:nvPicPr>
        <p:blipFill>
          <a:blip r:embed="rId16"/>
          <a:stretch>
            <a:fillRect/>
          </a:stretch>
        </p:blipFill>
        <p:spPr>
          <a:xfrm>
            <a:off x="9048750" y="1866900"/>
            <a:ext cx="2457450" cy="1219200"/>
          </a:xfrm>
          <a:prstGeom prst="rect">
            <a:avLst/>
          </a:prstGeom>
        </p:spPr>
      </p:pic>
      <p:pic>
        <p:nvPicPr>
          <p:cNvPr id="17" name="Image 15" descr="preencoded.png"/>
          <p:cNvPicPr>
            <a:picLocks noChangeAspect="1"/>
          </p:cNvPicPr>
          <p:nvPr/>
        </p:nvPicPr>
        <p:blipFill>
          <a:blip r:embed="rId17"/>
          <a:stretch>
            <a:fillRect/>
          </a:stretch>
        </p:blipFill>
        <p:spPr>
          <a:xfrm>
            <a:off x="9201150" y="2019300"/>
            <a:ext cx="190500" cy="266700"/>
          </a:xfrm>
          <a:prstGeom prst="rect">
            <a:avLst/>
          </a:prstGeom>
        </p:spPr>
      </p:pic>
      <p:pic>
        <p:nvPicPr>
          <p:cNvPr id="18" name="Image 16" descr="preencoded.png"/>
          <p:cNvPicPr>
            <a:picLocks noChangeAspect="1"/>
          </p:cNvPicPr>
          <p:nvPr/>
        </p:nvPicPr>
        <p:blipFill>
          <a:blip r:embed="rId18"/>
          <a:stretch>
            <a:fillRect/>
          </a:stretch>
        </p:blipFill>
        <p:spPr>
          <a:xfrm>
            <a:off x="6438900" y="3238500"/>
            <a:ext cx="2457450" cy="1409700"/>
          </a:xfrm>
          <a:prstGeom prst="rect">
            <a:avLst/>
          </a:prstGeom>
        </p:spPr>
      </p:pic>
      <p:pic>
        <p:nvPicPr>
          <p:cNvPr id="19" name="Image 17" descr="preencoded.png"/>
          <p:cNvPicPr>
            <a:picLocks noChangeAspect="1"/>
          </p:cNvPicPr>
          <p:nvPr/>
        </p:nvPicPr>
        <p:blipFill>
          <a:blip r:embed="rId19"/>
          <a:stretch>
            <a:fillRect/>
          </a:stretch>
        </p:blipFill>
        <p:spPr>
          <a:xfrm>
            <a:off x="6591300" y="3390900"/>
            <a:ext cx="190500" cy="266700"/>
          </a:xfrm>
          <a:prstGeom prst="rect">
            <a:avLst/>
          </a:prstGeom>
        </p:spPr>
      </p:pic>
      <p:pic>
        <p:nvPicPr>
          <p:cNvPr id="20" name="Image 18" descr="preencoded.png"/>
          <p:cNvPicPr>
            <a:picLocks noChangeAspect="1"/>
          </p:cNvPicPr>
          <p:nvPr/>
        </p:nvPicPr>
        <p:blipFill>
          <a:blip r:embed="rId20"/>
          <a:stretch>
            <a:fillRect/>
          </a:stretch>
        </p:blipFill>
        <p:spPr>
          <a:xfrm>
            <a:off x="9048750" y="3238500"/>
            <a:ext cx="2457450" cy="1409700"/>
          </a:xfrm>
          <a:prstGeom prst="rect">
            <a:avLst/>
          </a:prstGeom>
        </p:spPr>
      </p:pic>
      <p:pic>
        <p:nvPicPr>
          <p:cNvPr id="21" name="Image 19" descr="preencoded.png"/>
          <p:cNvPicPr>
            <a:picLocks noChangeAspect="1"/>
          </p:cNvPicPr>
          <p:nvPr/>
        </p:nvPicPr>
        <p:blipFill>
          <a:blip r:embed="rId21"/>
          <a:stretch>
            <a:fillRect/>
          </a:stretch>
        </p:blipFill>
        <p:spPr>
          <a:xfrm>
            <a:off x="9201150" y="3390900"/>
            <a:ext cx="190500" cy="266700"/>
          </a:xfrm>
          <a:prstGeom prst="rect">
            <a:avLst/>
          </a:prstGeom>
        </p:spPr>
      </p:pic>
      <p:sp>
        <p:nvSpPr>
          <p:cNvPr id="22" name="Text 0"/>
          <p:cNvSpPr/>
          <p:nvPr/>
        </p:nvSpPr>
        <p:spPr>
          <a:xfrm>
            <a:off x="457200" y="457200"/>
            <a:ext cx="1353312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97316"/>
                </a:solidFill>
                <a:latin typeface="ui-sans-serif" pitchFamily="34" charset="0"/>
                <a:ea typeface="ui-sans-serif" pitchFamily="34" charset="-122"/>
                <a:cs typeface="ui-sans-serif" pitchFamily="34" charset="-120"/>
              </a:rPr>
              <a:t>Resultados Esperados y Evaluación</a:t>
            </a:r>
            <a:endParaRPr lang="en-US" sz="2700" dirty="0"/>
          </a:p>
        </p:txBody>
      </p:sp>
      <p:sp>
        <p:nvSpPr>
          <p:cNvPr id="23" name="Text 1"/>
          <p:cNvSpPr/>
          <p:nvPr/>
        </p:nvSpPr>
        <p:spPr>
          <a:xfrm>
            <a:off x="933450" y="1409700"/>
            <a:ext cx="6080760" cy="304800"/>
          </a:xfrm>
          <a:prstGeom prst="rect">
            <a:avLst/>
          </a:prstGeom>
          <a:noFill/>
          <a:ln/>
        </p:spPr>
        <p:txBody>
          <a:bodyPr vert="horz" wrap="square" lIns="0" tIns="0" rIns="0" bIns="0" rtlCol="0" anchor="t"/>
          <a:lstStyle/>
          <a:p>
            <a:pPr marL="0" indent="0">
              <a:lnSpc>
                <a:spcPts val="2400"/>
              </a:lnSpc>
              <a:buNone/>
            </a:pPr>
            <a:r>
              <a:rPr lang="en-US" sz="1800" b="1" dirty="0">
                <a:solidFill>
                  <a:srgbClr val="C084FC"/>
                </a:solidFill>
                <a:latin typeface="ui-sans-serif" pitchFamily="34" charset="0"/>
                <a:ea typeface="ui-sans-serif" pitchFamily="34" charset="-122"/>
                <a:cs typeface="ui-sans-serif" pitchFamily="34" charset="-120"/>
              </a:rPr>
              <a:t> Criterios de Evaluación</a:t>
            </a:r>
            <a:endParaRPr lang="en-US" sz="1800" dirty="0"/>
          </a:p>
        </p:txBody>
      </p:sp>
      <p:sp>
        <p:nvSpPr>
          <p:cNvPr id="24" name="Text 2"/>
          <p:cNvSpPr/>
          <p:nvPr/>
        </p:nvSpPr>
        <p:spPr>
          <a:xfrm>
            <a:off x="1181100" y="1866900"/>
            <a:ext cx="4572000" cy="266700"/>
          </a:xfrm>
          <a:prstGeom prst="rect">
            <a:avLst/>
          </a:prstGeom>
          <a:noFill/>
          <a:ln/>
        </p:spPr>
        <p:txBody>
          <a:bodyPr vert="horz" wrap="square" lIns="0" tIns="0" rIns="0" bIns="0" rtlCol="0" anchor="t"/>
          <a:lstStyle/>
          <a:p>
            <a:pPr marL="0" indent="0">
              <a:lnSpc>
                <a:spcPts val="2100"/>
              </a:lnSpc>
              <a:buNone/>
            </a:pPr>
            <a:r>
              <a:rPr lang="en-US" sz="1500" dirty="0">
                <a:solidFill>
                  <a:srgbClr val="FDBA74"/>
                </a:solidFill>
                <a:latin typeface="ui-sans-serif" pitchFamily="34" charset="0"/>
                <a:ea typeface="ui-sans-serif" pitchFamily="34" charset="-122"/>
                <a:cs typeface="ui-sans-serif" pitchFamily="34" charset="-120"/>
              </a:rPr>
              <a:t>Análisis de Métricas</a:t>
            </a:r>
            <a:endParaRPr lang="en-US" sz="1500" dirty="0"/>
          </a:p>
        </p:txBody>
      </p:sp>
      <p:sp>
        <p:nvSpPr>
          <p:cNvPr id="25" name="Text 3"/>
          <p:cNvSpPr/>
          <p:nvPr/>
        </p:nvSpPr>
        <p:spPr>
          <a:xfrm>
            <a:off x="1181100" y="2133600"/>
            <a:ext cx="4572000" cy="4572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Capacidad para identificar y aplicar métricas de calidad adecuadas según los objetivos definidos</a:t>
            </a:r>
            <a:endParaRPr lang="en-US" sz="1200" dirty="0"/>
          </a:p>
        </p:txBody>
      </p:sp>
      <p:sp>
        <p:nvSpPr>
          <p:cNvPr id="26" name="Text 4"/>
          <p:cNvSpPr/>
          <p:nvPr/>
        </p:nvSpPr>
        <p:spPr>
          <a:xfrm>
            <a:off x="1181100" y="2743200"/>
            <a:ext cx="5486400" cy="266700"/>
          </a:xfrm>
          <a:prstGeom prst="rect">
            <a:avLst/>
          </a:prstGeom>
          <a:noFill/>
          <a:ln/>
        </p:spPr>
        <p:txBody>
          <a:bodyPr vert="horz" wrap="square" lIns="0" tIns="0" rIns="0" bIns="0" rtlCol="0" anchor="t"/>
          <a:lstStyle/>
          <a:p>
            <a:pPr marL="0" indent="0">
              <a:lnSpc>
                <a:spcPts val="2100"/>
              </a:lnSpc>
              <a:buNone/>
            </a:pPr>
            <a:r>
              <a:rPr lang="en-US" sz="1500" dirty="0">
                <a:solidFill>
                  <a:srgbClr val="86EFAC"/>
                </a:solidFill>
                <a:latin typeface="ui-sans-serif" pitchFamily="34" charset="0"/>
                <a:ea typeface="ui-sans-serif" pitchFamily="34" charset="-122"/>
                <a:cs typeface="ui-sans-serif" pitchFamily="34" charset="-120"/>
              </a:rPr>
              <a:t>Interpretación de Resultados</a:t>
            </a:r>
            <a:endParaRPr lang="en-US" sz="1500" dirty="0"/>
          </a:p>
        </p:txBody>
      </p:sp>
      <p:sp>
        <p:nvSpPr>
          <p:cNvPr id="27" name="Text 5"/>
          <p:cNvSpPr/>
          <p:nvPr/>
        </p:nvSpPr>
        <p:spPr>
          <a:xfrm>
            <a:off x="1181100" y="3009900"/>
            <a:ext cx="4572000" cy="4572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Habilidad para analizar datos recolectados y extraer conclusiones significativas sobre la calidad del software</a:t>
            </a:r>
            <a:endParaRPr lang="en-US" sz="1200" dirty="0"/>
          </a:p>
        </p:txBody>
      </p:sp>
      <p:sp>
        <p:nvSpPr>
          <p:cNvPr id="28" name="Text 6"/>
          <p:cNvSpPr/>
          <p:nvPr/>
        </p:nvSpPr>
        <p:spPr>
          <a:xfrm>
            <a:off x="1181100" y="3619500"/>
            <a:ext cx="4572000" cy="266700"/>
          </a:xfrm>
          <a:prstGeom prst="rect">
            <a:avLst/>
          </a:prstGeom>
          <a:noFill/>
          <a:ln/>
        </p:spPr>
        <p:txBody>
          <a:bodyPr vert="horz" wrap="square" lIns="0" tIns="0" rIns="0" bIns="0" rtlCol="0" anchor="t"/>
          <a:lstStyle/>
          <a:p>
            <a:pPr marL="0" indent="0">
              <a:lnSpc>
                <a:spcPts val="2100"/>
              </a:lnSpc>
              <a:buNone/>
            </a:pPr>
            <a:r>
              <a:rPr lang="en-US" sz="1500" dirty="0">
                <a:solidFill>
                  <a:srgbClr val="93C5FD"/>
                </a:solidFill>
                <a:latin typeface="ui-sans-serif" pitchFamily="34" charset="0"/>
                <a:ea typeface="ui-sans-serif" pitchFamily="34" charset="-122"/>
                <a:cs typeface="ui-sans-serif" pitchFamily="34" charset="-120"/>
              </a:rPr>
              <a:t>Propuestas de Mejora</a:t>
            </a:r>
            <a:endParaRPr lang="en-US" sz="1500" dirty="0"/>
          </a:p>
        </p:txBody>
      </p:sp>
      <p:sp>
        <p:nvSpPr>
          <p:cNvPr id="29" name="Text 7"/>
          <p:cNvSpPr/>
          <p:nvPr/>
        </p:nvSpPr>
        <p:spPr>
          <a:xfrm>
            <a:off x="1181100" y="3886200"/>
            <a:ext cx="4572000" cy="4572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Capacidad para identificar áreas de mejora y proponer soluciones basadas en estándares de calidad</a:t>
            </a:r>
            <a:endParaRPr lang="en-US" sz="1200" dirty="0"/>
          </a:p>
        </p:txBody>
      </p:sp>
      <p:sp>
        <p:nvSpPr>
          <p:cNvPr id="30" name="Text 8"/>
          <p:cNvSpPr/>
          <p:nvPr/>
        </p:nvSpPr>
        <p:spPr>
          <a:xfrm>
            <a:off x="6772275" y="1409700"/>
            <a:ext cx="50673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4ADE80"/>
                </a:solidFill>
                <a:latin typeface="ui-sans-serif" pitchFamily="34" charset="0"/>
                <a:ea typeface="ui-sans-serif" pitchFamily="34" charset="-122"/>
                <a:cs typeface="ui-sans-serif" pitchFamily="34" charset="-120"/>
              </a:rPr>
              <a:t> Métricas de Éxito</a:t>
            </a:r>
            <a:endParaRPr lang="en-US" sz="1800" dirty="0"/>
          </a:p>
        </p:txBody>
      </p:sp>
      <p:sp>
        <p:nvSpPr>
          <p:cNvPr id="31" name="Text 9"/>
          <p:cNvSpPr/>
          <p:nvPr/>
        </p:nvSpPr>
        <p:spPr>
          <a:xfrm>
            <a:off x="6905625" y="2019300"/>
            <a:ext cx="1316950" cy="266700"/>
          </a:xfrm>
          <a:prstGeom prst="rect">
            <a:avLst/>
          </a:prstGeom>
          <a:noFill/>
          <a:ln/>
        </p:spPr>
        <p:txBody>
          <a:bodyPr vert="horz" wrap="square" lIns="0" tIns="0" rIns="0" bIns="0" rtlCol="0" anchor="t"/>
          <a:lstStyle/>
          <a:p>
            <a:pPr marL="0" indent="0">
              <a:lnSpc>
                <a:spcPts val="2100"/>
              </a:lnSpc>
              <a:buNone/>
            </a:pPr>
            <a:r>
              <a:rPr lang="en-US" sz="1350" dirty="0">
                <a:solidFill>
                  <a:srgbClr val="FFFFFF"/>
                </a:solidFill>
                <a:latin typeface="ui-sans-serif" pitchFamily="34" charset="0"/>
                <a:ea typeface="ui-sans-serif" pitchFamily="34" charset="-122"/>
                <a:cs typeface="ui-sans-serif" pitchFamily="34" charset="-120"/>
              </a:rPr>
              <a:t>Participación</a:t>
            </a:r>
            <a:endParaRPr lang="en-US" sz="1350" dirty="0"/>
          </a:p>
        </p:txBody>
      </p:sp>
      <p:sp>
        <p:nvSpPr>
          <p:cNvPr id="32" name="Text 10"/>
          <p:cNvSpPr/>
          <p:nvPr/>
        </p:nvSpPr>
        <p:spPr>
          <a:xfrm>
            <a:off x="6591300" y="2362200"/>
            <a:ext cx="2152650" cy="571500"/>
          </a:xfrm>
          <a:prstGeom prst="rect">
            <a:avLst/>
          </a:prstGeom>
          <a:noFill/>
          <a:ln/>
        </p:spPr>
        <p:txBody>
          <a:bodyPr vert="horz" wrap="square" lIns="0" tIns="0" rIns="0" bIns="0" rtlCol="0" anchor="t"/>
          <a:lstStyle/>
          <a:p>
            <a:pPr marL="0" indent="0">
              <a:lnSpc>
                <a:spcPts val="1500"/>
              </a:lnSpc>
              <a:buNone/>
            </a:pPr>
            <a:r>
              <a:rPr lang="en-US" sz="1050" dirty="0">
                <a:solidFill>
                  <a:srgbClr val="D1D5DB"/>
                </a:solidFill>
                <a:latin typeface="ui-sans-serif" pitchFamily="34" charset="0"/>
                <a:ea typeface="ui-sans-serif" pitchFamily="34" charset="-122"/>
                <a:cs typeface="ui-sans-serif" pitchFamily="34" charset="-120"/>
              </a:rPr>
              <a:t>Nivel de participación activa en los talleres y ejercicios prácticos</a:t>
            </a:r>
            <a:endParaRPr lang="en-US" sz="1050" dirty="0"/>
          </a:p>
        </p:txBody>
      </p:sp>
      <p:sp>
        <p:nvSpPr>
          <p:cNvPr id="33" name="Text 11"/>
          <p:cNvSpPr/>
          <p:nvPr/>
        </p:nvSpPr>
        <p:spPr>
          <a:xfrm>
            <a:off x="9467850" y="2019300"/>
            <a:ext cx="1440537" cy="266700"/>
          </a:xfrm>
          <a:prstGeom prst="rect">
            <a:avLst/>
          </a:prstGeom>
          <a:noFill/>
          <a:ln/>
        </p:spPr>
        <p:txBody>
          <a:bodyPr vert="horz" wrap="square" lIns="0" tIns="0" rIns="0" bIns="0" rtlCol="0" anchor="t"/>
          <a:lstStyle/>
          <a:p>
            <a:pPr marL="0" indent="0">
              <a:lnSpc>
                <a:spcPts val="2100"/>
              </a:lnSpc>
              <a:buNone/>
            </a:pPr>
            <a:r>
              <a:rPr lang="en-US" sz="1350" dirty="0">
                <a:solidFill>
                  <a:srgbClr val="FFFFFF"/>
                </a:solidFill>
                <a:latin typeface="ui-sans-serif" pitchFamily="34" charset="0"/>
                <a:ea typeface="ui-sans-serif" pitchFamily="34" charset="-122"/>
                <a:cs typeface="ui-sans-serif" pitchFamily="34" charset="-120"/>
              </a:rPr>
              <a:t>Cumplimiento</a:t>
            </a:r>
            <a:endParaRPr lang="en-US" sz="1350" dirty="0"/>
          </a:p>
        </p:txBody>
      </p:sp>
      <p:sp>
        <p:nvSpPr>
          <p:cNvPr id="34" name="Text 12"/>
          <p:cNvSpPr/>
          <p:nvPr/>
        </p:nvSpPr>
        <p:spPr>
          <a:xfrm>
            <a:off x="9201150" y="2362200"/>
            <a:ext cx="2152650" cy="571500"/>
          </a:xfrm>
          <a:prstGeom prst="rect">
            <a:avLst/>
          </a:prstGeom>
          <a:noFill/>
          <a:ln/>
        </p:spPr>
        <p:txBody>
          <a:bodyPr vert="horz" wrap="square" lIns="0" tIns="0" rIns="0" bIns="0" rtlCol="0" anchor="t"/>
          <a:lstStyle/>
          <a:p>
            <a:pPr marL="0" indent="0">
              <a:lnSpc>
                <a:spcPts val="1500"/>
              </a:lnSpc>
              <a:buNone/>
            </a:pPr>
            <a:r>
              <a:rPr lang="en-US" sz="1050" dirty="0">
                <a:solidFill>
                  <a:srgbClr val="D1D5DB"/>
                </a:solidFill>
                <a:latin typeface="ui-sans-serif" pitchFamily="34" charset="0"/>
                <a:ea typeface="ui-sans-serif" pitchFamily="34" charset="-122"/>
                <a:cs typeface="ui-sans-serif" pitchFamily="34" charset="-120"/>
              </a:rPr>
              <a:t>Adherencia a los estándares y procedimientos definidos durante las actividades</a:t>
            </a:r>
            <a:endParaRPr lang="en-US" sz="1050" dirty="0"/>
          </a:p>
        </p:txBody>
      </p:sp>
      <p:sp>
        <p:nvSpPr>
          <p:cNvPr id="35" name="Text 13"/>
          <p:cNvSpPr/>
          <p:nvPr/>
        </p:nvSpPr>
        <p:spPr>
          <a:xfrm>
            <a:off x="6858000" y="3390900"/>
            <a:ext cx="1358205" cy="266700"/>
          </a:xfrm>
          <a:prstGeom prst="rect">
            <a:avLst/>
          </a:prstGeom>
          <a:noFill/>
          <a:ln/>
        </p:spPr>
        <p:txBody>
          <a:bodyPr vert="horz" wrap="square" lIns="0" tIns="0" rIns="0" bIns="0" rtlCol="0" anchor="t"/>
          <a:lstStyle/>
          <a:p>
            <a:pPr marL="0" indent="0">
              <a:lnSpc>
                <a:spcPts val="2100"/>
              </a:lnSpc>
              <a:buNone/>
            </a:pPr>
            <a:r>
              <a:rPr lang="en-US" sz="1350" dirty="0">
                <a:solidFill>
                  <a:srgbClr val="FFFFFF"/>
                </a:solidFill>
                <a:latin typeface="ui-sans-serif" pitchFamily="34" charset="0"/>
                <a:ea typeface="ui-sans-serif" pitchFamily="34" charset="-122"/>
                <a:cs typeface="ui-sans-serif" pitchFamily="34" charset="-120"/>
              </a:rPr>
              <a:t>Comprensión</a:t>
            </a:r>
            <a:endParaRPr lang="en-US" sz="1350" dirty="0"/>
          </a:p>
        </p:txBody>
      </p:sp>
      <p:sp>
        <p:nvSpPr>
          <p:cNvPr id="36" name="Text 14"/>
          <p:cNvSpPr/>
          <p:nvPr/>
        </p:nvSpPr>
        <p:spPr>
          <a:xfrm>
            <a:off x="6591300" y="3733800"/>
            <a:ext cx="2152650" cy="762000"/>
          </a:xfrm>
          <a:prstGeom prst="rect">
            <a:avLst/>
          </a:prstGeom>
          <a:noFill/>
          <a:ln/>
        </p:spPr>
        <p:txBody>
          <a:bodyPr vert="horz" wrap="square" lIns="0" tIns="0" rIns="0" bIns="0" rtlCol="0" anchor="t"/>
          <a:lstStyle/>
          <a:p>
            <a:pPr marL="0" indent="0">
              <a:lnSpc>
                <a:spcPts val="1500"/>
              </a:lnSpc>
              <a:buNone/>
            </a:pPr>
            <a:r>
              <a:rPr lang="en-US" sz="1050" dirty="0">
                <a:solidFill>
                  <a:srgbClr val="D1D5DB"/>
                </a:solidFill>
                <a:latin typeface="ui-sans-serif" pitchFamily="34" charset="0"/>
                <a:ea typeface="ui-sans-serif" pitchFamily="34" charset="-122"/>
                <a:cs typeface="ui-sans-serif" pitchFamily="34" charset="-120"/>
              </a:rPr>
              <a:t>Grado de comprensión de los conceptos de calidad del software y estándares aplicables</a:t>
            </a:r>
            <a:endParaRPr lang="en-US" sz="1050" dirty="0"/>
          </a:p>
        </p:txBody>
      </p:sp>
      <p:sp>
        <p:nvSpPr>
          <p:cNvPr id="37" name="Text 15"/>
          <p:cNvSpPr/>
          <p:nvPr/>
        </p:nvSpPr>
        <p:spPr>
          <a:xfrm>
            <a:off x="9467850" y="3390900"/>
            <a:ext cx="1125498" cy="266700"/>
          </a:xfrm>
          <a:prstGeom prst="rect">
            <a:avLst/>
          </a:prstGeom>
          <a:noFill/>
          <a:ln/>
        </p:spPr>
        <p:txBody>
          <a:bodyPr vert="horz" wrap="square" lIns="0" tIns="0" rIns="0" bIns="0" rtlCol="0" anchor="t"/>
          <a:lstStyle/>
          <a:p>
            <a:pPr marL="0" indent="0">
              <a:lnSpc>
                <a:spcPts val="2100"/>
              </a:lnSpc>
              <a:buNone/>
            </a:pPr>
            <a:r>
              <a:rPr lang="en-US" sz="1350" dirty="0">
                <a:solidFill>
                  <a:srgbClr val="FFFFFF"/>
                </a:solidFill>
                <a:latin typeface="ui-sans-serif" pitchFamily="34" charset="0"/>
                <a:ea typeface="ui-sans-serif" pitchFamily="34" charset="-122"/>
                <a:cs typeface="ui-sans-serif" pitchFamily="34" charset="-120"/>
              </a:rPr>
              <a:t>Resultados</a:t>
            </a:r>
            <a:endParaRPr lang="en-US" sz="1350" dirty="0"/>
          </a:p>
        </p:txBody>
      </p:sp>
      <p:sp>
        <p:nvSpPr>
          <p:cNvPr id="38" name="Text 16"/>
          <p:cNvSpPr/>
          <p:nvPr/>
        </p:nvSpPr>
        <p:spPr>
          <a:xfrm>
            <a:off x="9201150" y="3733800"/>
            <a:ext cx="2152650" cy="571500"/>
          </a:xfrm>
          <a:prstGeom prst="rect">
            <a:avLst/>
          </a:prstGeom>
          <a:noFill/>
          <a:ln/>
        </p:spPr>
        <p:txBody>
          <a:bodyPr vert="horz" wrap="square" lIns="0" tIns="0" rIns="0" bIns="0" rtlCol="0" anchor="t"/>
          <a:lstStyle/>
          <a:p>
            <a:pPr marL="0" indent="0">
              <a:lnSpc>
                <a:spcPts val="1500"/>
              </a:lnSpc>
              <a:buNone/>
            </a:pPr>
            <a:r>
              <a:rPr lang="en-US" sz="1050" dirty="0">
                <a:solidFill>
                  <a:srgbClr val="D1D5DB"/>
                </a:solidFill>
                <a:latin typeface="ui-sans-serif" pitchFamily="34" charset="0"/>
                <a:ea typeface="ui-sans-serif" pitchFamily="34" charset="-122"/>
                <a:cs typeface="ui-sans-serif" pitchFamily="34" charset="-120"/>
              </a:rPr>
              <a:t>Mejora en la calidad del software evaluado antes y después de la implementación</a:t>
            </a:r>
            <a:endParaRPr lang="en-US" sz="1050" dirty="0"/>
          </a:p>
        </p:txBody>
      </p:sp>
      <p:sp>
        <p:nvSpPr>
          <p:cNvPr id="39" name="Text 17"/>
          <p:cNvSpPr/>
          <p:nvPr/>
        </p:nvSpPr>
        <p:spPr>
          <a:xfrm>
            <a:off x="457200" y="6210300"/>
            <a:ext cx="2087761"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24 de Noviembre de 2025</a:t>
            </a:r>
            <a:endParaRPr lang="en-US" sz="1050" dirty="0"/>
          </a:p>
        </p:txBody>
      </p:sp>
      <p:sp>
        <p:nvSpPr>
          <p:cNvPr id="40" name="Text 18"/>
          <p:cNvSpPr/>
          <p:nvPr/>
        </p:nvSpPr>
        <p:spPr>
          <a:xfrm>
            <a:off x="10657433" y="6210300"/>
            <a:ext cx="1292840"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Página 23 de 25</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914400"/>
            <a:ext cx="914400" cy="38100"/>
          </a:xfrm>
          <a:prstGeom prst="rect">
            <a:avLst/>
          </a:prstGeom>
        </p:spPr>
      </p:pic>
      <p:pic>
        <p:nvPicPr>
          <p:cNvPr id="4" name="Image 2" descr="preencoded.png"/>
          <p:cNvPicPr>
            <a:picLocks noChangeAspect="1"/>
          </p:cNvPicPr>
          <p:nvPr/>
        </p:nvPicPr>
        <p:blipFill>
          <a:blip r:embed="rId5"/>
          <a:stretch>
            <a:fillRect/>
          </a:stretch>
        </p:blipFill>
        <p:spPr>
          <a:xfrm>
            <a:off x="457200" y="1257300"/>
            <a:ext cx="457200" cy="457200"/>
          </a:xfrm>
          <a:prstGeom prst="rect">
            <a:avLst/>
          </a:prstGeom>
        </p:spPr>
      </p:pic>
      <p:pic>
        <p:nvPicPr>
          <p:cNvPr id="5" name="Image 3" descr="preencoded.png"/>
          <p:cNvPicPr>
            <a:picLocks noChangeAspect="1"/>
          </p:cNvPicPr>
          <p:nvPr/>
        </p:nvPicPr>
        <p:blipFill>
          <a:blip r:embed="rId6"/>
          <a:stretch>
            <a:fillRect/>
          </a:stretch>
        </p:blipFill>
        <p:spPr>
          <a:xfrm>
            <a:off x="590550" y="1352550"/>
            <a:ext cx="190500" cy="266700"/>
          </a:xfrm>
          <a:prstGeom prst="rect">
            <a:avLst/>
          </a:prstGeom>
        </p:spPr>
      </p:pic>
      <p:pic>
        <p:nvPicPr>
          <p:cNvPr id="6" name="Image 4" descr="preencoded.png"/>
          <p:cNvPicPr>
            <a:picLocks noChangeAspect="1"/>
          </p:cNvPicPr>
          <p:nvPr/>
        </p:nvPicPr>
        <p:blipFill>
          <a:blip r:embed="rId7"/>
          <a:stretch>
            <a:fillRect/>
          </a:stretch>
        </p:blipFill>
        <p:spPr>
          <a:xfrm>
            <a:off x="6248400" y="1257300"/>
            <a:ext cx="457200" cy="457200"/>
          </a:xfrm>
          <a:prstGeom prst="rect">
            <a:avLst/>
          </a:prstGeom>
        </p:spPr>
      </p:pic>
      <p:pic>
        <p:nvPicPr>
          <p:cNvPr id="7" name="Image 5" descr="preencoded.png"/>
          <p:cNvPicPr>
            <a:picLocks noChangeAspect="1"/>
          </p:cNvPicPr>
          <p:nvPr/>
        </p:nvPicPr>
        <p:blipFill>
          <a:blip r:embed="rId8"/>
          <a:stretch>
            <a:fillRect/>
          </a:stretch>
        </p:blipFill>
        <p:spPr>
          <a:xfrm>
            <a:off x="6357938" y="1352550"/>
            <a:ext cx="238125" cy="266700"/>
          </a:xfrm>
          <a:prstGeom prst="rect">
            <a:avLst/>
          </a:prstGeom>
        </p:spPr>
      </p:pic>
      <p:pic>
        <p:nvPicPr>
          <p:cNvPr id="8" name="Image 6" descr="preencoded.png"/>
          <p:cNvPicPr>
            <a:picLocks noChangeAspect="1"/>
          </p:cNvPicPr>
          <p:nvPr/>
        </p:nvPicPr>
        <p:blipFill>
          <a:blip r:embed="rId9"/>
          <a:stretch>
            <a:fillRect/>
          </a:stretch>
        </p:blipFill>
        <p:spPr>
          <a:xfrm>
            <a:off x="457200" y="2590800"/>
            <a:ext cx="457200" cy="457200"/>
          </a:xfrm>
          <a:prstGeom prst="rect">
            <a:avLst/>
          </a:prstGeom>
        </p:spPr>
      </p:pic>
      <p:pic>
        <p:nvPicPr>
          <p:cNvPr id="9" name="Image 7" descr="preencoded.png"/>
          <p:cNvPicPr>
            <a:picLocks noChangeAspect="1"/>
          </p:cNvPicPr>
          <p:nvPr/>
        </p:nvPicPr>
        <p:blipFill>
          <a:blip r:embed="rId10"/>
          <a:stretch>
            <a:fillRect/>
          </a:stretch>
        </p:blipFill>
        <p:spPr>
          <a:xfrm>
            <a:off x="590550" y="2686050"/>
            <a:ext cx="190500" cy="266700"/>
          </a:xfrm>
          <a:prstGeom prst="rect">
            <a:avLst/>
          </a:prstGeom>
        </p:spPr>
      </p:pic>
      <p:pic>
        <p:nvPicPr>
          <p:cNvPr id="10" name="Image 8" descr="preencoded.png"/>
          <p:cNvPicPr>
            <a:picLocks noChangeAspect="1"/>
          </p:cNvPicPr>
          <p:nvPr/>
        </p:nvPicPr>
        <p:blipFill>
          <a:blip r:embed="rId11"/>
          <a:stretch>
            <a:fillRect/>
          </a:stretch>
        </p:blipFill>
        <p:spPr>
          <a:xfrm>
            <a:off x="6248400" y="2590800"/>
            <a:ext cx="457200" cy="457200"/>
          </a:xfrm>
          <a:prstGeom prst="rect">
            <a:avLst/>
          </a:prstGeom>
        </p:spPr>
      </p:pic>
      <p:pic>
        <p:nvPicPr>
          <p:cNvPr id="11" name="Image 9" descr="preencoded.png"/>
          <p:cNvPicPr>
            <a:picLocks noChangeAspect="1"/>
          </p:cNvPicPr>
          <p:nvPr/>
        </p:nvPicPr>
        <p:blipFill>
          <a:blip r:embed="rId12"/>
          <a:stretch>
            <a:fillRect/>
          </a:stretch>
        </p:blipFill>
        <p:spPr>
          <a:xfrm>
            <a:off x="6357938" y="2686050"/>
            <a:ext cx="238125" cy="266700"/>
          </a:xfrm>
          <a:prstGeom prst="rect">
            <a:avLst/>
          </a:prstGeom>
        </p:spPr>
      </p:pic>
      <p:pic>
        <p:nvPicPr>
          <p:cNvPr id="12" name="Image 10" descr="preencoded.png"/>
          <p:cNvPicPr>
            <a:picLocks noChangeAspect="1"/>
          </p:cNvPicPr>
          <p:nvPr/>
        </p:nvPicPr>
        <p:blipFill>
          <a:blip r:embed="rId13"/>
          <a:stretch>
            <a:fillRect/>
          </a:stretch>
        </p:blipFill>
        <p:spPr>
          <a:xfrm>
            <a:off x="457200" y="3924300"/>
            <a:ext cx="11277600" cy="1257300"/>
          </a:xfrm>
          <a:prstGeom prst="rect">
            <a:avLst/>
          </a:prstGeom>
        </p:spPr>
      </p:pic>
      <p:pic>
        <p:nvPicPr>
          <p:cNvPr id="13" name="Image 11" descr="preencoded.png"/>
          <p:cNvPicPr>
            <a:picLocks noChangeAspect="1"/>
          </p:cNvPicPr>
          <p:nvPr/>
        </p:nvPicPr>
        <p:blipFill>
          <a:blip r:embed="rId14"/>
          <a:stretch>
            <a:fillRect/>
          </a:stretch>
        </p:blipFill>
        <p:spPr>
          <a:xfrm>
            <a:off x="685800" y="4181475"/>
            <a:ext cx="152400" cy="171450"/>
          </a:xfrm>
          <a:prstGeom prst="rect">
            <a:avLst/>
          </a:prstGeom>
        </p:spPr>
      </p:pic>
      <p:pic>
        <p:nvPicPr>
          <p:cNvPr id="14" name="Image 12" descr="preencoded.png"/>
          <p:cNvPicPr>
            <a:picLocks noChangeAspect="1"/>
          </p:cNvPicPr>
          <p:nvPr/>
        </p:nvPicPr>
        <p:blipFill>
          <a:blip r:embed="rId15"/>
          <a:stretch>
            <a:fillRect/>
          </a:stretch>
        </p:blipFill>
        <p:spPr>
          <a:xfrm>
            <a:off x="8238232" y="4714875"/>
            <a:ext cx="161925" cy="171450"/>
          </a:xfrm>
          <a:prstGeom prst="rect">
            <a:avLst/>
          </a:prstGeom>
        </p:spPr>
      </p:pic>
      <p:sp>
        <p:nvSpPr>
          <p:cNvPr id="15" name="Text 0"/>
          <p:cNvSpPr/>
          <p:nvPr/>
        </p:nvSpPr>
        <p:spPr>
          <a:xfrm>
            <a:off x="457200" y="457200"/>
            <a:ext cx="112776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97316"/>
                </a:solidFill>
                <a:latin typeface="ui-sans-serif" pitchFamily="34" charset="0"/>
                <a:ea typeface="ui-sans-serif" pitchFamily="34" charset="-122"/>
                <a:cs typeface="ui-sans-serif" pitchFamily="34" charset="-120"/>
              </a:rPr>
              <a:t>Conclusiones y Puntos Clave</a:t>
            </a:r>
            <a:endParaRPr lang="en-US" sz="2700" dirty="0"/>
          </a:p>
        </p:txBody>
      </p:sp>
      <p:sp>
        <p:nvSpPr>
          <p:cNvPr id="16" name="Text 1"/>
          <p:cNvSpPr/>
          <p:nvPr/>
        </p:nvSpPr>
        <p:spPr>
          <a:xfrm>
            <a:off x="1066800" y="1257300"/>
            <a:ext cx="5852160" cy="266700"/>
          </a:xfrm>
          <a:prstGeom prst="rect">
            <a:avLst/>
          </a:prstGeom>
          <a:noFill/>
          <a:ln/>
        </p:spPr>
        <p:txBody>
          <a:bodyPr vert="horz" wrap="square" lIns="0" tIns="0" rIns="0" bIns="0" rtlCol="0" anchor="t"/>
          <a:lstStyle/>
          <a:p>
            <a:pPr marL="0" indent="0">
              <a:lnSpc>
                <a:spcPts val="2100"/>
              </a:lnSpc>
              <a:buNone/>
            </a:pPr>
            <a:r>
              <a:rPr lang="en-US" sz="1500" b="1" dirty="0">
                <a:solidFill>
                  <a:srgbClr val="C084FC"/>
                </a:solidFill>
                <a:latin typeface="ui-sans-serif" pitchFamily="34" charset="0"/>
                <a:ea typeface="ui-sans-serif" pitchFamily="34" charset="-122"/>
                <a:cs typeface="ui-sans-serif" pitchFamily="34" charset="-120"/>
              </a:rPr>
              <a:t>Transformación de la Calidad</a:t>
            </a:r>
            <a:endParaRPr lang="en-US" sz="1500" dirty="0"/>
          </a:p>
        </p:txBody>
      </p:sp>
      <p:sp>
        <p:nvSpPr>
          <p:cNvPr id="17" name="Text 2"/>
          <p:cNvSpPr/>
          <p:nvPr/>
        </p:nvSpPr>
        <p:spPr>
          <a:xfrm>
            <a:off x="1066800" y="1600200"/>
            <a:ext cx="4876800" cy="6858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Transforma la calidad de un concepto subjetivo a una disciplina medible y gestionable, permitiendo evaluar objetivamente la calidad del software.</a:t>
            </a:r>
            <a:endParaRPr lang="en-US" sz="1200" dirty="0"/>
          </a:p>
        </p:txBody>
      </p:sp>
      <p:sp>
        <p:nvSpPr>
          <p:cNvPr id="18" name="Text 3"/>
          <p:cNvSpPr/>
          <p:nvPr/>
        </p:nvSpPr>
        <p:spPr>
          <a:xfrm>
            <a:off x="6858000" y="1257300"/>
            <a:ext cx="48768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FB923C"/>
                </a:solidFill>
                <a:latin typeface="ui-sans-serif" pitchFamily="34" charset="0"/>
                <a:ea typeface="ui-sans-serif" pitchFamily="34" charset="-122"/>
                <a:cs typeface="ui-sans-serif" pitchFamily="34" charset="-120"/>
              </a:rPr>
              <a:t>Evaluación Objektiva</a:t>
            </a:r>
            <a:endParaRPr lang="en-US" sz="1500" dirty="0"/>
          </a:p>
        </p:txBody>
      </p:sp>
      <p:sp>
        <p:nvSpPr>
          <p:cNvPr id="19" name="Text 4"/>
          <p:cNvSpPr/>
          <p:nvPr/>
        </p:nvSpPr>
        <p:spPr>
          <a:xfrm>
            <a:off x="6858000" y="1600200"/>
            <a:ext cx="4876800" cy="6858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Proporcionan herramientas y métricas para evaluar de manera objetiva las características internas y externas del software, asegurando la entrega de productos robustos.</a:t>
            </a:r>
            <a:endParaRPr lang="en-US" sz="1200" dirty="0"/>
          </a:p>
        </p:txBody>
      </p:sp>
      <p:sp>
        <p:nvSpPr>
          <p:cNvPr id="20" name="Text 5"/>
          <p:cNvSpPr/>
          <p:nvPr/>
        </p:nvSpPr>
        <p:spPr>
          <a:xfrm>
            <a:off x="1066800" y="2590800"/>
            <a:ext cx="48768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4ADE80"/>
                </a:solidFill>
                <a:latin typeface="ui-sans-serif" pitchFamily="34" charset="0"/>
                <a:ea typeface="ui-sans-serif" pitchFamily="34" charset="-122"/>
                <a:cs typeface="ui-sans-serif" pitchFamily="34" charset="-120"/>
              </a:rPr>
              <a:t>Competitividad</a:t>
            </a:r>
            <a:endParaRPr lang="en-US" sz="1500" dirty="0"/>
          </a:p>
        </p:txBody>
      </p:sp>
      <p:sp>
        <p:nvSpPr>
          <p:cNvPr id="21" name="Text 6"/>
          <p:cNvSpPr/>
          <p:nvPr/>
        </p:nvSpPr>
        <p:spPr>
          <a:xfrm>
            <a:off x="1066800" y="2933700"/>
            <a:ext cx="4876800" cy="6858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La adopción de estándares de calidad es crucial para la competitividad y el éxito a largo plazo en la industria del software, mejorando la reputación y reduciendo costos.</a:t>
            </a:r>
            <a:endParaRPr lang="en-US" sz="1200" dirty="0"/>
          </a:p>
        </p:txBody>
      </p:sp>
      <p:sp>
        <p:nvSpPr>
          <p:cNvPr id="22" name="Text 7"/>
          <p:cNvSpPr/>
          <p:nvPr/>
        </p:nvSpPr>
        <p:spPr>
          <a:xfrm>
            <a:off x="6858000" y="2590800"/>
            <a:ext cx="5852160" cy="266700"/>
          </a:xfrm>
          <a:prstGeom prst="rect">
            <a:avLst/>
          </a:prstGeom>
          <a:noFill/>
          <a:ln/>
        </p:spPr>
        <p:txBody>
          <a:bodyPr vert="horz" wrap="square" lIns="0" tIns="0" rIns="0" bIns="0" rtlCol="0" anchor="t"/>
          <a:lstStyle/>
          <a:p>
            <a:pPr marL="0" indent="0">
              <a:lnSpc>
                <a:spcPts val="2100"/>
              </a:lnSpc>
              <a:buNone/>
            </a:pPr>
            <a:r>
              <a:rPr lang="en-US" sz="1500" b="1" dirty="0">
                <a:solidFill>
                  <a:srgbClr val="60A5FA"/>
                </a:solidFill>
                <a:latin typeface="ui-sans-serif" pitchFamily="34" charset="0"/>
                <a:ea typeface="ui-sans-serif" pitchFamily="34" charset="-122"/>
                <a:cs typeface="ui-sans-serif" pitchFamily="34" charset="-120"/>
              </a:rPr>
              <a:t>Satisfacción del Usuario</a:t>
            </a:r>
            <a:endParaRPr lang="en-US" sz="1500" dirty="0"/>
          </a:p>
        </p:txBody>
      </p:sp>
      <p:sp>
        <p:nvSpPr>
          <p:cNvPr id="23" name="Text 8"/>
          <p:cNvSpPr/>
          <p:nvPr/>
        </p:nvSpPr>
        <p:spPr>
          <a:xfrm>
            <a:off x="6858000" y="2933700"/>
            <a:ext cx="4876800" cy="6858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ui-sans-serif" pitchFamily="34" charset="0"/>
                <a:ea typeface="ui-sans-serif" pitchFamily="34" charset="-122"/>
                <a:cs typeface="ui-sans-serif" pitchFamily="34" charset="-120"/>
              </a:rPr>
              <a:t>Los estándares ayudan a asegurar que los productos finales no solo satisfagan las expectativas del usuario, sino que también impulsen la eficiencia operativa y reduzcan costos.</a:t>
            </a:r>
            <a:endParaRPr lang="en-US" sz="1200" dirty="0"/>
          </a:p>
        </p:txBody>
      </p:sp>
      <p:sp>
        <p:nvSpPr>
          <p:cNvPr id="24" name="Text 9"/>
          <p:cNvSpPr/>
          <p:nvPr/>
        </p:nvSpPr>
        <p:spPr>
          <a:xfrm>
            <a:off x="914400" y="4152900"/>
            <a:ext cx="10820400" cy="800100"/>
          </a:xfrm>
          <a:prstGeom prst="rect">
            <a:avLst/>
          </a:prstGeom>
          <a:noFill/>
          <a:ln/>
        </p:spPr>
        <p:txBody>
          <a:bodyPr vert="horz" wrap="square" lIns="0" tIns="0" rIns="0" bIns="0" rtlCol="0" anchor="t"/>
          <a:lstStyle/>
          <a:p>
            <a:pPr marL="0" indent="0">
              <a:lnSpc>
                <a:spcPts val="2100"/>
              </a:lnSpc>
              <a:buNone/>
            </a:pPr>
            <a:r>
              <a:rPr lang="en-US" sz="1350" i="1" dirty="0">
                <a:solidFill>
                  <a:srgbClr val="D1D5DB"/>
                </a:solidFill>
                <a:latin typeface="ui-sans-serif" pitchFamily="34" charset="0"/>
                <a:ea typeface="ui-sans-serif" pitchFamily="34" charset="-122"/>
                <a:cs typeface="ui-sans-serif" pitchFamily="34" charset="-120"/>
              </a:rPr>
              <a:t> Los marcos como ISO/IEC 9126 y CISQ proporcionan las herramientas y métricas necesarias para evaluar de manera objetiva las características internas y externas del software, permitiendo a las organizaciones no solo identificar áreas de mejora, sino también asegurar la entrega de productos robustos, eficientes y seguros. </a:t>
            </a:r>
            <a:endParaRPr lang="en-US" sz="1350" dirty="0"/>
          </a:p>
        </p:txBody>
      </p:sp>
      <p:sp>
        <p:nvSpPr>
          <p:cNvPr id="25" name="Text 10"/>
          <p:cNvSpPr/>
          <p:nvPr/>
        </p:nvSpPr>
        <p:spPr>
          <a:xfrm>
            <a:off x="457200" y="6210300"/>
            <a:ext cx="2087761"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24 de Noviembre de 2025</a:t>
            </a:r>
            <a:endParaRPr lang="en-US" sz="1050" dirty="0"/>
          </a:p>
        </p:txBody>
      </p:sp>
      <p:sp>
        <p:nvSpPr>
          <p:cNvPr id="26" name="Text 11"/>
          <p:cNvSpPr/>
          <p:nvPr/>
        </p:nvSpPr>
        <p:spPr>
          <a:xfrm>
            <a:off x="10657433" y="6210300"/>
            <a:ext cx="1292840"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Página 24 de 25</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5486400" y="914400"/>
            <a:ext cx="1219200" cy="38100"/>
          </a:xfrm>
          <a:prstGeom prst="rect">
            <a:avLst/>
          </a:prstGeom>
        </p:spPr>
      </p:pic>
      <p:pic>
        <p:nvPicPr>
          <p:cNvPr id="4" name="Image 2" descr="preencoded.png"/>
          <p:cNvPicPr>
            <a:picLocks noChangeAspect="1"/>
          </p:cNvPicPr>
          <p:nvPr/>
        </p:nvPicPr>
        <p:blipFill>
          <a:blip r:embed="rId5"/>
          <a:stretch>
            <a:fillRect/>
          </a:stretch>
        </p:blipFill>
        <p:spPr>
          <a:xfrm>
            <a:off x="3368425" y="3251202"/>
            <a:ext cx="2641550" cy="1790700"/>
          </a:xfrm>
          <a:prstGeom prst="rect">
            <a:avLst/>
          </a:prstGeom>
        </p:spPr>
      </p:pic>
      <p:pic>
        <p:nvPicPr>
          <p:cNvPr id="5" name="Image 3" descr="preencoded.png"/>
          <p:cNvPicPr>
            <a:picLocks noChangeAspect="1"/>
          </p:cNvPicPr>
          <p:nvPr/>
        </p:nvPicPr>
        <p:blipFill>
          <a:blip r:embed="rId6"/>
          <a:stretch>
            <a:fillRect/>
          </a:stretch>
        </p:blipFill>
        <p:spPr>
          <a:xfrm>
            <a:off x="4384326" y="3479802"/>
            <a:ext cx="609600" cy="609600"/>
          </a:xfrm>
          <a:prstGeom prst="rect">
            <a:avLst/>
          </a:prstGeom>
        </p:spPr>
      </p:pic>
      <p:pic>
        <p:nvPicPr>
          <p:cNvPr id="6" name="Image 4" descr="preencoded.png"/>
          <p:cNvPicPr>
            <a:picLocks noChangeAspect="1"/>
          </p:cNvPicPr>
          <p:nvPr/>
        </p:nvPicPr>
        <p:blipFill>
          <a:blip r:embed="rId7"/>
          <a:stretch>
            <a:fillRect/>
          </a:stretch>
        </p:blipFill>
        <p:spPr>
          <a:xfrm>
            <a:off x="4574826" y="3632202"/>
            <a:ext cx="228600" cy="304800"/>
          </a:xfrm>
          <a:prstGeom prst="rect">
            <a:avLst/>
          </a:prstGeom>
        </p:spPr>
      </p:pic>
      <p:pic>
        <p:nvPicPr>
          <p:cNvPr id="7" name="Image 5" descr="preencoded.png"/>
          <p:cNvPicPr>
            <a:picLocks noChangeAspect="1"/>
          </p:cNvPicPr>
          <p:nvPr/>
        </p:nvPicPr>
        <p:blipFill>
          <a:blip r:embed="rId8"/>
          <a:stretch>
            <a:fillRect/>
          </a:stretch>
        </p:blipFill>
        <p:spPr>
          <a:xfrm>
            <a:off x="6314775" y="3251202"/>
            <a:ext cx="2641550" cy="1790700"/>
          </a:xfrm>
          <a:prstGeom prst="rect">
            <a:avLst/>
          </a:prstGeom>
        </p:spPr>
      </p:pic>
      <p:pic>
        <p:nvPicPr>
          <p:cNvPr id="8" name="Image 6" descr="preencoded.png"/>
          <p:cNvPicPr>
            <a:picLocks noChangeAspect="1"/>
          </p:cNvPicPr>
          <p:nvPr/>
        </p:nvPicPr>
        <p:blipFill>
          <a:blip r:embed="rId9"/>
          <a:stretch>
            <a:fillRect/>
          </a:stretch>
        </p:blipFill>
        <p:spPr>
          <a:xfrm>
            <a:off x="7330676" y="3479802"/>
            <a:ext cx="609600" cy="609600"/>
          </a:xfrm>
          <a:prstGeom prst="rect">
            <a:avLst/>
          </a:prstGeom>
        </p:spPr>
      </p:pic>
      <p:pic>
        <p:nvPicPr>
          <p:cNvPr id="9" name="Image 7" descr="preencoded.png"/>
          <p:cNvPicPr>
            <a:picLocks noChangeAspect="1"/>
          </p:cNvPicPr>
          <p:nvPr/>
        </p:nvPicPr>
        <p:blipFill>
          <a:blip r:embed="rId10"/>
          <a:stretch>
            <a:fillRect/>
          </a:stretch>
        </p:blipFill>
        <p:spPr>
          <a:xfrm>
            <a:off x="7521176" y="3632202"/>
            <a:ext cx="228600" cy="304800"/>
          </a:xfrm>
          <a:prstGeom prst="rect">
            <a:avLst/>
          </a:prstGeom>
        </p:spPr>
      </p:pic>
      <p:sp>
        <p:nvSpPr>
          <p:cNvPr id="13" name="Text 0"/>
          <p:cNvSpPr/>
          <p:nvPr/>
        </p:nvSpPr>
        <p:spPr>
          <a:xfrm>
            <a:off x="457200" y="457200"/>
            <a:ext cx="11277600" cy="381000"/>
          </a:xfrm>
          <a:prstGeom prst="rect">
            <a:avLst/>
          </a:prstGeom>
          <a:noFill/>
          <a:ln/>
        </p:spPr>
        <p:txBody>
          <a:bodyPr vert="horz" wrap="square" lIns="0" tIns="0" rIns="0" bIns="0" rtlCol="0" anchor="t"/>
          <a:lstStyle/>
          <a:p>
            <a:pPr marL="0" indent="0" algn="ctr">
              <a:lnSpc>
                <a:spcPts val="3000"/>
              </a:lnSpc>
              <a:buNone/>
            </a:pPr>
            <a:r>
              <a:rPr lang="en-US" sz="2700" b="1" dirty="0">
                <a:solidFill>
                  <a:srgbClr val="F97316"/>
                </a:solidFill>
                <a:latin typeface="ui-sans-serif" pitchFamily="34" charset="0"/>
                <a:ea typeface="ui-sans-serif" pitchFamily="34" charset="-122"/>
                <a:cs typeface="ui-sans-serif" pitchFamily="34" charset="-120"/>
              </a:rPr>
              <a:t>Preguntas y Cierre</a:t>
            </a:r>
            <a:endParaRPr lang="en-US" sz="2700" dirty="0"/>
          </a:p>
        </p:txBody>
      </p:sp>
      <p:sp>
        <p:nvSpPr>
          <p:cNvPr id="14" name="Text 1"/>
          <p:cNvSpPr/>
          <p:nvPr/>
        </p:nvSpPr>
        <p:spPr>
          <a:xfrm>
            <a:off x="3193763" y="1600200"/>
            <a:ext cx="6505129" cy="571500"/>
          </a:xfrm>
          <a:prstGeom prst="rect">
            <a:avLst/>
          </a:prstGeom>
          <a:noFill/>
          <a:ln/>
        </p:spPr>
        <p:txBody>
          <a:bodyPr vert="horz" wrap="square" lIns="0" tIns="0" rIns="0" bIns="0" rtlCol="0" anchor="t"/>
          <a:lstStyle/>
          <a:p>
            <a:pPr marL="0" indent="0">
              <a:lnSpc>
                <a:spcPts val="4500"/>
              </a:lnSpc>
              <a:buNone/>
            </a:pPr>
            <a:r>
              <a:rPr lang="en-US" sz="4500" b="1" dirty="0">
                <a:solidFill>
                  <a:srgbClr val="FF6600"/>
                </a:solidFill>
                <a:latin typeface="ui-sans-serif" pitchFamily="34" charset="0"/>
                <a:ea typeface="ui-sans-serif" pitchFamily="34" charset="-122"/>
                <a:cs typeface="ui-sans-serif" pitchFamily="34" charset="-120"/>
              </a:rPr>
              <a:t>¡Gracias por su atención!</a:t>
            </a:r>
            <a:endParaRPr lang="en-US" sz="4500" dirty="0"/>
          </a:p>
        </p:txBody>
      </p:sp>
      <p:sp>
        <p:nvSpPr>
          <p:cNvPr id="16" name="Text 3"/>
          <p:cNvSpPr/>
          <p:nvPr/>
        </p:nvSpPr>
        <p:spPr>
          <a:xfrm>
            <a:off x="3378590" y="4241802"/>
            <a:ext cx="2621220"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FB923C"/>
                </a:solidFill>
                <a:latin typeface="ui-sans-serif" pitchFamily="34" charset="0"/>
                <a:ea typeface="ui-sans-serif" pitchFamily="34" charset="-122"/>
                <a:cs typeface="ui-sans-serif" pitchFamily="34" charset="-120"/>
              </a:rPr>
              <a:t>Correo Electrónico</a:t>
            </a:r>
            <a:endParaRPr lang="en-US" sz="1500" dirty="0"/>
          </a:p>
        </p:txBody>
      </p:sp>
      <p:sp>
        <p:nvSpPr>
          <p:cNvPr id="17" name="Text 4"/>
          <p:cNvSpPr/>
          <p:nvPr/>
        </p:nvSpPr>
        <p:spPr>
          <a:xfrm>
            <a:off x="3378590" y="4584702"/>
            <a:ext cx="2621220" cy="228600"/>
          </a:xfrm>
          <a:prstGeom prst="rect">
            <a:avLst/>
          </a:prstGeom>
          <a:noFill/>
          <a:ln/>
        </p:spPr>
        <p:txBody>
          <a:bodyPr vert="horz" wrap="square" lIns="0" tIns="0" rIns="0" bIns="0" rtlCol="0" anchor="t"/>
          <a:lstStyle/>
          <a:p>
            <a:pPr marL="0" indent="0" algn="ctr">
              <a:lnSpc>
                <a:spcPts val="1800"/>
              </a:lnSpc>
              <a:buNone/>
            </a:pPr>
            <a:r>
              <a:rPr lang="en-US" sz="1200" dirty="0">
                <a:solidFill>
                  <a:srgbClr val="D1D5DB"/>
                </a:solidFill>
                <a:latin typeface="ui-sans-serif" pitchFamily="34" charset="0"/>
                <a:ea typeface="ui-sans-serif" pitchFamily="34" charset="-122"/>
                <a:cs typeface="ui-sans-serif" pitchFamily="34" charset="-120"/>
              </a:rPr>
              <a:t>dlgamboa1@espe.edu.ec</a:t>
            </a:r>
            <a:endParaRPr lang="en-US" sz="1200" dirty="0"/>
          </a:p>
        </p:txBody>
      </p:sp>
      <p:sp>
        <p:nvSpPr>
          <p:cNvPr id="18" name="Text 5"/>
          <p:cNvSpPr/>
          <p:nvPr/>
        </p:nvSpPr>
        <p:spPr>
          <a:xfrm>
            <a:off x="6543375" y="4241802"/>
            <a:ext cx="2184350"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4ADE80"/>
                </a:solidFill>
                <a:latin typeface="ui-sans-serif" pitchFamily="34" charset="0"/>
                <a:ea typeface="ui-sans-serif" pitchFamily="34" charset="-122"/>
                <a:cs typeface="ui-sans-serif" pitchFamily="34" charset="-120"/>
              </a:rPr>
              <a:t>Teléfono</a:t>
            </a:r>
            <a:endParaRPr lang="en-US" sz="1500" dirty="0"/>
          </a:p>
        </p:txBody>
      </p:sp>
      <p:sp>
        <p:nvSpPr>
          <p:cNvPr id="19" name="Text 6"/>
          <p:cNvSpPr/>
          <p:nvPr/>
        </p:nvSpPr>
        <p:spPr>
          <a:xfrm>
            <a:off x="6324940" y="4584702"/>
            <a:ext cx="2621220" cy="228600"/>
          </a:xfrm>
          <a:prstGeom prst="rect">
            <a:avLst/>
          </a:prstGeom>
          <a:noFill/>
          <a:ln/>
        </p:spPr>
        <p:txBody>
          <a:bodyPr vert="horz" wrap="square" lIns="0" tIns="0" rIns="0" bIns="0" rtlCol="0" anchor="t"/>
          <a:lstStyle/>
          <a:p>
            <a:pPr marL="0" indent="0" algn="ctr">
              <a:lnSpc>
                <a:spcPts val="1800"/>
              </a:lnSpc>
              <a:buNone/>
            </a:pPr>
            <a:r>
              <a:rPr lang="en-US" sz="1200" dirty="0">
                <a:solidFill>
                  <a:srgbClr val="D1D5DB"/>
                </a:solidFill>
                <a:latin typeface="ui-sans-serif" pitchFamily="34" charset="0"/>
                <a:ea typeface="ui-sans-serif" pitchFamily="34" charset="-122"/>
                <a:cs typeface="ui-sans-serif" pitchFamily="34" charset="-120"/>
              </a:rPr>
              <a:t>0984210393</a:t>
            </a:r>
            <a:endParaRPr lang="en-US" sz="1200" dirty="0"/>
          </a:p>
        </p:txBody>
      </p:sp>
      <p:sp>
        <p:nvSpPr>
          <p:cNvPr id="22" name="Text 9"/>
          <p:cNvSpPr/>
          <p:nvPr/>
        </p:nvSpPr>
        <p:spPr>
          <a:xfrm>
            <a:off x="457200" y="5803902"/>
            <a:ext cx="2087761"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24 de Noviembre de 2025</a:t>
            </a:r>
            <a:endParaRPr lang="en-US" sz="1050" dirty="0"/>
          </a:p>
        </p:txBody>
      </p:sp>
      <p:sp>
        <p:nvSpPr>
          <p:cNvPr id="23" name="Text 10"/>
          <p:cNvSpPr/>
          <p:nvPr/>
        </p:nvSpPr>
        <p:spPr>
          <a:xfrm>
            <a:off x="10657433" y="5803902"/>
            <a:ext cx="1292840"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Página 25 de 25</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150</TotalTime>
  <Words>2799</Words>
  <Application>Microsoft Office PowerPoint</Application>
  <PresentationFormat>Widescreen</PresentationFormat>
  <Paragraphs>465</Paragraphs>
  <Slides>23</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Courier New</vt:lpstr>
      <vt:lpstr>Montserrat</vt:lpstr>
      <vt:lpstr>Nunito</vt:lpstr>
      <vt:lpstr>Open Sans</vt:lpstr>
      <vt:lpstr>ui-sans-serif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DIEGO GAMBOA SAFLA</cp:lastModifiedBy>
  <cp:revision>8</cp:revision>
  <dcterms:created xsi:type="dcterms:W3CDTF">2025-11-24T15:22:18Z</dcterms:created>
  <dcterms:modified xsi:type="dcterms:W3CDTF">2026-06-01T13:20:59Z</dcterms:modified>
</cp:coreProperties>
</file>