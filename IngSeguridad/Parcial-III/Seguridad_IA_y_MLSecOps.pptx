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2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3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Precisión del Modelo (%)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Sin Ataque</c:v>
                  </c:pt>
                  <c:pt idx="1">
                    <c:v>Bajo FGSM (No Def)</c:v>
                  </c:pt>
                  <c:pt idx="2">
                    <c:v>Con Entrenam. Adv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</c:v>
                </c:pt>
                <c:pt idx="1">
                  <c:v>12</c:v>
                </c:pt>
                <c:pt idx="2">
                  <c:v>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Métrica PSI</c:v>
                </c:pt>
              </c:strCache>
            </c:strRef>
          </c:tx>
          <c:spPr>
            <a:solidFill>
              <a:srgbClr val="7C3AED"/>
            </a:solidFill>
            <a:ln w="2540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B1</c:v>
                  </c:pt>
                  <c:pt idx="1">
                    <c:v>B2</c:v>
                  </c:pt>
                  <c:pt idx="2">
                    <c:v>B3</c:v>
                  </c:pt>
                  <c:pt idx="3">
                    <c:v>B4</c:v>
                  </c:pt>
                  <c:pt idx="4">
                    <c:v>B5</c:v>
                  </c:pt>
                  <c:pt idx="5">
                    <c:v>B6</c:v>
                  </c:pt>
                  <c:pt idx="6">
                    <c:v>B7</c:v>
                  </c:pt>
                  <c:pt idx="7">
                    <c:v>B8</c:v>
                  </c:pt>
                  <c:pt idx="8">
                    <c:v>B9</c:v>
                  </c:pt>
                  <c:pt idx="9">
                    <c:v>B10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0.04</c:v>
                </c:pt>
                <c:pt idx="1">
                  <c:v>0.06</c:v>
                </c:pt>
                <c:pt idx="2">
                  <c:v>0.05</c:v>
                </c:pt>
                <c:pt idx="3">
                  <c:v>0.08</c:v>
                </c:pt>
                <c:pt idx="4">
                  <c:v>0.13</c:v>
                </c:pt>
                <c:pt idx="5">
                  <c:v>0.14</c:v>
                </c:pt>
                <c:pt idx="6">
                  <c:v>0.21</c:v>
                </c:pt>
                <c:pt idx="7">
                  <c:v>0.29</c:v>
                </c:pt>
                <c:pt idx="8">
                  <c:v>0.36</c:v>
                </c:pt>
                <c:pt idx="9">
                  <c:v>0.44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 del Modelo (%)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Abr*</c:v>
                  </c:pt>
                  <c:pt idx="4">
                    <c:v>May*</c:v>
                  </c:pt>
                  <c:pt idx="5">
                    <c:v>Jun (Re-entrenado)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94</c:v>
                </c:pt>
                <c:pt idx="1">
                  <c:v>93</c:v>
                </c:pt>
                <c:pt idx="2">
                  <c:v>89</c:v>
                </c:pt>
                <c:pt idx="3">
                  <c:v>72</c:v>
                </c:pt>
                <c:pt idx="4">
                  <c:v>63</c:v>
                </c:pt>
                <c:pt idx="5">
                  <c:v>91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1005840"/>
            <a:ext cx="2468880" cy="3200400"/>
          </a:xfrm>
          <a:prstGeom prst="roundRect">
            <a:avLst>
              <a:gd name="adj" fmla="val 1852"/>
            </a:avLst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</p:spPr>
      </p:sp>
      <p:pic>
        <p:nvPicPr>
          <p:cNvPr id="3" name="Image 0" descr="F:\Semestre-VII\IngSeguridad\Parcial-III\assets\icons\cyber-secu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463040"/>
            <a:ext cx="1645920" cy="1645920"/>
          </a:xfrm>
          <a:prstGeom prst="rect">
            <a:avLst/>
          </a:prstGeom>
        </p:spPr>
      </p:pic>
      <p:pic>
        <p:nvPicPr>
          <p:cNvPr id="4" name="Image 1" descr="F:\Semestre-VII\IngSeguridad\Parcial-III\assets\icons\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4389120"/>
            <a:ext cx="548640" cy="5486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118872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en Inteligencia Artificial
</a:t>
            </a:r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MLSecOps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731520" y="2560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la Ciberseguridad Tradicional a la Protección de Sistemas de IA Confiables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731520" y="338328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Docente: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Ing. Diego Gamboa Mgtr.
</a:t>
            </a:r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Expositor: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Leo Narváez
</a:t>
            </a:r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Materia: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Ciberseguridad en Sistemas Inteligentes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402336"/>
            <a:ext cx="5943600" cy="594360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21031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Contenidos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0" y="1188720"/>
            <a:ext cx="5303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01.  Introducción: de Ciberseguridad a MLSecOps
</a:t>
            </a:r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02.  Amenazas y vectores de ataque en IA
</a:t>
            </a:r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03.  Marco estratégico de protección: NIST AI RMF
</a:t>
            </a:r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04.  Controles técnicos para proteger modelos
</a:t>
            </a:r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05.  Seguridad en producción y MLSecOps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F:\Semestre-VII\IngSeguridad\Parcial-III\assets\icons\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0" y="16459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3657600" y="256032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Introducción: de Ciberseguridad a MLSecOps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es la Seguridad de IA?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0" y="228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01. INTRODUCCIÓN Y PARADIGMA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en IA &amp; MLSecOps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840480" cy="3474720"/>
          </a:xfrm>
          <a:prstGeom prst="roundRect">
            <a:avLst>
              <a:gd name="adj" fmla="val 1053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0" descr="F:\Semestre-VII\IngSeguridad\Parcial-III\assets\icons\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192024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Definición Central
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Consiste en proteger los activos de IA (modelos, datos de entrenamiento, pipelines e infraestructura) contra manipulaciones maliciosas, extracción de parámetros o robo de propiedad intelectual.
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Busca garantizar los pilares de la ciberseguridad tradicionales sumando la confianza y la seguridad física del sistema.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Confidencialidad en IA: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Prevenir la exfiltración de los pesos del modelo y datos privados.
</a:t>
            </a:r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Integridad en IA: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Garantizar que los inputs y las salidas no sean alteradas deliberadamente.
</a:t>
            </a:r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Disponibilidad en IA: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Asegurar que la API responda sin caer ante ataques de denegación de servicio.
</a:t>
            </a:r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Safety (Seguridad Física):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Prevenir fallas en la lógica probabilística que puedan dañar al entorno.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Tradicional vs. Seguridad de IA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0" y="228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01. INTRODUCCIÓN Y PARADIGMA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en IA &amp; MLSecOps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6949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Dimensión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Aplicación Tradicional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Modelo de IA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Lógica interna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Determinista y explícita. Escrita por ingenieros mediante código lógico (if/else).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Probabilística y adaptativa. Aprendida implícitamente a partir de conjuntos de datos.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Datos de entrada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Estructurados, formatos conocidos (JSON, XML). Validados por esquemas rígidos.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estructurados e infinitos (lenguaje natural, imágenes, secuencias binarias).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Vulnerabilidades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Errores lógicos de código, inyecciones (SQL/XSS), overflows de buffer.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poisoning, adversarial examples, inyecciones de prompts, robo de pesos.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Enfoque defensivo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Seguridad de red, firewalls, control de acceso de usuarios, firma de ejecutables.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Monitoreo de inputs/outputs, guardrails semánticos, sandboxing e integridad de tensores.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Concepto de IA Confiable (NIST AI RMF)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0" y="228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01. INTRODUCCIÓN Y PARADIGMA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en IA &amp; MLSecOps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0972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Validez y Confiabilidad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Precisión y comportamiento consistente del modelo ante diferentes contextos operativos, mitigando desviaciones o respuestas incoherentes.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40680" y="10972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y Resiliencia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54880" y="17373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Capacidad de resistir ataques deliberados y recuperarse con éxito. El sistema debe operar de forma segura ante datos fuera de distribución.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29260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Explicabilidad y Transparencia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decisiones del modelo no deben ser cajas negras. Se debe poder auditar, trazar y explicar a humanos el origen de la inferencia.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9260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40680" y="29260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Privacidad y Equidad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754880" y="35661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Garantizar la protección de datos personales de entrenamiento y la mitigación activa de sesgos discriminatorios en las respuestas.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F:\Semestre-VII\IngSeguridad\Parcial-III\assets\icons\b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0" y="16459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3657600" y="256032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Amenazas y Vectores de Ataque en IA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Ataques en Datos y Fase de Entrada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0" y="228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02. AMENAZAS Y VECTORES DE ATAQUE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en IA &amp; MLSecOps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105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0" descr="F:\Semestre-VII\IngSeguridad\Parcial-III\assets\icons\po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182880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Poisoning (Entrenamiento)
</a:t>
            </a:r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¿Qué es? 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Contaminación deliberada del dataset. El atacante inserta registros falsos, altera etiquetas o inyecta firmas específicas.
</a:t>
            </a:r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Impacto: 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Creación de backdoors en el modelo. El modelo aprende atajos maliciosos para responder de forma incorrecta ante disparadores específicos creados por el atacante en producción.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105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1097280"/>
            <a:ext cx="73152" cy="347472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1" descr="F:\Semestre-VII\IngSeguridad\Parcial-III\assets\icons\bu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9200" y="182880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Adversarial Examples (Inferencia)
</a:t>
            </a:r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¿Qué es? 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Modificación imperceptible del dato de entrada (ruido matemático) optimizada para alterar el comportamiento probabilístico de la IA.
</a:t>
            </a:r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Impacto: 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Ataques de evasión. Hace que clasificadores de visión fallen, o que filtros de malware/spam clasifiquen código malicioso como legítimo en producción.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Impacto del Ataque Evasivo y Defensa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0" y="228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02. AMENAZAS Y VECTORES DE ATAQUE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en IA &amp; MLSecOps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840480" cy="3474720"/>
          </a:xfrm>
          <a:prstGeom prst="roundRect">
            <a:avLst>
              <a:gd name="adj" fmla="val 1053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8016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 Matemático FGSM
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Algoritmo de Evasión (Fast Gradient Sign Method):
</a:t>
            </a:r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x_adv = x + ε • sign( ∇_x L(θ, x, y) )
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x_adv: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Entrada adversaria generada (imagen o texto alterado).
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ε (Épsilon):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Límite de presupuesto del ruido (casi invisible al ojo).
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∇_x L: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Gradiente de la pérdida respecto al input. Indica la dirección para maximizar el error del modelo.
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sign: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Función de signo (+1 o -1).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663440" y="1097280"/>
          <a:ext cx="4023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Robo de Modelos y Ataques a la Privacidad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0" y="228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02. AMENAZAS Y VECTORES DE ATAQUE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en IA &amp; MLSecOps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743200" cy="3474720"/>
          </a:xfrm>
          <a:prstGeom prst="roundRect">
            <a:avLst>
              <a:gd name="adj" fmla="val 1333"/>
            </a:avLst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</p:spPr>
      </p:sp>
      <p:pic>
        <p:nvPicPr>
          <p:cNvPr id="7" name="Image 0" descr="F:\Semestre-VII\IngSeguridad\Parcial-III\assets\icons\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0240"/>
            <a:ext cx="1828800" cy="1828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840480" y="1280160"/>
            <a:ext cx="0" cy="2926080"/>
          </a:xfrm>
          <a:prstGeom prst="line">
            <a:avLst/>
          </a:prstGeom>
          <a:noFill/>
          <a:ln w="25400">
            <a:solidFill>
              <a:srgbClr val="2563EB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3749040" y="1463040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49040" y="2926080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0" y="12801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Extraction (Robo del Modelo)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Clonación sistemática del comportamiento. Mediante miles de consultas estructuradas a la API del modelo, el atacante analiza las respuestas y entrena un modelo sustituto, robando la propiedad intelectual corporativa.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14800" y="27432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Inversion &amp; Membership Inference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Reconstrucción de datos de entrenamiento. El atacante analiza las distribuciones de probabilidad de salida para reconstruir registros sensibles que se usaron en el entrenamiento, violando la privacidad de datos personales.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Inyecciones de Prompts en LLMs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0" y="228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02. AMENAZAS Y VECTORES DE ATAQUE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en IA &amp; MLSecOps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108960" cy="3474720"/>
          </a:xfrm>
          <a:prstGeom prst="roundRect">
            <a:avLst>
              <a:gd name="adj" fmla="val 1176"/>
            </a:avLst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</p:spPr>
      </p:sp>
      <p:pic>
        <p:nvPicPr>
          <p:cNvPr id="7" name="Image 0" descr="F:\Semestre-VII\IngSeguridad\Parcial-III\assets\icons\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920240"/>
            <a:ext cx="1828800" cy="1828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931920" y="1097280"/>
            <a:ext cx="4754880" cy="1005840"/>
          </a:xfrm>
          <a:prstGeom prst="roundRect">
            <a:avLst>
              <a:gd name="adj" fmla="val 4545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0" y="118872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Injection Directa (Jailbreaking)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usuario manipula la conversación para saltarse las directrices éticas y reglas de seguridad ('Ignora tus instrucciones previas...').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31920" y="2286000"/>
            <a:ext cx="4754880" cy="1005840"/>
          </a:xfrm>
          <a:prstGeom prst="roundRect">
            <a:avLst>
              <a:gd name="adj" fmla="val 4545"/>
            </a:avLst>
          </a:prstGeom>
          <a:solidFill>
            <a:srgbClr val="1D4E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0" y="237744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Injection Indirecta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LLM lee contenido externo infectado (ej. página web o PDF) y ejecuta las instrucciones ocultas sin consentimiento del usuario final.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931920" y="3474720"/>
            <a:ext cx="4754880" cy="1005840"/>
          </a:xfrm>
          <a:prstGeom prst="roundRect">
            <a:avLst>
              <a:gd name="adj" fmla="val 4545"/>
            </a:avLst>
          </a:prstGeom>
          <a:solidFill>
            <a:srgbClr val="1E3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0" y="356616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Fuga de Datos Corporativos (Data Leakage)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Exposición inadvertida de datos sensibles o secretos API al enviarlos en prompts a LLMs comerciales que los usan para re-entrenamiento.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MITRE ATLAS &amp; OWASP Top 10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0" y="228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02. AMENAZAS Y VECTORES DE ATAQUE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en IA &amp; MLSecOps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105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0" descr="F:\Semestre-VII\IngSeguridad\Parcial-III\assets\icons\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182880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MITRE ATLAS
</a:t>
            </a:r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Adversarial Threat Landscape for Artificial-Intelligence Systems.
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Base de Conocimiento Global: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matriz estructurada de tácticas, técnicas y procedimientos (TTP) basados en incidentes reales y experimentales.
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Aplicación: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Ayuda a modelar las brechas de seguridad en el pipeline de desarrollo de aprendizaje automático y a diseñar alertas de detección tempranas.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105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1097280"/>
            <a:ext cx="73152" cy="347472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1" descr="F:\Semestre-VII\IngSeguridad\Parcial-III\assets\icons\bu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9200" y="182880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OWASP Top 10 para LLMs
</a:t>
            </a:r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riesgos de seguridad de aplicaciones de lenguaje más críticos.
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Enfoque de Aplicación: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Clasifica los 10 errores y fallos más comunes al programar software sobre LLMs (ej: inyecciones, outputs no sanitizados, dependencias de modelos comprometidas).
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Utilidad: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Establece una guía para desarrolladores de APIs e integradores de software sobre IA.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F:\Semestre-VII\IngSeguridad\Parcial-III\assets\icons\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0" y="16459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3657600" y="256032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Marco Estratégico: NIST AI RMF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NIST AI RMF: GOVERN y MAP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0" y="228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03. MARCO ESTRATÉGICO: NIST AI RMF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en IA &amp; MLSecOps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105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0" descr="F:\Semestre-VII\IngSeguridad\Parcial-III\assets\icons\n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182880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 (Gobernar)
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Pilar transversal que determina la cultura de riesgo dentro de la organización.
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Políticas Organizacionales: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Crear reglas explícitas sobre el uso ético y de ciberseguridad en IA.
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Roles y Responsabilidad: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Establecer quién es responsable del ciclo de vida del modelo y del cumplimiento de normas (ej: Ley de IA).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105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1097280"/>
            <a:ext cx="73152" cy="347472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1" descr="F:\Semestre-VII\IngSeguridad\Parcial-III\assets\icons\sett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9200" y="182880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(Mapear)
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Identificar y clasificar el contexto técnico y funcional del sistema.
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Inventario de Activos: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Catalogar datasets, dependencias de APIs de terceros e hiperparámetros de modelos de base.
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Modelado de Amenazas: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Definir de qué forma un fallo del modelo o una manipulación afecta a los procesos de negocio.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NIST AI RMF: MEASURE y MANAGE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0" y="228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03. MARCO ESTRATÉGICO: NIST AI RMF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en IA &amp; MLSecOps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743200" cy="3474720"/>
          </a:xfrm>
          <a:prstGeom prst="roundRect">
            <a:avLst>
              <a:gd name="adj" fmla="val 1333"/>
            </a:avLst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</p:spPr>
      </p:sp>
      <p:pic>
        <p:nvPicPr>
          <p:cNvPr id="7" name="Image 0" descr="F:\Semestre-VII\IngSeguridad\Parcial-III\assets\icons\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0240"/>
            <a:ext cx="1828800" cy="1828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840480" y="1280160"/>
            <a:ext cx="0" cy="2926080"/>
          </a:xfrm>
          <a:prstGeom prst="line">
            <a:avLst/>
          </a:prstGeom>
          <a:noFill/>
          <a:ln w="25400">
            <a:solidFill>
              <a:srgbClr val="7C3AED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3749040" y="1463040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49040" y="2926080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0" y="12801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 (Medir)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Auditoría analítica y métricas cuantitativas. Simulación sistemática de ataques de evasión (red teaming), cálculo de la degradación de la precisión, monitorización de sesgos algorítmicos y auditorías de privacidad en datasets.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14800" y="27432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(Gestionar)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Operación de seguridad e incidentes. Implementación activa de guardrails técnicos sobre peticiones, ejecución de planes de mitigación semántica, cuarentena de APIs y re-entrenamiento de pesos comprometidos.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F:\Semestre-VII\IngSeguridad\Parcial-III\assets\icons\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0" y="16459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3657600" y="256032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Controles Técnicos para Proteger Modelos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Controles Técnicos: Datos y Entrenamiento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0" y="228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04. CONTROLES TÉCNICOS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en IA &amp; MLSecOps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560320" cy="3474720"/>
          </a:xfrm>
          <a:prstGeom prst="roundRect">
            <a:avLst>
              <a:gd name="adj" fmla="val 1429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pic>
        <p:nvPicPr>
          <p:cNvPr id="7" name="Image 0" descr="F:\Semestre-VII\IngSeguridad\Parcial-III\assets\icons\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Sanitización de Datasets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219456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Limpieza y Filtrado: Eliminar datos maliciosos, etiquetas alteradas y duplicados que distorsionen el entrenamiento.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Detección de Anomalías: Analizar firmas latentes estadísticas de los datos para ubicar patrones sintéticos (envenenados).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91840" y="1097280"/>
            <a:ext cx="2560320" cy="3474720"/>
          </a:xfrm>
          <a:prstGeom prst="roundRect">
            <a:avLst>
              <a:gd name="adj" fmla="val 1429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pic>
        <p:nvPicPr>
          <p:cNvPr id="11" name="Image 1" descr="F:\Semestre-VII\IngSeguridad\Parcial-III\assets\icons\sett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2801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de Versiones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474720" y="219456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Trazabilidad (DVC): Registrar la correspondencia biunívoca exacta entre el dataset físico y los pesos resultantes.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Firma Criptográfica: Firmar los hashes del dataset para evitar alteraciones silenciosas antes de iniciar el compilado.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26480" y="1097280"/>
            <a:ext cx="2560320" cy="3474720"/>
          </a:xfrm>
          <a:prstGeom prst="roundRect">
            <a:avLst>
              <a:gd name="adj" fmla="val 1429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pic>
        <p:nvPicPr>
          <p:cNvPr id="15" name="Image 2" descr="F:\Semestre-VII\IngSeguridad\Parcial-III\assets\icons\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801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Entrenamiento Adversario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309360" y="219456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Robustez Inicial: Generar ejemplos adversarios durante la optimización del modelo e introducirlos en el entrenamiento.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Resiliencia: La IA minimiza el impacto del ruido imperceptible, haciéndose inmune a la evasión en producción.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Controles Técnicos: Integridad y Aislamiento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0" y="228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04. CONTROLES TÉCNICOS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en IA &amp; MLSecOps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560320" cy="3474720"/>
          </a:xfrm>
          <a:prstGeom prst="roundRect">
            <a:avLst>
              <a:gd name="adj" fmla="val 1429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pic>
        <p:nvPicPr>
          <p:cNvPr id="7" name="Image 0" descr="F:\Semestre-VII\IngSeguridad\Parcial-III\assets\icons\n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Firma de Pesos (Hashes)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219456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Verificación SHA-256: Generar un hash único de los pesos del modelo al compilarse.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Integridad en Memoria: El servidor comprueba la firma del hash antes de montar el tensor en memoria RAM, evitando modificaciones silenciosas.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91840" y="1097280"/>
            <a:ext cx="2560320" cy="3474720"/>
          </a:xfrm>
          <a:prstGeom prst="roundRect">
            <a:avLst>
              <a:gd name="adj" fmla="val 1429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pic>
        <p:nvPicPr>
          <p:cNvPr id="11" name="Image 1" descr="F:\Semestre-VII\IngSeguridad\Parcial-III\assets\icons\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2801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Serialización Segura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474720" y="219456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Bloqueo de Pickles (.pkl): Prohibir formatos vulnerables a ejecución remota de código (RCE).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Safetensors: Utilizar formatos de serialización planos libres de cabeceras ejecutables (solo almacenan tensores puros).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26480" y="1097280"/>
            <a:ext cx="2560320" cy="3474720"/>
          </a:xfrm>
          <a:prstGeom prst="roundRect">
            <a:avLst>
              <a:gd name="adj" fmla="val 1429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pic>
        <p:nvPicPr>
          <p:cNvPr id="15" name="Image 2" descr="F:\Semestre-VII\IngSeguridad\Parcial-III\assets\icons\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801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Entornos Aislados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309360" y="219456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Sandboxing de Inferencia: Ejecutar los pipelines de predicción en contenedores con permisos reducidos.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Restricción de Red: Segmentación a nivel de red para evitar la exfiltración o conexiones externas maliciosas.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Controles Técnicos: Guardrails e Interfaces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0" y="228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04. CONTROLES TÉCNICOS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en IA &amp; MLSecOps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560320" cy="3474720"/>
          </a:xfrm>
          <a:prstGeom prst="roundRect">
            <a:avLst>
              <a:gd name="adj" fmla="val 1429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pic>
        <p:nvPicPr>
          <p:cNvPr id="7" name="Image 0" descr="F:\Semestre-VII\IngSeguridad\Parcial-III\assets\icons\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Guardrails en LLMs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219456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Clasificación Semántica: Interceptar los prompts del usuario antes del LLM (con Llama Guard) para bloquear jailbreaks.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Validación de Salidas: Filtrar respuestas inapropiadas o que contengan datos confidenciales (PII).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91840" y="1097280"/>
            <a:ext cx="2560320" cy="3474720"/>
          </a:xfrm>
          <a:prstGeom prst="roundRect">
            <a:avLst>
              <a:gd name="adj" fmla="val 1429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pic>
        <p:nvPicPr>
          <p:cNvPr id="11" name="Image 1" descr="F:\Semestre-VII\IngSeguridad\Parcial-III\assets\icons\sett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2801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Sanitización de Inputs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474720" y="219456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Filtrado de Prompts: Sanitizar palabras prohibidas y expresiones regulares sospechosas.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Suavizado en Visión: Aplicar ligeras compresiones a las imágenes de entrada para destruir el alineamiento imperceptible del ruido adversario.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26480" y="1097280"/>
            <a:ext cx="2560320" cy="3474720"/>
          </a:xfrm>
          <a:prstGeom prst="roundRect">
            <a:avLst>
              <a:gd name="adj" fmla="val 1429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pic>
        <p:nvPicPr>
          <p:cNvPr id="15" name="Image 2" descr="F:\Semestre-VII\IngSeguridad\Parcial-III\assets\icons\ap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801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de la API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309360" y="219456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Rate Limiting: Restringir las consultas por segundo (RPS) de cada API Key para bloquear la extracción.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Confianzas Aleatorias: Perturbar de forma sutil las confianzas matemáticas del resultado final, frustrando la ingeniería inversa.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F:\Semestre-VII\IngSeguridad\Parcial-III\assets\icons\monito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0" y="16459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3657600" y="256032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en Producción y MLSecOps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Pipeline de MLSecOps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0" y="228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05. SEGURIDAD EN PRODUCCIÓN Y MLSECOPS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en IA &amp; MLSecOps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743200" cy="3474720"/>
          </a:xfrm>
          <a:prstGeom prst="roundRect">
            <a:avLst>
              <a:gd name="adj" fmla="val 1333"/>
            </a:avLst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</p:spPr>
      </p:sp>
      <p:pic>
        <p:nvPicPr>
          <p:cNvPr id="7" name="Image 0" descr="F:\Semestre-VII\IngSeguridad\Parcial-III\assets\icons\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0240"/>
            <a:ext cx="1828800" cy="1828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840480" y="1280160"/>
            <a:ext cx="0" cy="2926080"/>
          </a:xfrm>
          <a:prstGeom prst="line">
            <a:avLst/>
          </a:prstGeom>
          <a:noFill/>
          <a:ln w="25400">
            <a:solidFill>
              <a:srgbClr val="2563EB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3749040" y="1463040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49040" y="2926080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0" y="12801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Seguro en Aprendizaje Automático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Automatización de auditorías en el pipeline. Incluye el escaneo de bibliotecas de dependencias Python (buscando vulnerabilidades conocidas/CVEs) y el escaneo estático de binarios de pesos de modelos (Model Scan) antes de autorizar el release.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14800" y="27432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Auditoría Forense y Logs de Inferencia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 de inputs y respuestas. Conservación cifrada e inmutable de los prompts, respuestas y hashes de los datos consultados. Anonimización forzosa de la información confidencial (PII) para evitar la filtración semántica.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de Data Drift (Desviación)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0" y="228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05. SEGURIDAD EN PRODUCCIÓN Y MLSECOPS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en IA &amp; MLSecOps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840480" cy="3474720"/>
          </a:xfrm>
          <a:prstGeom prst="roundRect">
            <a:avLst>
              <a:gd name="adj" fmla="val 1053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8016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Estabilidad de Distribución
</a:t>
            </a:r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Métricas de Drift: 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 la distribución probabilística de los datos recibidos en producción contra los de entrenamiento.
</a:t>
            </a:r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Population Stability Index (PSI):
</a:t>
            </a:r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PSI &lt; 0.1: 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Estable; sin cambios en los datos.
</a:t>
            </a:r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- 0.1 &lt;= PSI &lt; 0.25: 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Desviación moderada.
</a:t>
            </a:r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PSI &gt;= 0.25: 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Desviación crítica (alerta de re-entrenamiento).
</a:t>
            </a:r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Wasserstein Distance: 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Distancia métrica (Earth Mover's Distance) para variables continuas.</a:t>
            </a:r>
            <a:endParaRPr lang="en-US" sz="9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663440" y="1097280"/>
          <a:ext cx="4023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 Drift y Degradación de Precisión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0" y="228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05. SEGURIDAD EN PRODUCCIÓN Y MLSECOPS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en IA &amp; MLSecOps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840480" cy="3474720"/>
          </a:xfrm>
          <a:prstGeom prst="roundRect">
            <a:avLst>
              <a:gd name="adj" fmla="val 1053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8016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Cambio de Concepto P(Y | X)
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Definición: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relación real entre las variables de entrada (X) y la variable objetivo (Y) ha cambiado con el tiempo.
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Impacto en Negocio: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precisión real del modelo decae de forma crítica incluso si la distribución de datos de entrada es idéntica (Data Drift estable).
</a:t>
            </a:r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Solución de Emergencia: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Lanzar un proceso de re-entrenamiento continuo (Retraining) o revertir (Rollback) a un modelo base robusto.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663440" y="1097280"/>
          <a:ext cx="4023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Respuesta ante Incidentes en Caliente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0" y="228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05. SEGURIDAD EN PRODUCCIÓN Y MLSECOPS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en IA &amp; MLSecOps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743200" cy="3474720"/>
          </a:xfrm>
          <a:prstGeom prst="roundRect">
            <a:avLst>
              <a:gd name="adj" fmla="val 1333"/>
            </a:avLst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</p:spPr>
      </p:sp>
      <p:pic>
        <p:nvPicPr>
          <p:cNvPr id="7" name="Image 0" descr="F:\Semestre-VII\IngSeguridad\Parcial-III\assets\icons\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0240"/>
            <a:ext cx="1828800" cy="1828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840480" y="1280160"/>
            <a:ext cx="0" cy="2926080"/>
          </a:xfrm>
          <a:prstGeom prst="line">
            <a:avLst/>
          </a:prstGeom>
          <a:noFill/>
          <a:ln w="25400">
            <a:solidFill>
              <a:srgbClr val="16A34A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3749040" y="1463040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49040" y="2926080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0" y="12801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Rollback en Caliente de Modelos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Reversión inmediata. Capacidad de re-enrutar el tráfico de inferencia hacia una versión previa y validada del modelo (Shadow/Baseline) en menos de 5 segundos tras detectar alertas críticas de deriva (Drift) o inyecciones semánticas.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14800" y="27432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Cuarentena de API y Aislamiento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Respuesta defensiva proactiva. Bloqueo temporal de tokens de acceso (API keys) de usuarios atípicos y aislamiento del microservicio de inferencia comprometido en red para evitar exfiltraciones a servidores de comando y control.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02336"/>
            <a:ext cx="5943600" cy="594360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0" y="1920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Gracias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Preguntas y Respuestas (Q&amp;A)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Conclusiones Clave:
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Defensa Holística por Diseño:
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La seguridad de la IA no se limita a asegurar APIs. La protección del pipeline de datos y de la integridad física de los pesos criptográficos es fundamental.
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Operaciones Activas (MLSecOps):
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Los modelos son dinámicos en producción; el escaneo automático en CI/CD y el monitoreo continuo de desviación (Drift) son vitales para garantizar resiliencia.
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Gobernanza bajo Estándares Globales:
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Modelar las amenazas bajo el catálogo de MITRE ATLAS, aplicar el marco estratégico NIST AI RMF y mitigar riesgos OWASP es la ruta del éxito.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2026-07-08T14:38:00Z</dcterms:created>
  <dcterms:modified xsi:type="dcterms:W3CDTF">2026-07-08T14:38:00Z</dcterms:modified>
</cp:coreProperties>
</file>